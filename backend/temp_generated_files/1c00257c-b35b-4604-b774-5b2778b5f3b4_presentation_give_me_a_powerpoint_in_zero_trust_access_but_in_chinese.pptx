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Access is defined by the principle of never assuming trust. Every user and device must be authenticated and authorized, irrespective of their network location. This approach is designed to protect organizations by eliminating implicit trust and adapting access dynamically based on real-time context.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overview outlines key topics such as industry trends, device trust, continuous validation, user experience, rapid deployment, AI security, infrastructure solutions, real-world use cases, and a summary. Each section will highlight crucial aspects of Cisco Zero Trust Access solutions.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UZTNA transforms secure access by abandoning traditional perimeter reliance. All users and devices, regardless of location, are individually verified and granted access only as authorized, applying zero trust principles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Device trust ensures that only verified devices can access protected resources, applying controls to both corporate and personal devices. Solutions like Duo enforce these requirements through robust policy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device is checked automatically during login for compliance, covering factors like OS, patches, and security features. Non-compliant devices are blocked, and users can resolve most issues themselves without IT support.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Duo's user interface is designed for simplicity and ease of use, significantly lowering barriers for all users. Emphasizing accessibility and language support expands usability. Additionally, enabling self-service boosts productivity by minimizing reliance on IT support.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Duo provides rapid deployment, beating other solutions in implementation speed. Its agentless architecture supports flexible business cases, such as outsourcing and BYOD, without burdening users with extra hardware or software. This balance of convenience and robust security is a core advantage.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Cisco’s Zero Trust platform delivers advanced identity security through phishing-resistant authentication, session security, and intelligent device validation, all enhanced by AI-driven risk analysis. This approach eliminates hardware token needs and optimizes both security and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Enterprises often use several identity tools, fragmenting risk oversight. Cisco Zero Trust unifies risk management and simplifies enforcing least privilege, resulting in improved security and streamlined control.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shift away from legacy VPNs is driven by the need for scalable and secure access. Zero Trust supports diverse application models and cloud-based approaches, which simplify policy management and improve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Access offers robust protection by continuously verifying devices and users. It streamlines deployment, enhances user experience, and centralizes identity risk management for better security.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information references the GSSO AI Center Docs focused on Zero Trust Access and Duo Trusted Endpoints. Reach out if source documents or pdfs are needed for further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2200" y="1879600"/>
            <a:ext cx="8153400" cy="3365500"/>
          </a:xfrm>
          <a:prstGeom prst="rect">
            <a:avLst/>
          </a:prstGeom>
          <a:noFill/>
        </p:spPr>
        <p:txBody>
          <a:bodyPr wrap="square" lIns="0" rIns="0" tIns="0" bIns="0">
            <a:spAutoFit/>
          </a:bodyPr>
          <a:lstStyle/>
          <a:p>
            <a:pPr algn="l">
              <a:lnSpc>
                <a:spcPct val="75000"/>
              </a:lnSpc>
              <a:defRPr i="0" sz="8400" b="1">
                <a:solidFill>
                  <a:srgbClr val="0B2A5C"/>
                </a:solidFill>
                <a:latin typeface="Source Sans Pro"/>
              </a:defRPr>
            </a:pPr>
            <a:r>
              <a:rPr i="0" sz="8400" b="1">
                <a:solidFill>
                  <a:srgbClr val="0B2A5C"/>
                </a:solidFill>
                <a:latin typeface="Source Sans Pro"/>
              </a:rPr>
              <a:t>Zero Trust Access: A New Security Paradigm</a:t>
            </a:r>
          </a:p>
        </p:txBody>
      </p:sp>
      <p:sp>
        <p:nvSpPr>
          <p:cNvPr id="3" name="TextBox 2"/>
          <p:cNvSpPr txBox="1"/>
          <p:nvPr/>
        </p:nvSpPr>
        <p:spPr>
          <a:xfrm>
            <a:off x="1092200" y="5651500"/>
            <a:ext cx="8153400" cy="711200"/>
          </a:xfrm>
          <a:prstGeom prst="rect">
            <a:avLst/>
          </a:prstGeom>
          <a:noFill/>
        </p:spPr>
        <p:txBody>
          <a:bodyPr wrap="square" lIns="0" rIns="0" tIns="0" bIns="0">
            <a:spAutoFit/>
          </a:bodyPr>
          <a:lstStyle/>
          <a:p>
            <a:pPr algn="l">
              <a:defRPr i="0" sz="1800" b="0">
                <a:solidFill>
                  <a:srgbClr val="475569"/>
                </a:solidFill>
                <a:latin typeface="Source Sans Pro"/>
              </a:defRPr>
            </a:pPr>
            <a:r>
              <a:rPr i="0" sz="1800" b="0">
                <a:solidFill>
                  <a:srgbClr val="475569"/>
                </a:solidFill>
                <a:latin typeface="Source Sans Pro"/>
              </a:rPr>
              <a:t>Shifting from traditional perimeter-based security, ZTA grants access by continuously verifying identity and context, reducing risks from all users and devices.</a:t>
            </a:r>
          </a:p>
        </p:txBody>
      </p:sp>
      <p:sp>
        <p:nvSpPr>
          <p:cNvPr id="4" name="Rounded Rectangle 3"/>
          <p:cNvSpPr/>
          <p:nvPr/>
        </p:nvSpPr>
        <p:spPr>
          <a:xfrm>
            <a:off x="1092200" y="7924800"/>
            <a:ext cx="711200" cy="711200"/>
          </a:xfrm>
          <a:prstGeom prst="roundRect">
            <a:avLst>
              <a:gd name="adj" fmla="val 50000"/>
            </a:avLst>
          </a:prstGeom>
          <a:solidFill>
            <a:srgbClr val="0B2A5C"/>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Source Sans Pro"/>
              </a:defRPr>
            </a:pPr>
            <a:r>
              <a:rPr i="0" sz="1800" b="1">
                <a:solidFill>
                  <a:srgbClr val="FFFFFF"/>
                </a:solidFill>
                <a:latin typeface="Source Sans Pro"/>
              </a:rPr>
              <a:t>JS</a:t>
            </a:r>
          </a:p>
        </p:txBody>
      </p:sp>
      <p:sp>
        <p:nvSpPr>
          <p:cNvPr id="5" name="TextBox 4"/>
          <p:cNvSpPr txBox="1"/>
          <p:nvPr/>
        </p:nvSpPr>
        <p:spPr>
          <a:xfrm>
            <a:off x="2057400" y="8026400"/>
            <a:ext cx="1104900" cy="292100"/>
          </a:xfrm>
          <a:prstGeom prst="rect">
            <a:avLst/>
          </a:prstGeom>
          <a:noFill/>
        </p:spPr>
        <p:txBody>
          <a:bodyPr wrap="square" lIns="0" rIns="0" tIns="0" bIns="0">
            <a:spAutoFit/>
          </a:bodyPr>
          <a:lstStyle/>
          <a:p>
            <a:pPr algn="l">
              <a:defRPr i="0" sz="1800" b="1">
                <a:solidFill>
                  <a:srgbClr val="0B2A5C"/>
                </a:solidFill>
                <a:latin typeface="Source Sans Pro"/>
              </a:defRPr>
            </a:pPr>
            <a:r>
              <a:rPr i="0" sz="1800" b="1">
                <a:solidFill>
                  <a:srgbClr val="0B2A5C"/>
                </a:solidFill>
                <a:latin typeface="Source Sans Pro"/>
              </a:rPr>
              <a:t>Jane Smith</a:t>
            </a:r>
          </a:p>
        </p:txBody>
      </p:sp>
      <p:sp>
        <p:nvSpPr>
          <p:cNvPr id="6" name="TextBox 5"/>
          <p:cNvSpPr txBox="1"/>
          <p:nvPr/>
        </p:nvSpPr>
        <p:spPr>
          <a:xfrm>
            <a:off x="2057400" y="8318500"/>
            <a:ext cx="1104900" cy="228600"/>
          </a:xfrm>
          <a:prstGeom prst="rect">
            <a:avLst/>
          </a:prstGeom>
          <a:noFill/>
        </p:spPr>
        <p:txBody>
          <a:bodyPr wrap="square" lIns="0" rIns="0" tIns="0" bIns="0">
            <a:spAutoFit/>
          </a:bodyPr>
          <a:lstStyle/>
          <a:p>
            <a:pPr algn="l">
              <a:defRPr i="0" sz="1400" b="0">
                <a:solidFill>
                  <a:srgbClr val="334155"/>
                </a:solidFill>
                <a:latin typeface="Source Sans Pro"/>
              </a:defRPr>
            </a:pPr>
            <a:r>
              <a:rPr i="0" sz="1400" b="0">
                <a:solidFill>
                  <a:srgbClr val="334155"/>
                </a:solidFill>
                <a:latin typeface="Source Sans Pro"/>
              </a:rPr>
              <a:t>2026-02-03</a:t>
            </a:r>
          </a:p>
        </p:txBody>
      </p:sp>
      <p:pic>
        <p:nvPicPr>
          <p:cNvPr id="7" name="Picture 6" descr="ea7ce771-331b-4678-ace9-120d16c35ea5.png"/>
          <p:cNvPicPr>
            <a:picLocks noChangeAspect="1"/>
          </p:cNvPicPr>
          <p:nvPr/>
        </p:nvPicPr>
        <p:blipFill>
          <a:blip r:embed="rId3"/>
          <a:stretch>
            <a:fillRect/>
          </a:stretch>
        </p:blipFill>
        <p:spPr>
          <a:xfrm>
            <a:off x="10160000" y="0"/>
            <a:ext cx="6096000" cy="9144000"/>
          </a:xfrm>
          <a:prstGeom prst="rect">
            <a:avLst/>
          </a:prstGeom>
        </p:spPr>
      </p:pic>
      <p:sp>
        <p:nvSpPr>
          <p:cNvPr id="8" name="Rounded Rectangle 7"/>
          <p:cNvSpPr/>
          <p:nvPr/>
        </p:nvSpPr>
        <p:spPr>
          <a:xfrm>
            <a:off x="10160000" y="0"/>
            <a:ext cx="6096000" cy="9144000"/>
          </a:xfrm>
          <a:prstGeom prst="roundRect">
            <a:avLst>
              <a:gd name="adj" fmla="val 416"/>
            </a:avLst>
          </a:prstGeom>
          <a:solidFill>
            <a:srgbClr val="0B2A5C">
              <a:alpha val="6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Table of Contents</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841500"/>
            <a:ext cx="52197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Industry Trend: Universal Zero Trust Network Access</a:t>
            </a:r>
          </a:p>
        </p:txBody>
      </p:sp>
      <p:sp>
        <p:nvSpPr>
          <p:cNvPr id="5" name="TextBox 4"/>
          <p:cNvSpPr txBox="1"/>
          <p:nvPr/>
        </p:nvSpPr>
        <p:spPr>
          <a:xfrm>
            <a:off x="7124700" y="2044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3</a:t>
            </a:r>
          </a:p>
        </p:txBody>
      </p:sp>
      <p:sp>
        <p:nvSpPr>
          <p:cNvPr id="6" name="Rounded Rectangle 5"/>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7" name="TextBox 6"/>
          <p:cNvSpPr txBox="1"/>
          <p:nvPr/>
        </p:nvSpPr>
        <p:spPr>
          <a:xfrm>
            <a:off x="1625600" y="3009900"/>
            <a:ext cx="37592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Device Trust and Visibility essentials</a:t>
            </a:r>
          </a:p>
        </p:txBody>
      </p:sp>
      <p:sp>
        <p:nvSpPr>
          <p:cNvPr id="8" name="TextBox 7"/>
          <p:cNvSpPr txBox="1"/>
          <p:nvPr/>
        </p:nvSpPr>
        <p:spPr>
          <a:xfrm>
            <a:off x="7124700" y="3060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4</a:t>
            </a:r>
          </a:p>
        </p:txBody>
      </p:sp>
      <p:sp>
        <p:nvSpPr>
          <p:cNvPr id="9" name="Rounded Rectangle 8"/>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10" name="TextBox 9"/>
          <p:cNvSpPr txBox="1"/>
          <p:nvPr/>
        </p:nvSpPr>
        <p:spPr>
          <a:xfrm>
            <a:off x="1625600" y="4025900"/>
            <a:ext cx="50673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Continuous Validation &amp; Health Checks protocols</a:t>
            </a:r>
          </a:p>
        </p:txBody>
      </p:sp>
      <p:sp>
        <p:nvSpPr>
          <p:cNvPr id="11" name="TextBox 10"/>
          <p:cNvSpPr txBox="1"/>
          <p:nvPr/>
        </p:nvSpPr>
        <p:spPr>
          <a:xfrm>
            <a:off x="7124700" y="4076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5</a:t>
            </a:r>
          </a:p>
        </p:txBody>
      </p:sp>
      <p:sp>
        <p:nvSpPr>
          <p:cNvPr id="12" name="Rounded Rectangle 11"/>
          <p:cNvSpPr/>
          <p:nvPr/>
        </p:nvSpPr>
        <p:spPr>
          <a:xfrm>
            <a:off x="609600" y="4851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3" name="TextBox 12"/>
          <p:cNvSpPr txBox="1"/>
          <p:nvPr/>
        </p:nvSpPr>
        <p:spPr>
          <a:xfrm>
            <a:off x="1625600" y="5041900"/>
            <a:ext cx="39370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User Experience &amp; Usability highlights</a:t>
            </a:r>
          </a:p>
        </p:txBody>
      </p:sp>
      <p:sp>
        <p:nvSpPr>
          <p:cNvPr id="14" name="TextBox 13"/>
          <p:cNvSpPr txBox="1"/>
          <p:nvPr/>
        </p:nvSpPr>
        <p:spPr>
          <a:xfrm>
            <a:off x="7124700" y="5092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6</a:t>
            </a:r>
          </a:p>
        </p:txBody>
      </p:sp>
      <p:sp>
        <p:nvSpPr>
          <p:cNvPr id="15" name="Rounded Rectangle 14"/>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5</a:t>
            </a:r>
          </a:p>
        </p:txBody>
      </p:sp>
      <p:sp>
        <p:nvSpPr>
          <p:cNvPr id="16" name="TextBox 15"/>
          <p:cNvSpPr txBox="1"/>
          <p:nvPr/>
        </p:nvSpPr>
        <p:spPr>
          <a:xfrm>
            <a:off x="9855200" y="1993900"/>
            <a:ext cx="45720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Rapid Deployment &amp; Compatibility strengths</a:t>
            </a:r>
          </a:p>
        </p:txBody>
      </p:sp>
      <p:sp>
        <p:nvSpPr>
          <p:cNvPr id="17" name="TextBox 16"/>
          <p:cNvSpPr txBox="1"/>
          <p:nvPr/>
        </p:nvSpPr>
        <p:spPr>
          <a:xfrm>
            <a:off x="15367000" y="2044700"/>
            <a:ext cx="3048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7</a:t>
            </a:r>
          </a:p>
        </p:txBody>
      </p:sp>
      <p:sp>
        <p:nvSpPr>
          <p:cNvPr id="18" name="Rounded Rectangle 17"/>
          <p:cNvSpPr/>
          <p:nvPr/>
        </p:nvSpPr>
        <p:spPr>
          <a:xfrm>
            <a:off x="88392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6</a:t>
            </a:r>
          </a:p>
        </p:txBody>
      </p:sp>
      <p:sp>
        <p:nvSpPr>
          <p:cNvPr id="19" name="TextBox 18"/>
          <p:cNvSpPr txBox="1"/>
          <p:nvPr/>
        </p:nvSpPr>
        <p:spPr>
          <a:xfrm>
            <a:off x="9855200" y="3009900"/>
            <a:ext cx="44450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Integrated Identity Security and AI features</a:t>
            </a:r>
          </a:p>
        </p:txBody>
      </p:sp>
      <p:sp>
        <p:nvSpPr>
          <p:cNvPr id="20" name="TextBox 19"/>
          <p:cNvSpPr txBox="1"/>
          <p:nvPr/>
        </p:nvSpPr>
        <p:spPr>
          <a:xfrm>
            <a:off x="15354300" y="3060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8</a:t>
            </a:r>
          </a:p>
        </p:txBody>
      </p:sp>
      <p:sp>
        <p:nvSpPr>
          <p:cNvPr id="21" name="Rounded Rectangle 20"/>
          <p:cNvSpPr/>
          <p:nvPr/>
        </p:nvSpPr>
        <p:spPr>
          <a:xfrm>
            <a:off x="88392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7</a:t>
            </a:r>
          </a:p>
        </p:txBody>
      </p:sp>
      <p:sp>
        <p:nvSpPr>
          <p:cNvPr id="22" name="TextBox 21"/>
          <p:cNvSpPr txBox="1"/>
          <p:nvPr/>
        </p:nvSpPr>
        <p:spPr>
          <a:xfrm>
            <a:off x="9855200" y="4025900"/>
            <a:ext cx="45593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Addressing Complex Identity Infrastructures</a:t>
            </a:r>
          </a:p>
        </p:txBody>
      </p:sp>
      <p:sp>
        <p:nvSpPr>
          <p:cNvPr id="23" name="TextBox 22"/>
          <p:cNvSpPr txBox="1"/>
          <p:nvPr/>
        </p:nvSpPr>
        <p:spPr>
          <a:xfrm>
            <a:off x="15354300" y="4076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9</a:t>
            </a:r>
          </a:p>
        </p:txBody>
      </p:sp>
      <p:sp>
        <p:nvSpPr>
          <p:cNvPr id="24" name="Rounded Rectangle 23"/>
          <p:cNvSpPr/>
          <p:nvPr/>
        </p:nvSpPr>
        <p:spPr>
          <a:xfrm>
            <a:off x="8839200" y="4851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8</a:t>
            </a:r>
          </a:p>
        </p:txBody>
      </p:sp>
      <p:sp>
        <p:nvSpPr>
          <p:cNvPr id="25" name="TextBox 24"/>
          <p:cNvSpPr txBox="1"/>
          <p:nvPr/>
        </p:nvSpPr>
        <p:spPr>
          <a:xfrm>
            <a:off x="9855200" y="5041900"/>
            <a:ext cx="37719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Real-world ZTA Use Cases overview</a:t>
            </a:r>
          </a:p>
        </p:txBody>
      </p:sp>
      <p:sp>
        <p:nvSpPr>
          <p:cNvPr id="26" name="TextBox 25"/>
          <p:cNvSpPr txBox="1"/>
          <p:nvPr/>
        </p:nvSpPr>
        <p:spPr>
          <a:xfrm>
            <a:off x="15265400" y="5092700"/>
            <a:ext cx="4064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10</a:t>
            </a:r>
          </a:p>
        </p:txBody>
      </p:sp>
      <p:sp>
        <p:nvSpPr>
          <p:cNvPr id="27" name="Rounded Rectangle 26"/>
          <p:cNvSpPr/>
          <p:nvPr/>
        </p:nvSpPr>
        <p:spPr>
          <a:xfrm>
            <a:off x="8839200" y="5867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9</a:t>
            </a:r>
          </a:p>
        </p:txBody>
      </p:sp>
      <p:sp>
        <p:nvSpPr>
          <p:cNvPr id="28" name="TextBox 27"/>
          <p:cNvSpPr txBox="1"/>
          <p:nvPr/>
        </p:nvSpPr>
        <p:spPr>
          <a:xfrm>
            <a:off x="9855200" y="6057900"/>
            <a:ext cx="42418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Summary and Key Advantages recapped</a:t>
            </a:r>
          </a:p>
        </p:txBody>
      </p:sp>
      <p:sp>
        <p:nvSpPr>
          <p:cNvPr id="29" name="TextBox 28"/>
          <p:cNvSpPr txBox="1"/>
          <p:nvPr/>
        </p:nvSpPr>
        <p:spPr>
          <a:xfrm>
            <a:off x="15316200" y="6108700"/>
            <a:ext cx="3556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16256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Universal Zero Trust Network Access (UZTNA)</a:t>
            </a:r>
          </a:p>
        </p:txBody>
      </p:sp>
      <p:pic>
        <p:nvPicPr>
          <p:cNvPr id="3" name="Picture 2" descr="d75e1376-0e11-4281-9c6d-78162b1a5d2a.png"/>
          <p:cNvPicPr>
            <a:picLocks noChangeAspect="1"/>
          </p:cNvPicPr>
          <p:nvPr/>
        </p:nvPicPr>
        <p:blipFill>
          <a:blip r:embed="rId3"/>
          <a:stretch>
            <a:fillRect/>
          </a:stretch>
        </p:blipFill>
        <p:spPr>
          <a:xfrm>
            <a:off x="914400" y="2438400"/>
            <a:ext cx="6604000" cy="6604000"/>
          </a:xfrm>
          <a:prstGeom prst="rect">
            <a:avLst/>
          </a:prstGeom>
        </p:spPr>
      </p:pic>
      <p:sp>
        <p:nvSpPr>
          <p:cNvPr id="4" name="TextBox 3"/>
          <p:cNvSpPr txBox="1"/>
          <p:nvPr/>
        </p:nvSpPr>
        <p:spPr>
          <a:xfrm>
            <a:off x="8432800" y="2438400"/>
            <a:ext cx="6934200" cy="1066800"/>
          </a:xfrm>
          <a:prstGeom prst="rect">
            <a:avLst/>
          </a:prstGeom>
          <a:noFill/>
        </p:spPr>
        <p:txBody>
          <a:bodyPr wrap="square" lIns="0" rIns="0" tIns="0" bIns="0">
            <a:spAutoFit/>
          </a:bodyPr>
          <a:lstStyle/>
          <a:p>
            <a:pPr algn="l">
              <a:lnSpc>
                <a:spcPct val="145000"/>
              </a:lnSpc>
              <a:defRPr i="0" sz="1600" b="0">
                <a:solidFill>
                  <a:srgbClr val="334155"/>
                </a:solidFill>
                <a:latin typeface="Open Sans"/>
              </a:defRPr>
            </a:pPr>
            <a:r>
              <a:rPr i="0" sz="1600" b="0">
                <a:solidFill>
                  <a:srgbClr val="334155"/>
                </a:solidFill>
                <a:latin typeface="Open Sans"/>
              </a:rPr>
              <a:t>UZTNA sets a new standard in secure connectivity by enabling access controls for all users, devices, and locations without relying on legacy trust models.</a:t>
            </a:r>
          </a:p>
        </p:txBody>
      </p:sp>
      <p:sp>
        <p:nvSpPr>
          <p:cNvPr id="5" name="Rounded Rectangle 4"/>
          <p:cNvSpPr/>
          <p:nvPr/>
        </p:nvSpPr>
        <p:spPr>
          <a:xfrm>
            <a:off x="8432800" y="38608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38608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Perimeterless Security</a:t>
            </a:r>
          </a:p>
        </p:txBody>
      </p:sp>
      <p:sp>
        <p:nvSpPr>
          <p:cNvPr id="7" name="Rounded Rectangle 6"/>
          <p:cNvSpPr/>
          <p:nvPr/>
        </p:nvSpPr>
        <p:spPr>
          <a:xfrm>
            <a:off x="9499600" y="42672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44069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Access is no longer reliant on legacy network boundaries, reducing potential attack surface and enhancing adaptivity.</a:t>
            </a:r>
          </a:p>
        </p:txBody>
      </p:sp>
      <p:sp>
        <p:nvSpPr>
          <p:cNvPr id="9" name="Rounded Rectangle 8"/>
          <p:cNvSpPr/>
          <p:nvPr/>
        </p:nvSpPr>
        <p:spPr>
          <a:xfrm>
            <a:off x="8432800" y="56261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56261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Comprehensive Application Access</a:t>
            </a:r>
          </a:p>
        </p:txBody>
      </p:sp>
      <p:sp>
        <p:nvSpPr>
          <p:cNvPr id="11" name="Rounded Rectangle 10"/>
          <p:cNvSpPr/>
          <p:nvPr/>
        </p:nvSpPr>
        <p:spPr>
          <a:xfrm>
            <a:off x="9499600" y="60325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6172200"/>
            <a:ext cx="5867400" cy="990600"/>
          </a:xfrm>
          <a:prstGeom prst="rect">
            <a:avLst/>
          </a:prstGeom>
          <a:noFill/>
        </p:spPr>
        <p:txBody>
          <a:bodyPr wrap="square" lIns="0" rIns="0" tIns="0" bIns="0">
            <a:spAutoFit/>
          </a:bodyPr>
          <a:lstStyle/>
          <a:p>
            <a:pPr algn="l">
              <a:lnSpc>
                <a:spcPct val="143000"/>
              </a:lnSpc>
              <a:defRPr i="0" sz="1500" b="0">
                <a:solidFill>
                  <a:srgbClr val="334155"/>
                </a:solidFill>
                <a:latin typeface="Open Sans"/>
              </a:defRPr>
            </a:pPr>
            <a:r>
              <a:rPr i="0" sz="1500" b="0">
                <a:solidFill>
                  <a:srgbClr val="334155"/>
                </a:solidFill>
                <a:latin typeface="Open Sans"/>
              </a:rPr>
              <a:t>Provides authenticated, authorized connectivity for users and devices across diverse locations and environments with unified control.</a:t>
            </a:r>
          </a:p>
        </p:txBody>
      </p:sp>
      <p:sp>
        <p:nvSpPr>
          <p:cNvPr id="13" name="Rounded Rectangle 12"/>
          <p:cNvSpPr/>
          <p:nvPr/>
        </p:nvSpPr>
        <p:spPr>
          <a:xfrm>
            <a:off x="8432800" y="77216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77216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Zero Trust Model</a:t>
            </a:r>
          </a:p>
        </p:txBody>
      </p:sp>
      <p:sp>
        <p:nvSpPr>
          <p:cNvPr id="15" name="Rounded Rectangle 14"/>
          <p:cNvSpPr/>
          <p:nvPr/>
        </p:nvSpPr>
        <p:spPr>
          <a:xfrm>
            <a:off x="9499600" y="81280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82677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Removes implicit trust in networks, continuously verifying user and device legitimacy for every access request.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Device Trust and Visibility</a:t>
            </a:r>
          </a:p>
        </p:txBody>
      </p:sp>
      <p:pic>
        <p:nvPicPr>
          <p:cNvPr id="3" name="Picture 2" descr="5f41829a-afb1-4334-8e06-56143c738b21.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Secure access depends on verifying device trust and maintaining endpoint visibility across all device types.</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Granular Access Control</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Trust policies determine which endpoints can access sensitive resources, enhancing security posture.</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Covers All Devices</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Company-registered and personal devices are both evaluated to ensure comprehensive coverage and enforcement.</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Policy Enforcement</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Solutions like Duo Trusted Endpoints restrict access to managed devices and deny unregistered endpoints.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Continuous Validation &amp; Health Checks</a:t>
            </a:r>
          </a:p>
        </p:txBody>
      </p:sp>
      <p:pic>
        <p:nvPicPr>
          <p:cNvPr id="3" name="Picture 2" descr="ba1d06a4-f5d8-4908-9af1-7a8d94aa0bc4.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Ensuring device compliance through automated trust checks at login and beyond, maintaining security across all endpoints.</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Automated Device Trust</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Initiates comprehensive checks at user login, including OS updates, security patches, and encryption status.</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Blocking Non-Compliant Devices</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Devices failing checks are denied authentication, minimizing risk by preventing unsecure access.</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User Self-Remediation</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Empowers users to correct compliance issues independently, streamlining the resolution process.</a:t>
            </a:r>
          </a:p>
        </p:txBody>
      </p:sp>
      <p:sp>
        <p:nvSpPr>
          <p:cNvPr id="17" name="Rounded Rectangle 16"/>
          <p:cNvSpPr/>
          <p:nvPr/>
        </p:nvSpPr>
        <p:spPr>
          <a:xfrm>
            <a:off x="8432800" y="79883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499600" y="79883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Ongoing Protection</a:t>
            </a:r>
          </a:p>
        </p:txBody>
      </p:sp>
      <p:sp>
        <p:nvSpPr>
          <p:cNvPr id="19" name="Rounded Rectangle 18"/>
          <p:cNvSpPr/>
          <p:nvPr/>
        </p:nvSpPr>
        <p:spPr>
          <a:xfrm>
            <a:off x="9499600" y="83947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499600" y="85344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Continuous validation maintains endpoint security beyond initial authentication.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41529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User Experience &amp; Usability Highlights</a:t>
            </a:r>
          </a:p>
        </p:txBody>
      </p:sp>
      <p:pic>
        <p:nvPicPr>
          <p:cNvPr id="3" name="Picture 2" descr="28436a11-d6bd-4185-8519-bc01300b4ae7.png"/>
          <p:cNvPicPr>
            <a:picLocks noChangeAspect="1"/>
          </p:cNvPicPr>
          <p:nvPr/>
        </p:nvPicPr>
        <p:blipFill>
          <a:blip r:embed="rId3"/>
          <a:stretch>
            <a:fillRect/>
          </a:stretch>
        </p:blipFill>
        <p:spPr>
          <a:xfrm>
            <a:off x="9677400" y="5067300"/>
            <a:ext cx="5969000" cy="6096000"/>
          </a:xfrm>
          <a:prstGeom prst="rect">
            <a:avLst/>
          </a:prstGeom>
        </p:spPr>
      </p:pic>
      <p:sp>
        <p:nvSpPr>
          <p:cNvPr id="4" name="Rounded Rectangle 3"/>
          <p:cNvSpPr/>
          <p:nvPr/>
        </p:nvSpPr>
        <p:spPr>
          <a:xfrm>
            <a:off x="609600" y="50673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5067300"/>
            <a:ext cx="16256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Intuitive Interface</a:t>
            </a:r>
          </a:p>
        </p:txBody>
      </p:sp>
      <p:sp>
        <p:nvSpPr>
          <p:cNvPr id="6" name="TextBox 5"/>
          <p:cNvSpPr txBox="1"/>
          <p:nvPr/>
        </p:nvSpPr>
        <p:spPr>
          <a:xfrm>
            <a:off x="1524000" y="58039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Clean design and intuitive navigation make Duo easy to use and limit user confusion.</a:t>
            </a:r>
          </a:p>
        </p:txBody>
      </p:sp>
      <p:sp>
        <p:nvSpPr>
          <p:cNvPr id="7" name="Rounded Rectangle 6"/>
          <p:cNvSpPr/>
          <p:nvPr/>
        </p:nvSpPr>
        <p:spPr>
          <a:xfrm>
            <a:off x="3632200" y="50673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5067300"/>
            <a:ext cx="16891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Enhanced Accessibility</a:t>
            </a:r>
          </a:p>
        </p:txBody>
      </p:sp>
      <p:sp>
        <p:nvSpPr>
          <p:cNvPr id="9" name="TextBox 8"/>
          <p:cNvSpPr txBox="1"/>
          <p:nvPr/>
        </p:nvSpPr>
        <p:spPr>
          <a:xfrm>
            <a:off x="4546600" y="5803900"/>
            <a:ext cx="16891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Strong accessibility features include multiple language support to accommodate diverse user needs.</a:t>
            </a:r>
          </a:p>
        </p:txBody>
      </p:sp>
      <p:sp>
        <p:nvSpPr>
          <p:cNvPr id="10" name="Rounded Rectangle 9"/>
          <p:cNvSpPr/>
          <p:nvPr/>
        </p:nvSpPr>
        <p:spPr>
          <a:xfrm>
            <a:off x="6654800" y="50673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5067300"/>
            <a:ext cx="16764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Empowered Users</a:t>
            </a:r>
          </a:p>
        </p:txBody>
      </p:sp>
      <p:sp>
        <p:nvSpPr>
          <p:cNvPr id="12" name="TextBox 11"/>
          <p:cNvSpPr txBox="1"/>
          <p:nvPr/>
        </p:nvSpPr>
        <p:spPr>
          <a:xfrm>
            <a:off x="7569200" y="5803900"/>
            <a:ext cx="1676400" cy="2362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Users can troubleshoot common issues themselves, improving productivity without frequent IT involvement.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31115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Rapid Deployment &amp; Compatibility</a:t>
            </a:r>
          </a:p>
        </p:txBody>
      </p:sp>
      <p:pic>
        <p:nvPicPr>
          <p:cNvPr id="3" name="Picture 2" descr="0adbe510-5b68-470f-b656-b2e1a19b3a3e.png"/>
          <p:cNvPicPr>
            <a:picLocks noChangeAspect="1"/>
          </p:cNvPicPr>
          <p:nvPr/>
        </p:nvPicPr>
        <p:blipFill>
          <a:blip r:embed="rId3"/>
          <a:stretch>
            <a:fillRect/>
          </a:stretch>
        </p:blipFill>
        <p:spPr>
          <a:xfrm>
            <a:off x="9677400" y="4025900"/>
            <a:ext cx="5969000" cy="6096000"/>
          </a:xfrm>
          <a:prstGeom prst="rect">
            <a:avLst/>
          </a:prstGeom>
        </p:spPr>
      </p:pic>
      <p:sp>
        <p:nvSpPr>
          <p:cNvPr id="4" name="Rounded Rectangle 3"/>
          <p:cNvSpPr/>
          <p:nvPr/>
        </p:nvSpPr>
        <p:spPr>
          <a:xfrm>
            <a:off x="6096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4025900"/>
            <a:ext cx="16256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Faster Deployment</a:t>
            </a:r>
          </a:p>
        </p:txBody>
      </p:sp>
      <p:sp>
        <p:nvSpPr>
          <p:cNvPr id="6" name="TextBox 5"/>
          <p:cNvSpPr txBox="1"/>
          <p:nvPr/>
        </p:nvSpPr>
        <p:spPr>
          <a:xfrm>
            <a:off x="1524000" y="4775200"/>
            <a:ext cx="1625600" cy="2362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Duo enables implementation at a much quicker pace than alternative solutions, reducing time-to-value.</a:t>
            </a:r>
          </a:p>
        </p:txBody>
      </p:sp>
      <p:sp>
        <p:nvSpPr>
          <p:cNvPr id="7" name="Rounded Rectangle 6"/>
          <p:cNvSpPr/>
          <p:nvPr/>
        </p:nvSpPr>
        <p:spPr>
          <a:xfrm>
            <a:off x="36322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40259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Agentless &amp; Device Trust</a:t>
            </a:r>
          </a:p>
        </p:txBody>
      </p:sp>
      <p:sp>
        <p:nvSpPr>
          <p:cNvPr id="9" name="TextBox 8"/>
          <p:cNvSpPr txBox="1"/>
          <p:nvPr/>
        </p:nvSpPr>
        <p:spPr>
          <a:xfrm>
            <a:off x="4546600" y="5092700"/>
            <a:ext cx="16256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Supports outsourcing, partner, and BYOD needs with agentless access and device trust features.</a:t>
            </a:r>
          </a:p>
        </p:txBody>
      </p:sp>
      <p:sp>
        <p:nvSpPr>
          <p:cNvPr id="10" name="Rounded Rectangle 9"/>
          <p:cNvSpPr/>
          <p:nvPr/>
        </p:nvSpPr>
        <p:spPr>
          <a:xfrm>
            <a:off x="66548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4025900"/>
            <a:ext cx="1625600" cy="1282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No Intrusive Agents Needed</a:t>
            </a:r>
          </a:p>
        </p:txBody>
      </p:sp>
      <p:sp>
        <p:nvSpPr>
          <p:cNvPr id="12" name="TextBox 11"/>
          <p:cNvSpPr txBox="1"/>
          <p:nvPr/>
        </p:nvSpPr>
        <p:spPr>
          <a:xfrm>
            <a:off x="7569200" y="5410200"/>
            <a:ext cx="16256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Delivers strong security and effortless convenience without requiring extra hardware or intrusive agents.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3233400" cy="787400"/>
          </a:xfrm>
          <a:prstGeom prst="rect">
            <a:avLst/>
          </a:prstGeom>
          <a:noFill/>
        </p:spPr>
        <p:txBody>
          <a:bodyPr wrap="square" lIns="0" rIns="0" tIns="0" bIns="0">
            <a:spAutoFit/>
          </a:bodyPr>
          <a:lstStyle/>
          <a:p>
            <a:pPr algn="l">
              <a:lnSpc>
                <a:spcPct val="80000"/>
              </a:lnSpc>
              <a:defRPr i="0" sz="5600" b="1">
                <a:solidFill>
                  <a:srgbClr val="0A2B66"/>
                </a:solidFill>
                <a:latin typeface="Open Sans"/>
              </a:defRPr>
            </a:pPr>
            <a:r>
              <a:rPr i="0" sz="5600" b="1">
                <a:solidFill>
                  <a:srgbClr val="0A2B66"/>
                </a:solidFill>
                <a:latin typeface="Open Sans"/>
              </a:rPr>
              <a:t>Integrated Identity Security and AI</a:t>
            </a:r>
          </a:p>
        </p:txBody>
      </p:sp>
      <p:sp>
        <p:nvSpPr>
          <p:cNvPr id="3" name="TextBox 2"/>
          <p:cNvSpPr txBox="1"/>
          <p:nvPr/>
        </p:nvSpPr>
        <p:spPr>
          <a:xfrm>
            <a:off x="20828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FIDO2 Authentication</a:t>
            </a:r>
          </a:p>
        </p:txBody>
      </p:sp>
      <p:sp>
        <p:nvSpPr>
          <p:cNvPr id="4" name="TextBox 3"/>
          <p:cNvSpPr txBox="1"/>
          <p:nvPr/>
        </p:nvSpPr>
        <p:spPr>
          <a:xfrm>
            <a:off x="2082800" y="2425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Phishing-resistant FIDO2 provides secure, hardware-free user access across all platforms and applications.</a:t>
            </a:r>
          </a:p>
        </p:txBody>
      </p:sp>
      <p:sp>
        <p:nvSpPr>
          <p:cNvPr id="5" name="TextBox 4"/>
          <p:cNvSpPr txBox="1"/>
          <p:nvPr/>
        </p:nvSpPr>
        <p:spPr>
          <a:xfrm>
            <a:off x="71247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Session Defense</a:t>
            </a:r>
          </a:p>
        </p:txBody>
      </p:sp>
      <p:sp>
        <p:nvSpPr>
          <p:cNvPr id="6" name="TextBox 5"/>
          <p:cNvSpPr txBox="1"/>
          <p:nvPr/>
        </p:nvSpPr>
        <p:spPr>
          <a:xfrm>
            <a:off x="7124700" y="2425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Monitors and prevents session hijacking by analyzing user and application behavior continuously.</a:t>
            </a:r>
          </a:p>
        </p:txBody>
      </p:sp>
      <p:sp>
        <p:nvSpPr>
          <p:cNvPr id="7" name="TextBox 6"/>
          <p:cNvSpPr txBox="1"/>
          <p:nvPr/>
        </p:nvSpPr>
        <p:spPr>
          <a:xfrm>
            <a:off x="121793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Device Trust Validation</a:t>
            </a:r>
          </a:p>
        </p:txBody>
      </p:sp>
      <p:sp>
        <p:nvSpPr>
          <p:cNvPr id="8" name="TextBox 7"/>
          <p:cNvSpPr txBox="1"/>
          <p:nvPr/>
        </p:nvSpPr>
        <p:spPr>
          <a:xfrm>
            <a:off x="12179300" y="2425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Validates each device’s security posture, ensuring only trusted devices can access sensitive resources.</a:t>
            </a:r>
          </a:p>
        </p:txBody>
      </p:sp>
      <p:sp>
        <p:nvSpPr>
          <p:cNvPr id="9" name="TextBox 8"/>
          <p:cNvSpPr txBox="1"/>
          <p:nvPr/>
        </p:nvSpPr>
        <p:spPr>
          <a:xfrm>
            <a:off x="2082800" y="45593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AI Risk Assessment</a:t>
            </a:r>
          </a:p>
        </p:txBody>
      </p:sp>
      <p:sp>
        <p:nvSpPr>
          <p:cNvPr id="10" name="TextBox 9"/>
          <p:cNvSpPr txBox="1"/>
          <p:nvPr/>
        </p:nvSpPr>
        <p:spPr>
          <a:xfrm>
            <a:off x="2082800" y="49784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AI dynamically analyzes user, device, and app risk context, tailoring access decisions in real-time.</a:t>
            </a:r>
          </a:p>
        </p:txBody>
      </p:sp>
      <p:pic>
        <p:nvPicPr>
          <p:cNvPr id="11" name="Picture 10" descr="7de72b5b-a03e-4460-a0fe-4621e7904fbf.png"/>
          <p:cNvPicPr>
            <a:picLocks noChangeAspect="1"/>
          </p:cNvPicPr>
          <p:nvPr/>
        </p:nvPicPr>
        <p:blipFill>
          <a:blip r:embed="rId3"/>
          <a:stretch>
            <a:fillRect/>
          </a:stretch>
        </p:blipFill>
        <p:spPr>
          <a:xfrm>
            <a:off x="0" y="6807200"/>
            <a:ext cx="16256000" cy="2336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Complex Identity Infrastructures</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Fragmented Risk Visibility</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Multiple identity solutions create silos, hindering unified risk assessment and oversight across the enterprise.</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Unified Risk Management</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Cisco Zero Trust platform integrates identity risk data, offering a centralized approach for robust monitoring.</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Least Privilege Enforcement</a:t>
            </a:r>
          </a:p>
        </p:txBody>
      </p:sp>
      <p:sp>
        <p:nvSpPr>
          <p:cNvPr id="11" name="TextBox 10"/>
          <p:cNvSpPr txBox="1"/>
          <p:nvPr/>
        </p:nvSpPr>
        <p:spPr>
          <a:xfrm>
            <a:off x="1892300" y="4330700"/>
            <a:ext cx="5448300" cy="977900"/>
          </a:xfrm>
          <a:prstGeom prst="rect">
            <a:avLst/>
          </a:prstGeom>
          <a:noFill/>
        </p:spPr>
        <p:txBody>
          <a:bodyPr wrap="square" lIns="0" rIns="0" tIns="0" bIns="0">
            <a:spAutoFit/>
          </a:bodyPr>
          <a:lstStyle/>
          <a:p>
            <a:pPr algn="l">
              <a:lnSpc>
                <a:spcPct val="130000"/>
              </a:lnSpc>
              <a:defRPr i="0" sz="1600" b="0">
                <a:solidFill>
                  <a:srgbClr val="25344A"/>
                </a:solidFill>
                <a:latin typeface="Open Sans"/>
              </a:defRPr>
            </a:pPr>
            <a:r>
              <a:rPr i="0" sz="1600" b="0">
                <a:solidFill>
                  <a:srgbClr val="25344A"/>
                </a:solidFill>
                <a:latin typeface="Open Sans"/>
              </a:rPr>
              <a:t>Centralized controls enable strict least privilege access throughout all digital resources, minimizing potential attack surfaces.</a:t>
            </a:r>
          </a:p>
        </p:txBody>
      </p:sp>
      <p:pic>
        <p:nvPicPr>
          <p:cNvPr id="12" name="Picture 11" descr="833fab38-38e9-48da-aee3-d3965707b5db.png"/>
          <p:cNvPicPr>
            <a:picLocks noChangeAspect="1"/>
          </p:cNvPicPr>
          <p:nvPr/>
        </p:nvPicPr>
        <p:blipFill>
          <a:blip r:embed="rId3"/>
          <a:stretch>
            <a:fillRect/>
          </a:stretch>
        </p:blipFill>
        <p:spPr>
          <a:xfrm>
            <a:off x="1117600" y="5816600"/>
            <a:ext cx="6096000" cy="2032000"/>
          </a:xfrm>
          <a:prstGeom prst="rect">
            <a:avLst/>
          </a:prstGeom>
        </p:spPr>
      </p:pic>
      <p:sp>
        <p:nvSpPr>
          <p:cNvPr id="13" name="Rounded Rectangle 12"/>
          <p:cNvSpPr/>
          <p:nvPr/>
        </p:nvSpPr>
        <p:spPr>
          <a:xfrm>
            <a:off x="1117600" y="80518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270000" y="8204200"/>
            <a:ext cx="13741400" cy="304800"/>
          </a:xfrm>
          <a:prstGeom prst="rect">
            <a:avLst/>
          </a:prstGeom>
          <a:noFill/>
        </p:spPr>
        <p:txBody>
          <a:bodyPr wrap="square" lIns="0" rIns="0" tIns="0" bIns="0">
            <a:spAutoFit/>
          </a:bodyPr>
          <a:lstStyle/>
          <a:p>
            <a:pPr algn="l">
              <a:lnSpc>
                <a:spcPct val="120000"/>
              </a:lnSpc>
              <a:defRPr i="0" sz="1600" b="0">
                <a:solidFill>
                  <a:srgbClr val="09090B"/>
                </a:solidFill>
                <a:latin typeface="Open Sans"/>
              </a:defRPr>
            </a:pPr>
            <a:r>
              <a:rPr i="0" sz="1600" b="0">
                <a:solidFill>
                  <a:srgbClr val="09090B"/>
                </a:solidFill>
                <a:latin typeface="Open Sans"/>
              </a:rPr>
              <a:t>graph LR</a:t>
            </a:r>
            <a:r>
              <a:t>
</a:t>
            </a:r>
            <a:r>
              <a:rPr i="0" sz="1600" b="0">
                <a:solidFill>
                  <a:srgbClr val="09090B"/>
                </a:solidFill>
                <a:latin typeface="Open Sans"/>
              </a:rPr>
              <a:t>A[Multiple Identity Solutions] --&gt; B[Risk Silos]</a:t>
            </a:r>
            <a:r>
              <a:t>
</a:t>
            </a:r>
            <a:r>
              <a:rPr i="0" sz="1600" b="0">
                <a:solidFill>
                  <a:srgbClr val="09090B"/>
                </a:solidFill>
                <a:latin typeface="Open Sans"/>
              </a:rPr>
              <a:t>B --&gt; C[Cisco Zero Trust]</a:t>
            </a:r>
            <a:r>
              <a:t>
</a:t>
            </a:r>
            <a:r>
              <a:rPr i="0" sz="1600" b="0">
                <a:solidFill>
                  <a:srgbClr val="09090B"/>
                </a:solidFill>
                <a:latin typeface="Open Sans"/>
              </a:rPr>
              <a:t>C --&gt; D[Unified Risk Visibility]</a:t>
            </a:r>
            <a:r>
              <a:t>
</a:t>
            </a:r>
            <a:r>
              <a:rPr i="0" sz="1600" b="0">
                <a:solidFill>
                  <a:srgbClr val="09090B"/>
                </a:solidFill>
                <a:latin typeface="Open Sans"/>
              </a:rPr>
              <a:t>D --&gt; E[Least Privilege Access]</a:t>
            </a:r>
          </a:p>
        </p:txBody>
      </p:sp>
      <p:pic>
        <p:nvPicPr>
          <p:cNvPr id="15" name="Picture 14" descr="32714419-a057-485c-a964-bd7842b64184.png"/>
          <p:cNvPicPr>
            <a:picLocks noChangeAspect="1"/>
          </p:cNvPicPr>
          <p:nvPr/>
        </p:nvPicPr>
        <p:blipFill>
          <a:blip r:embed="rId4"/>
          <a:stretch>
            <a:fillRect/>
          </a:stretch>
        </p:blipFill>
        <p:spPr>
          <a:xfrm>
            <a:off x="0" y="6858000"/>
            <a:ext cx="16256000" cy="2286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3233400" cy="787400"/>
          </a:xfrm>
          <a:prstGeom prst="rect">
            <a:avLst/>
          </a:prstGeom>
          <a:noFill/>
        </p:spPr>
        <p:txBody>
          <a:bodyPr wrap="square" lIns="0" rIns="0" tIns="0" bIns="0">
            <a:spAutoFit/>
          </a:bodyPr>
          <a:lstStyle/>
          <a:p>
            <a:pPr algn="l">
              <a:lnSpc>
                <a:spcPct val="80000"/>
              </a:lnSpc>
              <a:defRPr i="0" sz="5600" b="1">
                <a:solidFill>
                  <a:srgbClr val="0A2B66"/>
                </a:solidFill>
                <a:latin typeface="Open Sans"/>
              </a:defRPr>
            </a:pPr>
            <a:r>
              <a:rPr i="0" sz="5600" b="1">
                <a:solidFill>
                  <a:srgbClr val="0A2B66"/>
                </a:solidFill>
                <a:latin typeface="Open Sans"/>
              </a:rPr>
              <a:t>Real-World ZTA Use Cases</a:t>
            </a:r>
          </a:p>
        </p:txBody>
      </p:sp>
      <p:sp>
        <p:nvSpPr>
          <p:cNvPr id="3" name="TextBox 2"/>
          <p:cNvSpPr txBox="1"/>
          <p:nvPr/>
        </p:nvSpPr>
        <p:spPr>
          <a:xfrm>
            <a:off x="20828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Legacy VPN to ZTA</a:t>
            </a:r>
          </a:p>
        </p:txBody>
      </p:sp>
      <p:sp>
        <p:nvSpPr>
          <p:cNvPr id="4" name="TextBox 3"/>
          <p:cNvSpPr txBox="1"/>
          <p:nvPr/>
        </p:nvSpPr>
        <p:spPr>
          <a:xfrm>
            <a:off x="2082800" y="2425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Organizations are shifting from legacy VPNs to Cisco Secure Access for robust security and operational agility.</a:t>
            </a:r>
          </a:p>
        </p:txBody>
      </p:sp>
      <p:sp>
        <p:nvSpPr>
          <p:cNvPr id="5" name="TextBox 4"/>
          <p:cNvSpPr txBox="1"/>
          <p:nvPr/>
        </p:nvSpPr>
        <p:spPr>
          <a:xfrm>
            <a:off x="7124700" y="2006600"/>
            <a:ext cx="2984500" cy="6350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Web &amp; Traditional Models</a:t>
            </a:r>
          </a:p>
        </p:txBody>
      </p:sp>
      <p:sp>
        <p:nvSpPr>
          <p:cNvPr id="6" name="TextBox 5"/>
          <p:cNvSpPr txBox="1"/>
          <p:nvPr/>
        </p:nvSpPr>
        <p:spPr>
          <a:xfrm>
            <a:off x="7124700" y="2743200"/>
            <a:ext cx="2984500" cy="15240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Zero Trust supports both web-based applications and client-server setups, ensuring consistent protection across environments.</a:t>
            </a:r>
          </a:p>
        </p:txBody>
      </p:sp>
      <p:sp>
        <p:nvSpPr>
          <p:cNvPr id="7" name="TextBox 6"/>
          <p:cNvSpPr txBox="1"/>
          <p:nvPr/>
        </p:nvSpPr>
        <p:spPr>
          <a:xfrm>
            <a:off x="121793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Cloud-Based Access</a:t>
            </a:r>
          </a:p>
        </p:txBody>
      </p:sp>
      <p:sp>
        <p:nvSpPr>
          <p:cNvPr id="8" name="TextBox 7"/>
          <p:cNvSpPr txBox="1"/>
          <p:nvPr/>
        </p:nvSpPr>
        <p:spPr>
          <a:xfrm>
            <a:off x="12179300" y="2425700"/>
            <a:ext cx="2984500" cy="15240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Using cloud-based secure access streamlines firewall policies and enhances connection efficiency for remote users.</a:t>
            </a:r>
          </a:p>
        </p:txBody>
      </p:sp>
      <p:pic>
        <p:nvPicPr>
          <p:cNvPr id="9" name="Picture 8" descr="1d7800f5-311c-4532-aef2-8bcb68c18fbe.png"/>
          <p:cNvPicPr>
            <a:picLocks noChangeAspect="1"/>
          </p:cNvPicPr>
          <p:nvPr/>
        </p:nvPicPr>
        <p:blipFill>
          <a:blip r:embed="rId3"/>
          <a:stretch>
            <a:fillRect/>
          </a:stretch>
        </p:blipFill>
        <p:spPr>
          <a:xfrm>
            <a:off x="0" y="6807200"/>
            <a:ext cx="16256000" cy="2336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0" y="3683000"/>
            <a:ext cx="11963400" cy="1168400"/>
          </a:xfrm>
          <a:prstGeom prst="rect">
            <a:avLst/>
          </a:prstGeom>
          <a:noFill/>
        </p:spPr>
        <p:txBody>
          <a:bodyPr wrap="square" lIns="0" rIns="0" tIns="0" bIns="0">
            <a:spAutoFit/>
          </a:bodyPr>
          <a:lstStyle/>
          <a:p>
            <a:pPr algn="l">
              <a:lnSpc>
                <a:spcPct val="75000"/>
              </a:lnSpc>
              <a:defRPr i="0" sz="8800" b="1">
                <a:solidFill>
                  <a:srgbClr val="0B2D6B"/>
                </a:solidFill>
                <a:latin typeface="Open Sans"/>
              </a:defRPr>
            </a:pPr>
            <a:r>
              <a:rPr i="0" sz="8800" b="1">
                <a:solidFill>
                  <a:srgbClr val="0B2D6B"/>
                </a:solidFill>
                <a:latin typeface="Open Sans"/>
              </a:rPr>
              <a:t>Zero Trust Access</a:t>
            </a:r>
          </a:p>
        </p:txBody>
      </p:sp>
      <p:sp>
        <p:nvSpPr>
          <p:cNvPr id="3" name="TextBox 2"/>
          <p:cNvSpPr txBox="1"/>
          <p:nvPr/>
        </p:nvSpPr>
        <p:spPr>
          <a:xfrm>
            <a:off x="2286000" y="5918200"/>
            <a:ext cx="11963400" cy="342900"/>
          </a:xfrm>
          <a:prstGeom prst="rect">
            <a:avLst/>
          </a:prstGeom>
          <a:noFill/>
        </p:spPr>
        <p:txBody>
          <a:bodyPr wrap="square" lIns="0" rIns="0" tIns="0" bIns="0">
            <a:spAutoFit/>
          </a:bodyPr>
          <a:lstStyle/>
          <a:p>
            <a:pPr algn="l">
              <a:defRPr i="0" sz="1800" b="1">
                <a:solidFill>
                  <a:srgbClr val="0B2D6B"/>
                </a:solidFill>
                <a:latin typeface="Open Sans"/>
              </a:defRPr>
            </a:pPr>
            <a:r>
              <a:rPr i="0" sz="1800" b="1">
                <a:solidFill>
                  <a:srgbClr val="0B2D6B"/>
                </a:solidFill>
                <a:latin typeface="Open Sans"/>
              </a:rPr>
              <a:t>Summary &amp; Benefits</a:t>
            </a:r>
          </a:p>
        </p:txBody>
      </p:sp>
      <p:sp>
        <p:nvSpPr>
          <p:cNvPr id="4" name="TextBox 3"/>
          <p:cNvSpPr txBox="1"/>
          <p:nvPr/>
        </p:nvSpPr>
        <p:spPr>
          <a:xfrm>
            <a:off x="2286000" y="6388100"/>
            <a:ext cx="11709400" cy="368300"/>
          </a:xfrm>
          <a:prstGeom prst="rect">
            <a:avLst/>
          </a:prstGeom>
          <a:noFill/>
        </p:spPr>
        <p:txBody>
          <a:bodyPr wrap="square" lIns="0" rIns="0" tIns="0" bIns="0">
            <a:spAutoFit/>
          </a:bodyPr>
          <a:lstStyle/>
          <a:p>
            <a:pPr algn="l">
              <a:defRPr i="0" sz="1600" b="0">
                <a:solidFill>
                  <a:srgbClr val="0B2D6B"/>
                </a:solidFill>
                <a:latin typeface="Open Sans"/>
              </a:defRPr>
            </a:pPr>
            <a:r>
              <a:rPr i="0" sz="1600" b="0">
                <a:solidFill>
                  <a:srgbClr val="0B2D6B"/>
                </a:solidFill>
                <a:latin typeface="Open Sans"/>
              </a:rPr>
              <a:t>"Never Trust, Always Verify" ensures visibility, fast rollout, and secure, user-friendly access with unified risk management.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0" y="3683000"/>
            <a:ext cx="11963400" cy="1168400"/>
          </a:xfrm>
          <a:prstGeom prst="rect">
            <a:avLst/>
          </a:prstGeom>
          <a:noFill/>
        </p:spPr>
        <p:txBody>
          <a:bodyPr wrap="square" lIns="0" rIns="0" tIns="0" bIns="0">
            <a:spAutoFit/>
          </a:bodyPr>
          <a:lstStyle/>
          <a:p>
            <a:pPr algn="l">
              <a:lnSpc>
                <a:spcPct val="75000"/>
              </a:lnSpc>
              <a:defRPr i="0" sz="8800" b="1">
                <a:solidFill>
                  <a:srgbClr val="0B2D6B"/>
                </a:solidFill>
                <a:latin typeface="Open Sans"/>
              </a:defRPr>
            </a:pPr>
            <a:r>
              <a:rPr i="0" sz="8800" b="1">
                <a:solidFill>
                  <a:srgbClr val="0B2D6B"/>
                </a:solidFill>
                <a:latin typeface="Open Sans"/>
              </a:rPr>
              <a:t>Sources &amp; Details</a:t>
            </a:r>
          </a:p>
        </p:txBody>
      </p:sp>
      <p:sp>
        <p:nvSpPr>
          <p:cNvPr id="3" name="TextBox 2"/>
          <p:cNvSpPr txBox="1"/>
          <p:nvPr/>
        </p:nvSpPr>
        <p:spPr>
          <a:xfrm>
            <a:off x="2286000" y="5918200"/>
            <a:ext cx="11963400" cy="342900"/>
          </a:xfrm>
          <a:prstGeom prst="rect">
            <a:avLst/>
          </a:prstGeom>
          <a:noFill/>
        </p:spPr>
        <p:txBody>
          <a:bodyPr wrap="square" lIns="0" rIns="0" tIns="0" bIns="0">
            <a:spAutoFit/>
          </a:bodyPr>
          <a:lstStyle/>
          <a:p>
            <a:pPr algn="l">
              <a:defRPr i="0" sz="1800" b="1">
                <a:solidFill>
                  <a:srgbClr val="0B2D6B"/>
                </a:solidFill>
                <a:latin typeface="Open Sans"/>
              </a:defRPr>
            </a:pPr>
            <a:r>
              <a:rPr i="0" sz="1800" b="1">
                <a:solidFill>
                  <a:srgbClr val="0B2D6B"/>
                </a:solidFill>
                <a:latin typeface="Open Sans"/>
              </a:rPr>
              <a:t>Reference Info</a:t>
            </a:r>
          </a:p>
        </p:txBody>
      </p:sp>
      <p:sp>
        <p:nvSpPr>
          <p:cNvPr id="4" name="TextBox 3"/>
          <p:cNvSpPr txBox="1"/>
          <p:nvPr/>
        </p:nvSpPr>
        <p:spPr>
          <a:xfrm>
            <a:off x="2286000" y="6388100"/>
            <a:ext cx="11709400" cy="368300"/>
          </a:xfrm>
          <a:prstGeom prst="rect">
            <a:avLst/>
          </a:prstGeom>
          <a:noFill/>
        </p:spPr>
        <p:txBody>
          <a:bodyPr wrap="square" lIns="0" rIns="0" tIns="0" bIns="0">
            <a:spAutoFit/>
          </a:bodyPr>
          <a:lstStyle/>
          <a:p>
            <a:pPr algn="l">
              <a:defRPr i="0" sz="1600" b="0">
                <a:solidFill>
                  <a:srgbClr val="0B2D6B"/>
                </a:solidFill>
                <a:latin typeface="Open Sans"/>
              </a:defRPr>
            </a:pPr>
            <a:r>
              <a:rPr i="0" sz="1600" b="0">
                <a:solidFill>
                  <a:srgbClr val="0B2D6B"/>
                </a:solidFill>
                <a:latin typeface="Open Sans"/>
              </a:rPr>
              <a:t>Based on GSSO AI Center Docs on Zero Trust Access and Trusted Endpoints. Contact to arrange doc/pdf conversion.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