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6256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Zone segmentation establishes logical boundaries inside the network, allowing more granular access controls and limiting the impact of potential threats. These methods are vital in securing diverse environments, including data centers, campuses, and branches.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Zone segmentation organizes a network into isolated sections to limit threats and better enforce security policies. This approach helps reduce the impact of lateral attacks, improves compliance, and allows for flexible policy controls at scale.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Zone Segmentation divides networks into secure segments. This approach restricts unauthorized lateral movement and quickly isolates threats, protecting sensitive assets and supporting robust security strategies across diverse environments.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Zone segmentation is necessary because lateral attacks are rising and perimeter defenses fall short against modern multi-vector threats. By dividing networks into segments, organizations can control traffic more effectively, isolate issues quickly, and reduce the impact of breaches.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solution portfolio covers data center, campus, and branch sites. Each segment employs tailored security strategies: Data centers use advanced segmentation, campuses ensure access control, and branches enable efficient context-aware networking. Together, they deliver optimized protection and performance for all locations.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the main security features: advanced segmentation significantly reduces risk, context-aware policies enable granular access control, RTC integration ensures fast threat response, and robust monitoring keeps security teams informed of activity and threats.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Zone segmentation in DC ACI RTC delivers secure, multi-tenant network architectures, reduces risk via rapid automated threat containment, integrates efficiently with Cisco ACI, and supports major compliance mandates, including PCI-D.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highlights improved zone segmentation in campus networks, emphasizing integration with Cisco FTD and ISE, 90% containment of breaches, and the role of context-awareness for enhanced security.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Zone segmentation in branch environments leverages granular policies and centralized management. This approach secures remote offices, accommodates modern device use, and significantly reduces incident rates, ensuring unified security standards.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practical examples of segmentation: in data centers, it protects sensitive resources; on campus, it improves safety and management; and in branch offices, it secures POS systems for regulatory compliance.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the platform's flexibility in working with current network equipment and various vendors. Emphasize widespread adoption among large enterprises and outline the choice of deployment models and their scalability.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how these practices help organizations enhance security and agility. Emphasize the importance of ongoing review, automation, and aligning controls to the value and risk of business assets.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0.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2200" y="1879600"/>
            <a:ext cx="8153400" cy="3365500"/>
          </a:xfrm>
          <a:prstGeom prst="rect">
            <a:avLst/>
          </a:prstGeom>
          <a:noFill/>
        </p:spPr>
        <p:txBody>
          <a:bodyPr wrap="square" lIns="0" rIns="0" tIns="0" bIns="0">
            <a:spAutoFit/>
          </a:bodyPr>
          <a:lstStyle/>
          <a:p>
            <a:pPr algn="l">
              <a:lnSpc>
                <a:spcPct val="75000"/>
              </a:lnSpc>
              <a:defRPr i="0" sz="8400" b="1">
                <a:solidFill>
                  <a:srgbClr val="0B2A5C"/>
                </a:solidFill>
                <a:latin typeface="Source Sans Pro"/>
              </a:defRPr>
            </a:pPr>
            <a:r>
              <a:rPr i="0" sz="8400" b="1">
                <a:solidFill>
                  <a:srgbClr val="0B2A5C"/>
                </a:solidFill>
                <a:latin typeface="Source Sans Pro"/>
              </a:rPr>
              <a:t>Zone Segmentation for Secure Networks</a:t>
            </a:r>
          </a:p>
        </p:txBody>
      </p:sp>
      <p:sp>
        <p:nvSpPr>
          <p:cNvPr id="3" name="TextBox 2"/>
          <p:cNvSpPr txBox="1"/>
          <p:nvPr/>
        </p:nvSpPr>
        <p:spPr>
          <a:xfrm>
            <a:off x="1092200" y="5651500"/>
            <a:ext cx="8153400" cy="711200"/>
          </a:xfrm>
          <a:prstGeom prst="rect">
            <a:avLst/>
          </a:prstGeom>
          <a:noFill/>
        </p:spPr>
        <p:txBody>
          <a:bodyPr wrap="square" lIns="0" rIns="0" tIns="0" bIns="0">
            <a:spAutoFit/>
          </a:bodyPr>
          <a:lstStyle/>
          <a:p>
            <a:pPr algn="l">
              <a:defRPr i="0" sz="1800" b="0">
                <a:solidFill>
                  <a:srgbClr val="475569"/>
                </a:solidFill>
                <a:latin typeface="Source Sans Pro"/>
              </a:defRPr>
            </a:pPr>
            <a:r>
              <a:rPr i="0" sz="1800" b="0">
                <a:solidFill>
                  <a:srgbClr val="475569"/>
                </a:solidFill>
                <a:latin typeface="Source Sans Pro"/>
              </a:rPr>
              <a:t>Advanced segmentation methods reduce risks and strengthen access control in data center, campus, and branch networks.</a:t>
            </a:r>
          </a:p>
        </p:txBody>
      </p:sp>
      <p:sp>
        <p:nvSpPr>
          <p:cNvPr id="4" name="Rounded Rectangle 3"/>
          <p:cNvSpPr/>
          <p:nvPr/>
        </p:nvSpPr>
        <p:spPr>
          <a:xfrm>
            <a:off x="1092200" y="7924800"/>
            <a:ext cx="711200" cy="711200"/>
          </a:xfrm>
          <a:prstGeom prst="roundRect">
            <a:avLst>
              <a:gd name="adj" fmla="val 50000"/>
            </a:avLst>
          </a:prstGeom>
          <a:solidFill>
            <a:srgbClr val="0B2A5C"/>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20000"/>
              </a:lnSpc>
              <a:defRPr i="0" sz="1800" b="1">
                <a:solidFill>
                  <a:srgbClr val="FFFFFF"/>
                </a:solidFill>
                <a:latin typeface="Source Sans Pro"/>
              </a:defRPr>
            </a:pPr>
            <a:r>
              <a:rPr i="0" sz="1800" b="1">
                <a:solidFill>
                  <a:srgbClr val="FFFFFF"/>
                </a:solidFill>
                <a:latin typeface="Source Sans Pro"/>
              </a:rPr>
              <a:t>IT</a:t>
            </a:r>
          </a:p>
        </p:txBody>
      </p:sp>
      <p:sp>
        <p:nvSpPr>
          <p:cNvPr id="5" name="TextBox 4"/>
          <p:cNvSpPr txBox="1"/>
          <p:nvPr/>
        </p:nvSpPr>
        <p:spPr>
          <a:xfrm>
            <a:off x="2057400" y="8026400"/>
            <a:ext cx="876300" cy="292100"/>
          </a:xfrm>
          <a:prstGeom prst="rect">
            <a:avLst/>
          </a:prstGeom>
          <a:noFill/>
        </p:spPr>
        <p:txBody>
          <a:bodyPr wrap="square" lIns="0" rIns="0" tIns="0" bIns="0">
            <a:spAutoFit/>
          </a:bodyPr>
          <a:lstStyle/>
          <a:p>
            <a:pPr algn="l">
              <a:defRPr i="0" sz="1800" b="1">
                <a:solidFill>
                  <a:srgbClr val="0B2A5C"/>
                </a:solidFill>
                <a:latin typeface="Source Sans Pro"/>
              </a:defRPr>
            </a:pPr>
            <a:r>
              <a:rPr i="0" sz="1800" b="1">
                <a:solidFill>
                  <a:srgbClr val="0B2A5C"/>
                </a:solidFill>
                <a:latin typeface="Source Sans Pro"/>
              </a:rPr>
              <a:t>IT Admin</a:t>
            </a:r>
          </a:p>
        </p:txBody>
      </p:sp>
      <p:sp>
        <p:nvSpPr>
          <p:cNvPr id="6" name="TextBox 5"/>
          <p:cNvSpPr txBox="1"/>
          <p:nvPr/>
        </p:nvSpPr>
        <p:spPr>
          <a:xfrm>
            <a:off x="2057400" y="8318500"/>
            <a:ext cx="876300" cy="228600"/>
          </a:xfrm>
          <a:prstGeom prst="rect">
            <a:avLst/>
          </a:prstGeom>
          <a:noFill/>
        </p:spPr>
        <p:txBody>
          <a:bodyPr wrap="square" lIns="0" rIns="0" tIns="0" bIns="0">
            <a:spAutoFit/>
          </a:bodyPr>
          <a:lstStyle/>
          <a:p>
            <a:pPr algn="l">
              <a:defRPr i="0" sz="1400" b="0">
                <a:solidFill>
                  <a:srgbClr val="334155"/>
                </a:solidFill>
                <a:latin typeface="Source Sans Pro"/>
              </a:defRPr>
            </a:pPr>
            <a:r>
              <a:rPr i="0" sz="1400" b="0">
                <a:solidFill>
                  <a:srgbClr val="334155"/>
                </a:solidFill>
                <a:latin typeface="Source Sans Pro"/>
              </a:rPr>
              <a:t>2026-01-11</a:t>
            </a:r>
          </a:p>
        </p:txBody>
      </p:sp>
      <p:pic>
        <p:nvPicPr>
          <p:cNvPr id="7" name="Picture 6" descr="5c61e4f1-ac2d-4b4b-92f5-1173d1c84043.png"/>
          <p:cNvPicPr>
            <a:picLocks noChangeAspect="1"/>
          </p:cNvPicPr>
          <p:nvPr/>
        </p:nvPicPr>
        <p:blipFill>
          <a:blip r:embed="rId3"/>
          <a:stretch>
            <a:fillRect/>
          </a:stretch>
        </p:blipFill>
        <p:spPr>
          <a:xfrm>
            <a:off x="10160000" y="0"/>
            <a:ext cx="6096000" cy="9144000"/>
          </a:xfrm>
          <a:prstGeom prst="rect">
            <a:avLst/>
          </a:prstGeom>
        </p:spPr>
      </p:pic>
      <p:sp>
        <p:nvSpPr>
          <p:cNvPr id="8" name="Rounded Rectangle 7"/>
          <p:cNvSpPr/>
          <p:nvPr/>
        </p:nvSpPr>
        <p:spPr>
          <a:xfrm>
            <a:off x="10160000" y="0"/>
            <a:ext cx="6096000" cy="9144000"/>
          </a:xfrm>
          <a:prstGeom prst="roundRect">
            <a:avLst>
              <a:gd name="adj" fmla="val 416"/>
            </a:avLst>
          </a:prstGeom>
          <a:solidFill>
            <a:srgbClr val="0B2A5C">
              <a:alpha val="65000"/>
            </a:srgbClr>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508000"/>
            <a:ext cx="15062200" cy="787400"/>
          </a:xfrm>
          <a:prstGeom prst="rect">
            <a:avLst/>
          </a:prstGeom>
          <a:noFill/>
        </p:spPr>
        <p:txBody>
          <a:bodyPr wrap="square" lIns="0" rIns="0" tIns="0" bIns="0">
            <a:spAutoFit/>
          </a:bodyPr>
          <a:lstStyle/>
          <a:p>
            <a:pPr algn="l">
              <a:lnSpc>
                <a:spcPct val="80000"/>
              </a:lnSpc>
              <a:defRPr i="0" sz="5600" b="1">
                <a:solidFill>
                  <a:srgbClr val="082B69"/>
                </a:solidFill>
                <a:latin typeface="__inter_fd044d"/>
              </a:defRPr>
            </a:pPr>
            <a:r>
              <a:rPr i="0" sz="5600" b="1">
                <a:solidFill>
                  <a:srgbClr val="082B69"/>
                </a:solidFill>
                <a:latin typeface="__inter_fd044d"/>
              </a:rPr>
              <a:t>Introduction to Zone Segmentation</a:t>
            </a:r>
          </a:p>
        </p:txBody>
      </p:sp>
      <p:sp>
        <p:nvSpPr>
          <p:cNvPr id="3" name="Rounded Rectangle 2"/>
          <p:cNvSpPr/>
          <p:nvPr/>
        </p:nvSpPr>
        <p:spPr>
          <a:xfrm>
            <a:off x="609600" y="1803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1</a:t>
            </a:r>
          </a:p>
        </p:txBody>
      </p:sp>
      <p:sp>
        <p:nvSpPr>
          <p:cNvPr id="4" name="TextBox 3"/>
          <p:cNvSpPr txBox="1"/>
          <p:nvPr/>
        </p:nvSpPr>
        <p:spPr>
          <a:xfrm>
            <a:off x="1625600" y="1993900"/>
            <a:ext cx="4419600" cy="317500"/>
          </a:xfrm>
          <a:prstGeom prst="rect">
            <a:avLst/>
          </a:prstGeom>
          <a:noFill/>
        </p:spPr>
        <p:txBody>
          <a:bodyPr wrap="square" lIns="0" rIns="0" tIns="0" bIns="0">
            <a:spAutoFit/>
          </a:bodyPr>
          <a:lstStyle/>
          <a:p>
            <a:pPr algn="l">
              <a:defRPr i="0" sz="1800" b="0">
                <a:solidFill>
                  <a:srgbClr val="082B69"/>
                </a:solidFill>
                <a:latin typeface="__inter_fd044d"/>
              </a:defRPr>
            </a:pPr>
            <a:r>
              <a:rPr i="0" sz="1800" b="0">
                <a:solidFill>
                  <a:srgbClr val="082B69"/>
                </a:solidFill>
                <a:latin typeface="__inter_fd044d"/>
              </a:rPr>
              <a:t>Integrated approach for securing networks</a:t>
            </a:r>
          </a:p>
        </p:txBody>
      </p:sp>
      <p:sp>
        <p:nvSpPr>
          <p:cNvPr id="5" name="Rounded Rectangle 4"/>
          <p:cNvSpPr/>
          <p:nvPr/>
        </p:nvSpPr>
        <p:spPr>
          <a:xfrm>
            <a:off x="609600" y="2819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2</a:t>
            </a:r>
          </a:p>
        </p:txBody>
      </p:sp>
      <p:sp>
        <p:nvSpPr>
          <p:cNvPr id="6" name="TextBox 5"/>
          <p:cNvSpPr txBox="1"/>
          <p:nvPr/>
        </p:nvSpPr>
        <p:spPr>
          <a:xfrm>
            <a:off x="1625600" y="3009900"/>
            <a:ext cx="3429000" cy="317500"/>
          </a:xfrm>
          <a:prstGeom prst="rect">
            <a:avLst/>
          </a:prstGeom>
          <a:noFill/>
        </p:spPr>
        <p:txBody>
          <a:bodyPr wrap="square" lIns="0" rIns="0" tIns="0" bIns="0">
            <a:spAutoFit/>
          </a:bodyPr>
          <a:lstStyle/>
          <a:p>
            <a:pPr algn="l">
              <a:defRPr i="0" sz="1800" b="0">
                <a:solidFill>
                  <a:srgbClr val="082B69"/>
                </a:solidFill>
                <a:latin typeface="__inter_fd044d"/>
              </a:defRPr>
            </a:pPr>
            <a:r>
              <a:rPr i="0" sz="1800" b="0">
                <a:solidFill>
                  <a:srgbClr val="082B69"/>
                </a:solidFill>
                <a:latin typeface="__inter_fd044d"/>
              </a:rPr>
              <a:t>Minimizes lateral movement risks</a:t>
            </a:r>
          </a:p>
        </p:txBody>
      </p:sp>
      <p:sp>
        <p:nvSpPr>
          <p:cNvPr id="7" name="Rounded Rectangle 6"/>
          <p:cNvSpPr/>
          <p:nvPr/>
        </p:nvSpPr>
        <p:spPr>
          <a:xfrm>
            <a:off x="609600" y="3835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3</a:t>
            </a:r>
          </a:p>
        </p:txBody>
      </p:sp>
      <p:sp>
        <p:nvSpPr>
          <p:cNvPr id="8" name="TextBox 7"/>
          <p:cNvSpPr txBox="1"/>
          <p:nvPr/>
        </p:nvSpPr>
        <p:spPr>
          <a:xfrm>
            <a:off x="1625600" y="4025900"/>
            <a:ext cx="4559300" cy="317500"/>
          </a:xfrm>
          <a:prstGeom prst="rect">
            <a:avLst/>
          </a:prstGeom>
          <a:noFill/>
        </p:spPr>
        <p:txBody>
          <a:bodyPr wrap="square" lIns="0" rIns="0" tIns="0" bIns="0">
            <a:spAutoFit/>
          </a:bodyPr>
          <a:lstStyle/>
          <a:p>
            <a:pPr algn="l">
              <a:defRPr i="0" sz="1800" b="0">
                <a:solidFill>
                  <a:srgbClr val="082B69"/>
                </a:solidFill>
                <a:latin typeface="__inter_fd044d"/>
              </a:defRPr>
            </a:pPr>
            <a:r>
              <a:rPr i="0" sz="1800" b="0">
                <a:solidFill>
                  <a:srgbClr val="082B69"/>
                </a:solidFill>
                <a:latin typeface="__inter_fd044d"/>
              </a:rPr>
              <a:t>Enables compliance with security standards</a:t>
            </a:r>
          </a:p>
        </p:txBody>
      </p:sp>
      <p:sp>
        <p:nvSpPr>
          <p:cNvPr id="9" name="Rounded Rectangle 8"/>
          <p:cNvSpPr/>
          <p:nvPr/>
        </p:nvSpPr>
        <p:spPr>
          <a:xfrm>
            <a:off x="8839200" y="1803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4</a:t>
            </a:r>
          </a:p>
        </p:txBody>
      </p:sp>
      <p:sp>
        <p:nvSpPr>
          <p:cNvPr id="10" name="TextBox 9"/>
          <p:cNvSpPr txBox="1"/>
          <p:nvPr/>
        </p:nvSpPr>
        <p:spPr>
          <a:xfrm>
            <a:off x="9855200" y="1993900"/>
            <a:ext cx="3911600" cy="317500"/>
          </a:xfrm>
          <a:prstGeom prst="rect">
            <a:avLst/>
          </a:prstGeom>
          <a:noFill/>
        </p:spPr>
        <p:txBody>
          <a:bodyPr wrap="square" lIns="0" rIns="0" tIns="0" bIns="0">
            <a:spAutoFit/>
          </a:bodyPr>
          <a:lstStyle/>
          <a:p>
            <a:pPr algn="l">
              <a:defRPr i="0" sz="1800" b="0">
                <a:solidFill>
                  <a:srgbClr val="082B69"/>
                </a:solidFill>
                <a:latin typeface="__inter_fd044d"/>
              </a:defRPr>
            </a:pPr>
            <a:r>
              <a:rPr i="0" sz="1800" b="0">
                <a:solidFill>
                  <a:srgbClr val="082B69"/>
                </a:solidFill>
                <a:latin typeface="__inter_fd044d"/>
              </a:rPr>
              <a:t>Supports scalable policy enforcement</a:t>
            </a:r>
          </a:p>
        </p:txBody>
      </p:sp>
      <p:sp>
        <p:nvSpPr>
          <p:cNvPr id="11" name="Rounded Rectangle 10"/>
          <p:cNvSpPr/>
          <p:nvPr/>
        </p:nvSpPr>
        <p:spPr>
          <a:xfrm>
            <a:off x="8839200" y="2819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5</a:t>
            </a:r>
          </a:p>
        </p:txBody>
      </p:sp>
      <p:sp>
        <p:nvSpPr>
          <p:cNvPr id="12" name="TextBox 11"/>
          <p:cNvSpPr txBox="1"/>
          <p:nvPr/>
        </p:nvSpPr>
        <p:spPr>
          <a:xfrm>
            <a:off x="9855200" y="3009900"/>
            <a:ext cx="3937000" cy="317500"/>
          </a:xfrm>
          <a:prstGeom prst="rect">
            <a:avLst/>
          </a:prstGeom>
          <a:noFill/>
        </p:spPr>
        <p:txBody>
          <a:bodyPr wrap="square" lIns="0" rIns="0" tIns="0" bIns="0">
            <a:spAutoFit/>
          </a:bodyPr>
          <a:lstStyle/>
          <a:p>
            <a:pPr algn="l">
              <a:defRPr i="0" sz="1800" b="0">
                <a:solidFill>
                  <a:srgbClr val="082B69"/>
                </a:solidFill>
                <a:latin typeface="__inter_fd044d"/>
              </a:defRPr>
            </a:pPr>
            <a:r>
              <a:rPr i="0" sz="1800" b="0">
                <a:solidFill>
                  <a:srgbClr val="082B69"/>
                </a:solidFill>
                <a:latin typeface="__inter_fd044d"/>
              </a:rPr>
              <a:t>Enhances visibility into network zones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508000"/>
            <a:ext cx="14452600" cy="812800"/>
          </a:xfrm>
          <a:prstGeom prst="rect">
            <a:avLst/>
          </a:prstGeom>
          <a:noFill/>
        </p:spPr>
        <p:txBody>
          <a:bodyPr wrap="square" lIns="0" rIns="0" tIns="0" bIns="0">
            <a:spAutoFit/>
          </a:bodyPr>
          <a:lstStyle/>
          <a:p>
            <a:pPr algn="l">
              <a:lnSpc>
                <a:spcPct val="84000"/>
              </a:lnSpc>
              <a:defRPr i="0" sz="5600" b="1">
                <a:solidFill>
                  <a:srgbClr val="0A2A73"/>
                </a:solidFill>
                <a:latin typeface="Open Sans"/>
              </a:defRPr>
            </a:pPr>
            <a:r>
              <a:rPr i="0" sz="5600" b="1">
                <a:solidFill>
                  <a:srgbClr val="0A2A73"/>
                </a:solidFill>
                <a:latin typeface="Open Sans"/>
              </a:rPr>
              <a:t>Introduction to Zone Segmentation</a:t>
            </a:r>
          </a:p>
        </p:txBody>
      </p:sp>
      <p:pic>
        <p:nvPicPr>
          <p:cNvPr id="3" name="Picture 2" descr="6a5b8f03-eade-4075-aaab-3129f69c08b9.png"/>
          <p:cNvPicPr>
            <a:picLocks noChangeAspect="1"/>
          </p:cNvPicPr>
          <p:nvPr/>
        </p:nvPicPr>
        <p:blipFill>
          <a:blip r:embed="rId3"/>
          <a:stretch>
            <a:fillRect/>
          </a:stretch>
        </p:blipFill>
        <p:spPr>
          <a:xfrm>
            <a:off x="914400" y="1625600"/>
            <a:ext cx="6604000" cy="6604000"/>
          </a:xfrm>
          <a:prstGeom prst="rect">
            <a:avLst/>
          </a:prstGeom>
        </p:spPr>
      </p:pic>
      <p:sp>
        <p:nvSpPr>
          <p:cNvPr id="4" name="TextBox 3"/>
          <p:cNvSpPr txBox="1"/>
          <p:nvPr/>
        </p:nvSpPr>
        <p:spPr>
          <a:xfrm>
            <a:off x="8432800" y="1625600"/>
            <a:ext cx="6934200" cy="711200"/>
          </a:xfrm>
          <a:prstGeom prst="rect">
            <a:avLst/>
          </a:prstGeom>
          <a:noFill/>
        </p:spPr>
        <p:txBody>
          <a:bodyPr wrap="square" lIns="0" rIns="0" tIns="0" bIns="0">
            <a:spAutoFit/>
          </a:bodyPr>
          <a:lstStyle/>
          <a:p>
            <a:pPr algn="l">
              <a:defRPr i="0" sz="1600" b="0">
                <a:solidFill>
                  <a:srgbClr val="334155"/>
                </a:solidFill>
                <a:latin typeface="Open Sans"/>
              </a:defRPr>
            </a:pPr>
            <a:r>
              <a:rPr i="0" sz="1600" b="0">
                <a:solidFill>
                  <a:srgbClr val="334155"/>
                </a:solidFill>
                <a:latin typeface="Open Sans"/>
              </a:rPr>
              <a:t>Zone Segmentation enables targeted security controls and reduces risks within complex networks.</a:t>
            </a:r>
          </a:p>
        </p:txBody>
      </p:sp>
      <p:sp>
        <p:nvSpPr>
          <p:cNvPr id="5" name="Rounded Rectangle 4"/>
          <p:cNvSpPr/>
          <p:nvPr/>
        </p:nvSpPr>
        <p:spPr>
          <a:xfrm>
            <a:off x="8432800" y="26924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9499600" y="26924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Granular Network Partitioning</a:t>
            </a:r>
          </a:p>
        </p:txBody>
      </p:sp>
      <p:sp>
        <p:nvSpPr>
          <p:cNvPr id="7" name="Rounded Rectangle 6"/>
          <p:cNvSpPr/>
          <p:nvPr/>
        </p:nvSpPr>
        <p:spPr>
          <a:xfrm>
            <a:off x="9499600" y="30988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TextBox 7"/>
          <p:cNvSpPr txBox="1"/>
          <p:nvPr/>
        </p:nvSpPr>
        <p:spPr>
          <a:xfrm>
            <a:off x="9499600" y="32385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Facilitates secure separation of environments to protect sensitive resources and maintain compliance.</a:t>
            </a:r>
          </a:p>
        </p:txBody>
      </p:sp>
      <p:sp>
        <p:nvSpPr>
          <p:cNvPr id="9" name="Rounded Rectangle 8"/>
          <p:cNvSpPr/>
          <p:nvPr/>
        </p:nvSpPr>
        <p:spPr>
          <a:xfrm>
            <a:off x="8432800" y="44577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9499600" y="44577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Minimized Attack Surfaces</a:t>
            </a:r>
          </a:p>
        </p:txBody>
      </p:sp>
      <p:sp>
        <p:nvSpPr>
          <p:cNvPr id="11" name="Rounded Rectangle 10"/>
          <p:cNvSpPr/>
          <p:nvPr/>
        </p:nvSpPr>
        <p:spPr>
          <a:xfrm>
            <a:off x="9499600" y="48641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9499600" y="50038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Reduces exposure to threats by limiting lateral movement between zones.</a:t>
            </a:r>
          </a:p>
        </p:txBody>
      </p:sp>
      <p:sp>
        <p:nvSpPr>
          <p:cNvPr id="13" name="Rounded Rectangle 12"/>
          <p:cNvSpPr/>
          <p:nvPr/>
        </p:nvSpPr>
        <p:spPr>
          <a:xfrm>
            <a:off x="8432800" y="62230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9499600" y="62230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Rapid Threat Containment</a:t>
            </a:r>
          </a:p>
        </p:txBody>
      </p:sp>
      <p:sp>
        <p:nvSpPr>
          <p:cNvPr id="15" name="Rounded Rectangle 14"/>
          <p:cNvSpPr/>
          <p:nvPr/>
        </p:nvSpPr>
        <p:spPr>
          <a:xfrm>
            <a:off x="9499600" y="66294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9499600" y="67691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Supports quick isolation of incidents to prevent escalation and cross-network compromise.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508000"/>
            <a:ext cx="15062200" cy="787400"/>
          </a:xfrm>
          <a:prstGeom prst="rect">
            <a:avLst/>
          </a:prstGeom>
          <a:noFill/>
        </p:spPr>
        <p:txBody>
          <a:bodyPr wrap="square" lIns="0" rIns="0" tIns="0" bIns="0">
            <a:spAutoFit/>
          </a:bodyPr>
          <a:lstStyle/>
          <a:p>
            <a:pPr algn="l">
              <a:lnSpc>
                <a:spcPct val="80000"/>
              </a:lnSpc>
              <a:defRPr i="0" sz="5600" b="1">
                <a:solidFill>
                  <a:srgbClr val="082B69"/>
                </a:solidFill>
                <a:latin typeface="__inter_fd044d"/>
              </a:defRPr>
            </a:pPr>
            <a:r>
              <a:rPr i="0" sz="5600" b="1">
                <a:solidFill>
                  <a:srgbClr val="082B69"/>
                </a:solidFill>
                <a:latin typeface="__inter_fd044d"/>
              </a:rPr>
              <a:t>Why Zone Segmentation Matters</a:t>
            </a:r>
          </a:p>
        </p:txBody>
      </p:sp>
      <p:sp>
        <p:nvSpPr>
          <p:cNvPr id="3" name="Rounded Rectangle 2"/>
          <p:cNvSpPr/>
          <p:nvPr/>
        </p:nvSpPr>
        <p:spPr>
          <a:xfrm>
            <a:off x="609600" y="1803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1</a:t>
            </a:r>
          </a:p>
        </p:txBody>
      </p:sp>
      <p:sp>
        <p:nvSpPr>
          <p:cNvPr id="4" name="TextBox 3"/>
          <p:cNvSpPr txBox="1"/>
          <p:nvPr/>
        </p:nvSpPr>
        <p:spPr>
          <a:xfrm>
            <a:off x="1625600" y="1993900"/>
            <a:ext cx="4864100" cy="317500"/>
          </a:xfrm>
          <a:prstGeom prst="rect">
            <a:avLst/>
          </a:prstGeom>
          <a:noFill/>
        </p:spPr>
        <p:txBody>
          <a:bodyPr wrap="square" lIns="0" rIns="0" tIns="0" bIns="0">
            <a:spAutoFit/>
          </a:bodyPr>
          <a:lstStyle/>
          <a:p>
            <a:pPr algn="l">
              <a:defRPr i="0" sz="1800" b="0">
                <a:solidFill>
                  <a:srgbClr val="082B69"/>
                </a:solidFill>
                <a:latin typeface="__inter_fd044d"/>
              </a:defRPr>
            </a:pPr>
            <a:r>
              <a:rPr i="0" sz="1800" b="0">
                <a:solidFill>
                  <a:srgbClr val="082B69"/>
                </a:solidFill>
                <a:latin typeface="__inter_fd044d"/>
              </a:rPr>
              <a:t>68% of firms saw rising lateral attacks last year</a:t>
            </a:r>
          </a:p>
        </p:txBody>
      </p:sp>
      <p:sp>
        <p:nvSpPr>
          <p:cNvPr id="5" name="TextBox 4"/>
          <p:cNvSpPr txBox="1"/>
          <p:nvPr/>
        </p:nvSpPr>
        <p:spPr>
          <a:xfrm>
            <a:off x="6934200" y="2044700"/>
            <a:ext cx="508000" cy="228600"/>
          </a:xfrm>
          <a:prstGeom prst="rect">
            <a:avLst/>
          </a:prstGeom>
          <a:noFill/>
        </p:spPr>
        <p:txBody>
          <a:bodyPr wrap="square" lIns="0" rIns="0" tIns="0" bIns="0">
            <a:spAutoFit/>
          </a:bodyPr>
          <a:lstStyle/>
          <a:p>
            <a:pPr algn="l">
              <a:lnSpc>
                <a:spcPct val="70000"/>
              </a:lnSpc>
              <a:defRPr i="0" sz="1800" b="0">
                <a:solidFill>
                  <a:srgbClr val="082B69"/>
                </a:solidFill>
                <a:latin typeface="__inter_fd044d"/>
              </a:defRPr>
            </a:pPr>
            <a:r>
              <a:rPr i="0" sz="1800" b="0">
                <a:solidFill>
                  <a:srgbClr val="082B69"/>
                </a:solidFill>
                <a:latin typeface="__inter_fd044d"/>
              </a:rPr>
              <a:t>68%</a:t>
            </a:r>
          </a:p>
        </p:txBody>
      </p:sp>
      <p:sp>
        <p:nvSpPr>
          <p:cNvPr id="6" name="Rounded Rectangle 5"/>
          <p:cNvSpPr/>
          <p:nvPr/>
        </p:nvSpPr>
        <p:spPr>
          <a:xfrm>
            <a:off x="609600" y="2819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2</a:t>
            </a:r>
          </a:p>
        </p:txBody>
      </p:sp>
      <p:sp>
        <p:nvSpPr>
          <p:cNvPr id="7" name="TextBox 6"/>
          <p:cNvSpPr txBox="1"/>
          <p:nvPr/>
        </p:nvSpPr>
        <p:spPr>
          <a:xfrm>
            <a:off x="1625600" y="2857500"/>
            <a:ext cx="5359400" cy="635000"/>
          </a:xfrm>
          <a:prstGeom prst="rect">
            <a:avLst/>
          </a:prstGeom>
          <a:noFill/>
        </p:spPr>
        <p:txBody>
          <a:bodyPr wrap="square" lIns="0" rIns="0" tIns="0" bIns="0">
            <a:spAutoFit/>
          </a:bodyPr>
          <a:lstStyle/>
          <a:p>
            <a:pPr algn="l">
              <a:lnSpc>
                <a:spcPct val="108000"/>
              </a:lnSpc>
              <a:defRPr i="0" sz="1800" b="0">
                <a:solidFill>
                  <a:srgbClr val="082B69"/>
                </a:solidFill>
                <a:latin typeface="__inter_fd044d"/>
              </a:defRPr>
            </a:pPr>
            <a:r>
              <a:rPr i="0" sz="1800" b="0">
                <a:solidFill>
                  <a:srgbClr val="082B69"/>
                </a:solidFill>
                <a:latin typeface="__inter_fd044d"/>
              </a:rPr>
              <a:t>Perimeter security no longer stops multi-vector threats</a:t>
            </a:r>
          </a:p>
        </p:txBody>
      </p:sp>
      <p:sp>
        <p:nvSpPr>
          <p:cNvPr id="8" name="Rounded Rectangle 7"/>
          <p:cNvSpPr/>
          <p:nvPr/>
        </p:nvSpPr>
        <p:spPr>
          <a:xfrm>
            <a:off x="8839200" y="1803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3</a:t>
            </a:r>
          </a:p>
        </p:txBody>
      </p:sp>
      <p:sp>
        <p:nvSpPr>
          <p:cNvPr id="9" name="TextBox 8"/>
          <p:cNvSpPr txBox="1"/>
          <p:nvPr/>
        </p:nvSpPr>
        <p:spPr>
          <a:xfrm>
            <a:off x="9855200" y="1841500"/>
            <a:ext cx="5359400" cy="635000"/>
          </a:xfrm>
          <a:prstGeom prst="rect">
            <a:avLst/>
          </a:prstGeom>
          <a:noFill/>
        </p:spPr>
        <p:txBody>
          <a:bodyPr wrap="square" lIns="0" rIns="0" tIns="0" bIns="0">
            <a:spAutoFit/>
          </a:bodyPr>
          <a:lstStyle/>
          <a:p>
            <a:pPr algn="l">
              <a:lnSpc>
                <a:spcPct val="108000"/>
              </a:lnSpc>
              <a:defRPr i="0" sz="1800" b="0">
                <a:solidFill>
                  <a:srgbClr val="082B69"/>
                </a:solidFill>
                <a:latin typeface="__inter_fd044d"/>
              </a:defRPr>
            </a:pPr>
            <a:r>
              <a:rPr i="0" sz="1800" b="0">
                <a:solidFill>
                  <a:srgbClr val="082B69"/>
                </a:solidFill>
                <a:latin typeface="__inter_fd044d"/>
              </a:rPr>
              <a:t>Zone Segmentation enables targeted internal controls</a:t>
            </a:r>
          </a:p>
        </p:txBody>
      </p:sp>
      <p:sp>
        <p:nvSpPr>
          <p:cNvPr id="10" name="Rounded Rectangle 9"/>
          <p:cNvSpPr/>
          <p:nvPr/>
        </p:nvSpPr>
        <p:spPr>
          <a:xfrm>
            <a:off x="8839200" y="2819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4</a:t>
            </a:r>
          </a:p>
        </p:txBody>
      </p:sp>
      <p:sp>
        <p:nvSpPr>
          <p:cNvPr id="11" name="TextBox 10"/>
          <p:cNvSpPr txBox="1"/>
          <p:nvPr/>
        </p:nvSpPr>
        <p:spPr>
          <a:xfrm>
            <a:off x="9855200" y="2857500"/>
            <a:ext cx="5359400" cy="635000"/>
          </a:xfrm>
          <a:prstGeom prst="rect">
            <a:avLst/>
          </a:prstGeom>
          <a:noFill/>
        </p:spPr>
        <p:txBody>
          <a:bodyPr wrap="square" lIns="0" rIns="0" tIns="0" bIns="0">
            <a:spAutoFit/>
          </a:bodyPr>
          <a:lstStyle/>
          <a:p>
            <a:pPr algn="l">
              <a:lnSpc>
                <a:spcPct val="108000"/>
              </a:lnSpc>
              <a:defRPr i="0" sz="1800" b="0">
                <a:solidFill>
                  <a:srgbClr val="082B69"/>
                </a:solidFill>
                <a:latin typeface="__inter_fd044d"/>
              </a:defRPr>
            </a:pPr>
            <a:r>
              <a:rPr i="0" sz="1800" b="0">
                <a:solidFill>
                  <a:srgbClr val="082B69"/>
                </a:solidFill>
                <a:latin typeface="__inter_fd044d"/>
              </a:rPr>
              <a:t>Reduces blast radius for faster incident containment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17600" y="711200"/>
            <a:ext cx="14046200" cy="787400"/>
          </a:xfrm>
          <a:prstGeom prst="rect">
            <a:avLst/>
          </a:prstGeom>
          <a:noFill/>
        </p:spPr>
        <p:txBody>
          <a:bodyPr wrap="square" lIns="0" rIns="0" tIns="0" bIns="0">
            <a:spAutoFit/>
          </a:bodyPr>
          <a:lstStyle/>
          <a:p>
            <a:pPr algn="l">
              <a:lnSpc>
                <a:spcPct val="80000"/>
              </a:lnSpc>
              <a:defRPr i="0" sz="5600" b="1">
                <a:solidFill>
                  <a:srgbClr val="0A2A66"/>
                </a:solidFill>
                <a:latin typeface="Open Sans"/>
              </a:defRPr>
            </a:pPr>
            <a:r>
              <a:rPr i="0" sz="5600" b="1">
                <a:solidFill>
                  <a:srgbClr val="0A2A66"/>
                </a:solidFill>
                <a:latin typeface="Open Sans"/>
              </a:rPr>
              <a:t>Solution Portfolio Overview</a:t>
            </a:r>
          </a:p>
        </p:txBody>
      </p:sp>
      <p:sp>
        <p:nvSpPr>
          <p:cNvPr id="3" name="TextBox 2"/>
          <p:cNvSpPr txBox="1"/>
          <p:nvPr/>
        </p:nvSpPr>
        <p:spPr>
          <a:xfrm>
            <a:off x="1117600" y="1803400"/>
            <a:ext cx="342900" cy="558800"/>
          </a:xfrm>
          <a:prstGeom prst="rect">
            <a:avLst/>
          </a:prstGeom>
          <a:noFill/>
        </p:spPr>
        <p:txBody>
          <a:bodyPr wrap="square" lIns="0" rIns="0" tIns="0" bIns="0">
            <a:spAutoFit/>
          </a:bodyPr>
          <a:lstStyle/>
          <a:p>
            <a:pPr algn="l">
              <a:lnSpc>
                <a:spcPct val="70000"/>
              </a:lnSpc>
              <a:defRPr i="0" sz="4400" b="1">
                <a:solidFill>
                  <a:srgbClr val="0A2A66"/>
                </a:solidFill>
                <a:latin typeface="Open Sans"/>
              </a:defRPr>
            </a:pPr>
            <a:r>
              <a:rPr i="0" sz="4400" b="1">
                <a:solidFill>
                  <a:srgbClr val="0A2A66"/>
                </a:solidFill>
                <a:latin typeface="Open Sans"/>
              </a:rPr>
              <a:t>1</a:t>
            </a:r>
          </a:p>
        </p:txBody>
      </p:sp>
      <p:sp>
        <p:nvSpPr>
          <p:cNvPr id="4" name="TextBox 3"/>
          <p:cNvSpPr txBox="1"/>
          <p:nvPr/>
        </p:nvSpPr>
        <p:spPr>
          <a:xfrm>
            <a:off x="1892300" y="1803400"/>
            <a:ext cx="5448300" cy="381000"/>
          </a:xfrm>
          <a:prstGeom prst="rect">
            <a:avLst/>
          </a:prstGeom>
          <a:noFill/>
        </p:spPr>
        <p:txBody>
          <a:bodyPr wrap="square" lIns="0" rIns="0" tIns="0" bIns="0">
            <a:spAutoFit/>
          </a:bodyPr>
          <a:lstStyle/>
          <a:p>
            <a:pPr algn="l">
              <a:lnSpc>
                <a:spcPct val="95000"/>
              </a:lnSpc>
              <a:defRPr i="0" sz="2400" b="1">
                <a:solidFill>
                  <a:srgbClr val="0A2A66"/>
                </a:solidFill>
                <a:latin typeface="Open Sans"/>
              </a:defRPr>
            </a:pPr>
            <a:r>
              <a:rPr i="0" sz="2400" b="1">
                <a:solidFill>
                  <a:srgbClr val="0A2A66"/>
                </a:solidFill>
                <a:latin typeface="Open Sans"/>
              </a:rPr>
              <a:t>Data Center Solution</a:t>
            </a:r>
          </a:p>
        </p:txBody>
      </p:sp>
      <p:sp>
        <p:nvSpPr>
          <p:cNvPr id="5" name="TextBox 4"/>
          <p:cNvSpPr txBox="1"/>
          <p:nvPr/>
        </p:nvSpPr>
        <p:spPr>
          <a:xfrm>
            <a:off x="1892300" y="2336800"/>
            <a:ext cx="5448300" cy="647700"/>
          </a:xfrm>
          <a:prstGeom prst="rect">
            <a:avLst/>
          </a:prstGeom>
          <a:noFill/>
        </p:spPr>
        <p:txBody>
          <a:bodyPr wrap="square" lIns="0" rIns="0" tIns="0" bIns="0">
            <a:spAutoFit/>
          </a:bodyPr>
          <a:lstStyle/>
          <a:p>
            <a:pPr algn="l">
              <a:defRPr i="0" sz="1600" b="0">
                <a:solidFill>
                  <a:srgbClr val="25344A"/>
                </a:solidFill>
                <a:latin typeface="Open Sans"/>
              </a:defRPr>
            </a:pPr>
            <a:r>
              <a:rPr i="0" sz="1600" b="0">
                <a:solidFill>
                  <a:srgbClr val="25344A"/>
                </a:solidFill>
                <a:latin typeface="Open Sans"/>
              </a:rPr>
              <a:t>Advanced segmentation secures critical workloads, improving performance and policy control.</a:t>
            </a:r>
          </a:p>
        </p:txBody>
      </p:sp>
      <p:sp>
        <p:nvSpPr>
          <p:cNvPr id="6" name="TextBox 5"/>
          <p:cNvSpPr txBox="1"/>
          <p:nvPr/>
        </p:nvSpPr>
        <p:spPr>
          <a:xfrm>
            <a:off x="8940800" y="1803400"/>
            <a:ext cx="342900" cy="558800"/>
          </a:xfrm>
          <a:prstGeom prst="rect">
            <a:avLst/>
          </a:prstGeom>
          <a:noFill/>
        </p:spPr>
        <p:txBody>
          <a:bodyPr wrap="square" lIns="0" rIns="0" tIns="0" bIns="0">
            <a:spAutoFit/>
          </a:bodyPr>
          <a:lstStyle/>
          <a:p>
            <a:pPr algn="l">
              <a:lnSpc>
                <a:spcPct val="70000"/>
              </a:lnSpc>
              <a:defRPr i="0" sz="4400" b="1">
                <a:solidFill>
                  <a:srgbClr val="0A2A66"/>
                </a:solidFill>
                <a:latin typeface="Open Sans"/>
              </a:defRPr>
            </a:pPr>
            <a:r>
              <a:rPr i="0" sz="4400" b="1">
                <a:solidFill>
                  <a:srgbClr val="0A2A66"/>
                </a:solidFill>
                <a:latin typeface="Open Sans"/>
              </a:rPr>
              <a:t>2</a:t>
            </a:r>
          </a:p>
        </p:txBody>
      </p:sp>
      <p:sp>
        <p:nvSpPr>
          <p:cNvPr id="7" name="TextBox 6"/>
          <p:cNvSpPr txBox="1"/>
          <p:nvPr/>
        </p:nvSpPr>
        <p:spPr>
          <a:xfrm>
            <a:off x="9715500" y="1803400"/>
            <a:ext cx="5448300" cy="381000"/>
          </a:xfrm>
          <a:prstGeom prst="rect">
            <a:avLst/>
          </a:prstGeom>
          <a:noFill/>
        </p:spPr>
        <p:txBody>
          <a:bodyPr wrap="square" lIns="0" rIns="0" tIns="0" bIns="0">
            <a:spAutoFit/>
          </a:bodyPr>
          <a:lstStyle/>
          <a:p>
            <a:pPr algn="l">
              <a:lnSpc>
                <a:spcPct val="95000"/>
              </a:lnSpc>
              <a:defRPr i="0" sz="2400" b="1">
                <a:solidFill>
                  <a:srgbClr val="0A2A66"/>
                </a:solidFill>
                <a:latin typeface="Open Sans"/>
              </a:defRPr>
            </a:pPr>
            <a:r>
              <a:rPr i="0" sz="2400" b="1">
                <a:solidFill>
                  <a:srgbClr val="0A2A66"/>
                </a:solidFill>
                <a:latin typeface="Open Sans"/>
              </a:rPr>
              <a:t>Campus Solution</a:t>
            </a:r>
          </a:p>
        </p:txBody>
      </p:sp>
      <p:sp>
        <p:nvSpPr>
          <p:cNvPr id="8" name="TextBox 7"/>
          <p:cNvSpPr txBox="1"/>
          <p:nvPr/>
        </p:nvSpPr>
        <p:spPr>
          <a:xfrm>
            <a:off x="9715500" y="2336800"/>
            <a:ext cx="5448300" cy="647700"/>
          </a:xfrm>
          <a:prstGeom prst="rect">
            <a:avLst/>
          </a:prstGeom>
          <a:noFill/>
        </p:spPr>
        <p:txBody>
          <a:bodyPr wrap="square" lIns="0" rIns="0" tIns="0" bIns="0">
            <a:spAutoFit/>
          </a:bodyPr>
          <a:lstStyle/>
          <a:p>
            <a:pPr algn="l">
              <a:defRPr i="0" sz="1600" b="0">
                <a:solidFill>
                  <a:srgbClr val="25344A"/>
                </a:solidFill>
                <a:latin typeface="Open Sans"/>
              </a:defRPr>
            </a:pPr>
            <a:r>
              <a:rPr i="0" sz="1600" b="0">
                <a:solidFill>
                  <a:srgbClr val="25344A"/>
                </a:solidFill>
                <a:latin typeface="Open Sans"/>
              </a:rPr>
              <a:t>Real-time enforcement manages user and device access for higher security.</a:t>
            </a:r>
          </a:p>
        </p:txBody>
      </p:sp>
      <p:sp>
        <p:nvSpPr>
          <p:cNvPr id="9" name="TextBox 8"/>
          <p:cNvSpPr txBox="1"/>
          <p:nvPr/>
        </p:nvSpPr>
        <p:spPr>
          <a:xfrm>
            <a:off x="1117600" y="3797300"/>
            <a:ext cx="342900" cy="558800"/>
          </a:xfrm>
          <a:prstGeom prst="rect">
            <a:avLst/>
          </a:prstGeom>
          <a:noFill/>
        </p:spPr>
        <p:txBody>
          <a:bodyPr wrap="square" lIns="0" rIns="0" tIns="0" bIns="0">
            <a:spAutoFit/>
          </a:bodyPr>
          <a:lstStyle/>
          <a:p>
            <a:pPr algn="l">
              <a:lnSpc>
                <a:spcPct val="70000"/>
              </a:lnSpc>
              <a:defRPr i="0" sz="4400" b="1">
                <a:solidFill>
                  <a:srgbClr val="0A2A66"/>
                </a:solidFill>
                <a:latin typeface="Open Sans"/>
              </a:defRPr>
            </a:pPr>
            <a:r>
              <a:rPr i="0" sz="4400" b="1">
                <a:solidFill>
                  <a:srgbClr val="0A2A66"/>
                </a:solidFill>
                <a:latin typeface="Open Sans"/>
              </a:rPr>
              <a:t>3</a:t>
            </a:r>
          </a:p>
        </p:txBody>
      </p:sp>
      <p:sp>
        <p:nvSpPr>
          <p:cNvPr id="10" name="TextBox 9"/>
          <p:cNvSpPr txBox="1"/>
          <p:nvPr/>
        </p:nvSpPr>
        <p:spPr>
          <a:xfrm>
            <a:off x="1892300" y="3797300"/>
            <a:ext cx="5448300" cy="381000"/>
          </a:xfrm>
          <a:prstGeom prst="rect">
            <a:avLst/>
          </a:prstGeom>
          <a:noFill/>
        </p:spPr>
        <p:txBody>
          <a:bodyPr wrap="square" lIns="0" rIns="0" tIns="0" bIns="0">
            <a:spAutoFit/>
          </a:bodyPr>
          <a:lstStyle/>
          <a:p>
            <a:pPr algn="l">
              <a:lnSpc>
                <a:spcPct val="95000"/>
              </a:lnSpc>
              <a:defRPr i="0" sz="2400" b="1">
                <a:solidFill>
                  <a:srgbClr val="0A2A66"/>
                </a:solidFill>
                <a:latin typeface="Open Sans"/>
              </a:defRPr>
            </a:pPr>
            <a:r>
              <a:rPr i="0" sz="2400" b="1">
                <a:solidFill>
                  <a:srgbClr val="0A2A66"/>
                </a:solidFill>
                <a:latin typeface="Open Sans"/>
              </a:rPr>
              <a:t>Branch Solution</a:t>
            </a:r>
          </a:p>
        </p:txBody>
      </p:sp>
      <p:sp>
        <p:nvSpPr>
          <p:cNvPr id="11" name="TextBox 10"/>
          <p:cNvSpPr txBox="1"/>
          <p:nvPr/>
        </p:nvSpPr>
        <p:spPr>
          <a:xfrm>
            <a:off x="1892300" y="4330700"/>
            <a:ext cx="5448300" cy="647700"/>
          </a:xfrm>
          <a:prstGeom prst="rect">
            <a:avLst/>
          </a:prstGeom>
          <a:noFill/>
        </p:spPr>
        <p:txBody>
          <a:bodyPr wrap="square" lIns="0" rIns="0" tIns="0" bIns="0">
            <a:spAutoFit/>
          </a:bodyPr>
          <a:lstStyle/>
          <a:p>
            <a:pPr algn="l">
              <a:defRPr i="0" sz="1600" b="0">
                <a:solidFill>
                  <a:srgbClr val="25344A"/>
                </a:solidFill>
                <a:latin typeface="Open Sans"/>
              </a:defRPr>
            </a:pPr>
            <a:r>
              <a:rPr i="0" sz="1600" b="0">
                <a:solidFill>
                  <a:srgbClr val="25344A"/>
                </a:solidFill>
                <a:latin typeface="Open Sans"/>
              </a:rPr>
              <a:t>Context-aware segmentation enables secure, efficient distributed office networking.</a:t>
            </a:r>
          </a:p>
        </p:txBody>
      </p:sp>
      <p:sp>
        <p:nvSpPr>
          <p:cNvPr id="12" name="Rounded Rectangle 11"/>
          <p:cNvSpPr/>
          <p:nvPr/>
        </p:nvSpPr>
        <p:spPr>
          <a:xfrm>
            <a:off x="1117600" y="5689600"/>
            <a:ext cx="14020800" cy="609600"/>
          </a:xfrm>
          <a:prstGeom prst="roundRect">
            <a:avLst>
              <a:gd name="adj" fmla="val 12500"/>
            </a:avLst>
          </a:prstGeom>
          <a:solidFill>
            <a:srgbClr val="FFFF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3" name="TextBox 12"/>
          <p:cNvSpPr txBox="1"/>
          <p:nvPr/>
        </p:nvSpPr>
        <p:spPr>
          <a:xfrm>
            <a:off x="1270000" y="5842000"/>
            <a:ext cx="13741400" cy="304800"/>
          </a:xfrm>
          <a:prstGeom prst="rect">
            <a:avLst/>
          </a:prstGeom>
          <a:noFill/>
        </p:spPr>
        <p:txBody>
          <a:bodyPr wrap="square" lIns="0" rIns="0" tIns="0" bIns="0">
            <a:spAutoFit/>
          </a:bodyPr>
          <a:lstStyle/>
          <a:p>
            <a:pPr algn="l">
              <a:defRPr i="0" sz="1600" b="0">
                <a:solidFill>
                  <a:srgbClr val="09090B"/>
                </a:solidFill>
                <a:latin typeface="Open Sans"/>
              </a:defRPr>
            </a:pPr>
            <a:r>
              <a:rPr i="0" sz="1600" b="0">
                <a:solidFill>
                  <a:srgbClr val="09090B"/>
                </a:solidFill>
                <a:latin typeface="Open Sans"/>
              </a:rPr>
              <a:t>graph TD; A[Start]--&gt;B{Choice}; B--&gt;C[Path 1]; B--&gt;D[Path 2];</a:t>
            </a:r>
          </a:p>
        </p:txBody>
      </p:sp>
      <p:pic>
        <p:nvPicPr>
          <p:cNvPr id="14" name="Picture 13" descr="e0628824-6548-4885-aade-e7eea8f8c942.png"/>
          <p:cNvPicPr>
            <a:picLocks noChangeAspect="1"/>
          </p:cNvPicPr>
          <p:nvPr/>
        </p:nvPicPr>
        <p:blipFill>
          <a:blip r:embed="rId3"/>
          <a:stretch>
            <a:fillRect/>
          </a:stretch>
        </p:blipFill>
        <p:spPr>
          <a:xfrm>
            <a:off x="0" y="6858000"/>
            <a:ext cx="16256000" cy="2286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508000"/>
            <a:ext cx="8585200" cy="2070100"/>
          </a:xfrm>
          <a:prstGeom prst="rect">
            <a:avLst/>
          </a:prstGeom>
          <a:noFill/>
        </p:spPr>
        <p:txBody>
          <a:bodyPr wrap="square" lIns="0" rIns="0" tIns="0" bIns="0">
            <a:spAutoFit/>
          </a:bodyPr>
          <a:lstStyle/>
          <a:p>
            <a:pPr algn="l">
              <a:lnSpc>
                <a:spcPct val="65000"/>
              </a:lnSpc>
              <a:defRPr i="0" sz="8600" b="0">
                <a:solidFill>
                  <a:srgbClr val="0B1F36"/>
                </a:solidFill>
                <a:latin typeface="Inter"/>
              </a:defRPr>
            </a:pPr>
            <a:r>
              <a:rPr i="0" sz="8600" b="0">
                <a:solidFill>
                  <a:srgbClr val="0B1F36"/>
                </a:solidFill>
                <a:latin typeface="Inter"/>
              </a:rPr>
              <a:t>Key Features &amp; Capabilities</a:t>
            </a:r>
          </a:p>
        </p:txBody>
      </p:sp>
      <p:pic>
        <p:nvPicPr>
          <p:cNvPr id="3" name="Picture 2" descr="3fa142dc-a182-417b-9270-714b806fa3ce.png"/>
          <p:cNvPicPr>
            <a:picLocks noChangeAspect="1"/>
          </p:cNvPicPr>
          <p:nvPr/>
        </p:nvPicPr>
        <p:blipFill>
          <a:blip r:embed="rId3"/>
          <a:stretch>
            <a:fillRect/>
          </a:stretch>
        </p:blipFill>
        <p:spPr>
          <a:xfrm>
            <a:off x="9677400" y="2984500"/>
            <a:ext cx="5969000" cy="6096000"/>
          </a:xfrm>
          <a:prstGeom prst="rect">
            <a:avLst/>
          </a:prstGeom>
        </p:spPr>
      </p:pic>
      <p:sp>
        <p:nvSpPr>
          <p:cNvPr id="4" name="Rounded Rectangle 3"/>
          <p:cNvSpPr/>
          <p:nvPr/>
        </p:nvSpPr>
        <p:spPr>
          <a:xfrm>
            <a:off x="609600" y="2984500"/>
            <a:ext cx="711200" cy="711200"/>
          </a:xfrm>
          <a:prstGeom prst="roundRect">
            <a:avLst>
              <a:gd name="adj" fmla="val 50000"/>
            </a:avLst>
          </a:prstGeom>
          <a:solidFill>
            <a:srgbClr val="0A2A5D"/>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TextBox 4"/>
          <p:cNvSpPr txBox="1"/>
          <p:nvPr/>
        </p:nvSpPr>
        <p:spPr>
          <a:xfrm>
            <a:off x="1524000" y="2984500"/>
            <a:ext cx="1854200" cy="647700"/>
          </a:xfrm>
          <a:prstGeom prst="rect">
            <a:avLst/>
          </a:prstGeom>
          <a:noFill/>
        </p:spPr>
        <p:txBody>
          <a:bodyPr wrap="square" lIns="0" rIns="0" tIns="0" bIns="0">
            <a:spAutoFit/>
          </a:bodyPr>
          <a:lstStyle/>
          <a:p>
            <a:pPr algn="l">
              <a:lnSpc>
                <a:spcPct val="85000"/>
              </a:lnSpc>
              <a:defRPr i="0" sz="2200" b="1">
                <a:solidFill>
                  <a:srgbClr val="0B1F36"/>
                </a:solidFill>
                <a:latin typeface="Inter"/>
              </a:defRPr>
            </a:pPr>
            <a:r>
              <a:rPr i="0" sz="2200" b="1">
                <a:solidFill>
                  <a:srgbClr val="0B1F36"/>
                </a:solidFill>
                <a:latin typeface="Inter"/>
              </a:rPr>
              <a:t>Advanced Segmentation</a:t>
            </a:r>
          </a:p>
        </p:txBody>
      </p:sp>
      <p:sp>
        <p:nvSpPr>
          <p:cNvPr id="6" name="TextBox 5"/>
          <p:cNvSpPr txBox="1"/>
          <p:nvPr/>
        </p:nvSpPr>
        <p:spPr>
          <a:xfrm>
            <a:off x="1524000" y="3733800"/>
            <a:ext cx="1854200" cy="1473200"/>
          </a:xfrm>
          <a:prstGeom prst="rect">
            <a:avLst/>
          </a:prstGeom>
          <a:noFill/>
        </p:spPr>
        <p:txBody>
          <a:bodyPr wrap="square" lIns="0" rIns="0" tIns="0" bIns="0">
            <a:spAutoFit/>
          </a:bodyPr>
          <a:lstStyle/>
          <a:p>
            <a:pPr algn="l">
              <a:lnSpc>
                <a:spcPct val="115000"/>
              </a:lnSpc>
              <a:defRPr i="0" sz="1600" b="0">
                <a:solidFill>
                  <a:srgbClr val="4A5A6D"/>
                </a:solidFill>
                <a:latin typeface="Calibri"/>
              </a:defRPr>
            </a:pPr>
            <a:r>
              <a:rPr i="0" sz="1600" b="0">
                <a:solidFill>
                  <a:srgbClr val="4A5A6D"/>
                </a:solidFill>
                <a:latin typeface="Calibri"/>
              </a:rPr>
              <a:t>Reduces exposure by 72% over flat networks, enabling stronger risk management.</a:t>
            </a:r>
          </a:p>
        </p:txBody>
      </p:sp>
      <p:sp>
        <p:nvSpPr>
          <p:cNvPr id="7" name="Rounded Rectangle 6"/>
          <p:cNvSpPr/>
          <p:nvPr/>
        </p:nvSpPr>
        <p:spPr>
          <a:xfrm>
            <a:off x="3632200" y="2984500"/>
            <a:ext cx="711200" cy="711200"/>
          </a:xfrm>
          <a:prstGeom prst="roundRect">
            <a:avLst>
              <a:gd name="adj" fmla="val 50000"/>
            </a:avLst>
          </a:prstGeom>
          <a:solidFill>
            <a:srgbClr val="0A2A5D"/>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TextBox 7"/>
          <p:cNvSpPr txBox="1"/>
          <p:nvPr/>
        </p:nvSpPr>
        <p:spPr>
          <a:xfrm>
            <a:off x="4546600" y="2984500"/>
            <a:ext cx="1625600" cy="965200"/>
          </a:xfrm>
          <a:prstGeom prst="rect">
            <a:avLst/>
          </a:prstGeom>
          <a:noFill/>
        </p:spPr>
        <p:txBody>
          <a:bodyPr wrap="square" lIns="0" rIns="0" tIns="0" bIns="0">
            <a:spAutoFit/>
          </a:bodyPr>
          <a:lstStyle/>
          <a:p>
            <a:pPr algn="l">
              <a:lnSpc>
                <a:spcPct val="85000"/>
              </a:lnSpc>
              <a:defRPr i="0" sz="2200" b="1">
                <a:solidFill>
                  <a:srgbClr val="0B1F36"/>
                </a:solidFill>
                <a:latin typeface="Inter"/>
              </a:defRPr>
            </a:pPr>
            <a:r>
              <a:rPr i="0" sz="2200" b="1">
                <a:solidFill>
                  <a:srgbClr val="0B1F36"/>
                </a:solidFill>
                <a:latin typeface="Inter"/>
              </a:rPr>
              <a:t>Context-Aware Policies</a:t>
            </a:r>
          </a:p>
        </p:txBody>
      </p:sp>
      <p:sp>
        <p:nvSpPr>
          <p:cNvPr id="9" name="TextBox 8"/>
          <p:cNvSpPr txBox="1"/>
          <p:nvPr/>
        </p:nvSpPr>
        <p:spPr>
          <a:xfrm>
            <a:off x="4546600" y="4051300"/>
            <a:ext cx="1625600" cy="1765300"/>
          </a:xfrm>
          <a:prstGeom prst="rect">
            <a:avLst/>
          </a:prstGeom>
          <a:noFill/>
        </p:spPr>
        <p:txBody>
          <a:bodyPr wrap="square" lIns="0" rIns="0" tIns="0" bIns="0">
            <a:spAutoFit/>
          </a:bodyPr>
          <a:lstStyle/>
          <a:p>
            <a:pPr algn="l">
              <a:lnSpc>
                <a:spcPct val="115000"/>
              </a:lnSpc>
              <a:defRPr i="0" sz="1600" b="0">
                <a:solidFill>
                  <a:srgbClr val="4A5A6D"/>
                </a:solidFill>
                <a:latin typeface="Calibri"/>
              </a:defRPr>
            </a:pPr>
            <a:r>
              <a:rPr i="0" sz="1600" b="0">
                <a:solidFill>
                  <a:srgbClr val="4A5A6D"/>
                </a:solidFill>
                <a:latin typeface="Calibri"/>
              </a:rPr>
              <a:t>Applies identity-based, dynamic access controls tailored to workload and user context.</a:t>
            </a:r>
          </a:p>
        </p:txBody>
      </p:sp>
      <p:sp>
        <p:nvSpPr>
          <p:cNvPr id="10" name="Rounded Rectangle 9"/>
          <p:cNvSpPr/>
          <p:nvPr/>
        </p:nvSpPr>
        <p:spPr>
          <a:xfrm>
            <a:off x="6654800" y="2984500"/>
            <a:ext cx="711200" cy="711200"/>
          </a:xfrm>
          <a:prstGeom prst="roundRect">
            <a:avLst>
              <a:gd name="adj" fmla="val 50000"/>
            </a:avLst>
          </a:prstGeom>
          <a:solidFill>
            <a:srgbClr val="0A2A5D"/>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TextBox 10"/>
          <p:cNvSpPr txBox="1"/>
          <p:nvPr/>
        </p:nvSpPr>
        <p:spPr>
          <a:xfrm>
            <a:off x="7569200" y="2984500"/>
            <a:ext cx="1625600" cy="647700"/>
          </a:xfrm>
          <a:prstGeom prst="rect">
            <a:avLst/>
          </a:prstGeom>
          <a:noFill/>
        </p:spPr>
        <p:txBody>
          <a:bodyPr wrap="square" lIns="0" rIns="0" tIns="0" bIns="0">
            <a:spAutoFit/>
          </a:bodyPr>
          <a:lstStyle/>
          <a:p>
            <a:pPr algn="l">
              <a:lnSpc>
                <a:spcPct val="85000"/>
              </a:lnSpc>
              <a:defRPr i="0" sz="2200" b="1">
                <a:solidFill>
                  <a:srgbClr val="0B1F36"/>
                </a:solidFill>
                <a:latin typeface="Inter"/>
              </a:defRPr>
            </a:pPr>
            <a:r>
              <a:rPr i="0" sz="2200" b="1">
                <a:solidFill>
                  <a:srgbClr val="0B1F36"/>
                </a:solidFill>
                <a:latin typeface="Inter"/>
              </a:rPr>
              <a:t>RTC Integration</a:t>
            </a:r>
          </a:p>
        </p:txBody>
      </p:sp>
      <p:sp>
        <p:nvSpPr>
          <p:cNvPr id="12" name="TextBox 11"/>
          <p:cNvSpPr txBox="1"/>
          <p:nvPr/>
        </p:nvSpPr>
        <p:spPr>
          <a:xfrm>
            <a:off x="7569200" y="3733800"/>
            <a:ext cx="1625600" cy="1765300"/>
          </a:xfrm>
          <a:prstGeom prst="rect">
            <a:avLst/>
          </a:prstGeom>
          <a:noFill/>
        </p:spPr>
        <p:txBody>
          <a:bodyPr wrap="square" lIns="0" rIns="0" tIns="0" bIns="0">
            <a:spAutoFit/>
          </a:bodyPr>
          <a:lstStyle/>
          <a:p>
            <a:pPr algn="l">
              <a:lnSpc>
                <a:spcPct val="115000"/>
              </a:lnSpc>
              <a:defRPr i="0" sz="1600" b="0">
                <a:solidFill>
                  <a:srgbClr val="4A5A6D"/>
                </a:solidFill>
                <a:latin typeface="Calibri"/>
              </a:defRPr>
            </a:pPr>
            <a:r>
              <a:rPr i="0" sz="1600" b="0">
                <a:solidFill>
                  <a:srgbClr val="4A5A6D"/>
                </a:solidFill>
                <a:latin typeface="Calibri"/>
              </a:rPr>
              <a:t>Automates threat detection for rapid incident containment and reduced manual intervention.</a:t>
            </a:r>
          </a:p>
        </p:txBody>
      </p:sp>
      <p:sp>
        <p:nvSpPr>
          <p:cNvPr id="13" name="Rounded Rectangle 12"/>
          <p:cNvSpPr/>
          <p:nvPr/>
        </p:nvSpPr>
        <p:spPr>
          <a:xfrm>
            <a:off x="609600" y="6324600"/>
            <a:ext cx="711200" cy="711200"/>
          </a:xfrm>
          <a:prstGeom prst="roundRect">
            <a:avLst>
              <a:gd name="adj" fmla="val 50000"/>
            </a:avLst>
          </a:prstGeom>
          <a:solidFill>
            <a:srgbClr val="0A2A5D"/>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1524000" y="6324600"/>
            <a:ext cx="2171700" cy="647700"/>
          </a:xfrm>
          <a:prstGeom prst="rect">
            <a:avLst/>
          </a:prstGeom>
          <a:noFill/>
        </p:spPr>
        <p:txBody>
          <a:bodyPr wrap="square" lIns="0" rIns="0" tIns="0" bIns="0">
            <a:spAutoFit/>
          </a:bodyPr>
          <a:lstStyle/>
          <a:p>
            <a:pPr algn="l">
              <a:lnSpc>
                <a:spcPct val="85000"/>
              </a:lnSpc>
              <a:defRPr i="0" sz="2200" b="1">
                <a:solidFill>
                  <a:srgbClr val="0B1F36"/>
                </a:solidFill>
                <a:latin typeface="Inter"/>
              </a:defRPr>
            </a:pPr>
            <a:r>
              <a:rPr i="0" sz="2200" b="1">
                <a:solidFill>
                  <a:srgbClr val="0B1F36"/>
                </a:solidFill>
                <a:latin typeface="Inter"/>
              </a:rPr>
              <a:t>Comprehensive Monitoring</a:t>
            </a:r>
          </a:p>
        </p:txBody>
      </p:sp>
      <p:sp>
        <p:nvSpPr>
          <p:cNvPr id="15" name="TextBox 14"/>
          <p:cNvSpPr txBox="1"/>
          <p:nvPr/>
        </p:nvSpPr>
        <p:spPr>
          <a:xfrm>
            <a:off x="1524000" y="7073900"/>
            <a:ext cx="2171700" cy="1181100"/>
          </a:xfrm>
          <a:prstGeom prst="rect">
            <a:avLst/>
          </a:prstGeom>
          <a:noFill/>
        </p:spPr>
        <p:txBody>
          <a:bodyPr wrap="square" lIns="0" rIns="0" tIns="0" bIns="0">
            <a:spAutoFit/>
          </a:bodyPr>
          <a:lstStyle/>
          <a:p>
            <a:pPr algn="l">
              <a:lnSpc>
                <a:spcPct val="115000"/>
              </a:lnSpc>
              <a:defRPr i="0" sz="1600" b="0">
                <a:solidFill>
                  <a:srgbClr val="4A5A6D"/>
                </a:solidFill>
                <a:latin typeface="Calibri"/>
              </a:defRPr>
            </a:pPr>
            <a:r>
              <a:rPr i="0" sz="1600" b="0">
                <a:solidFill>
                  <a:srgbClr val="4A5A6D"/>
                </a:solidFill>
                <a:latin typeface="Calibri"/>
              </a:rPr>
              <a:t>Delivers continuous visibility into network traffic, access patterns, and potential risks.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508000"/>
            <a:ext cx="14452600" cy="812800"/>
          </a:xfrm>
          <a:prstGeom prst="rect">
            <a:avLst/>
          </a:prstGeom>
          <a:noFill/>
        </p:spPr>
        <p:txBody>
          <a:bodyPr wrap="square" lIns="0" rIns="0" tIns="0" bIns="0">
            <a:spAutoFit/>
          </a:bodyPr>
          <a:lstStyle/>
          <a:p>
            <a:pPr algn="l">
              <a:lnSpc>
                <a:spcPct val="84000"/>
              </a:lnSpc>
              <a:defRPr i="0" sz="5600" b="1">
                <a:solidFill>
                  <a:srgbClr val="0A2A73"/>
                </a:solidFill>
                <a:latin typeface="Open Sans"/>
              </a:defRPr>
            </a:pPr>
            <a:r>
              <a:rPr i="0" sz="5600" b="1">
                <a:solidFill>
                  <a:srgbClr val="0A2A73"/>
                </a:solidFill>
                <a:latin typeface="Open Sans"/>
              </a:rPr>
              <a:t>Zone Segmentation: DC ACI RTC</a:t>
            </a:r>
          </a:p>
        </p:txBody>
      </p:sp>
      <p:pic>
        <p:nvPicPr>
          <p:cNvPr id="3" name="Picture 2" descr="59dda20a-2e68-4ff3-83a0-ce81b8fc04e9.png"/>
          <p:cNvPicPr>
            <a:picLocks noChangeAspect="1"/>
          </p:cNvPicPr>
          <p:nvPr/>
        </p:nvPicPr>
        <p:blipFill>
          <a:blip r:embed="rId3"/>
          <a:stretch>
            <a:fillRect/>
          </a:stretch>
        </p:blipFill>
        <p:spPr>
          <a:xfrm>
            <a:off x="914400" y="1625600"/>
            <a:ext cx="6604000" cy="6604000"/>
          </a:xfrm>
          <a:prstGeom prst="rect">
            <a:avLst/>
          </a:prstGeom>
        </p:spPr>
      </p:pic>
      <p:sp>
        <p:nvSpPr>
          <p:cNvPr id="4" name="TextBox 3"/>
          <p:cNvSpPr txBox="1"/>
          <p:nvPr/>
        </p:nvSpPr>
        <p:spPr>
          <a:xfrm>
            <a:off x="8432800" y="1625600"/>
            <a:ext cx="6934200" cy="711200"/>
          </a:xfrm>
          <a:prstGeom prst="rect">
            <a:avLst/>
          </a:prstGeom>
          <a:noFill/>
        </p:spPr>
        <p:txBody>
          <a:bodyPr wrap="square" lIns="0" rIns="0" tIns="0" bIns="0">
            <a:spAutoFit/>
          </a:bodyPr>
          <a:lstStyle/>
          <a:p>
            <a:pPr algn="l">
              <a:defRPr i="0" sz="1600" b="0">
                <a:solidFill>
                  <a:srgbClr val="334155"/>
                </a:solidFill>
                <a:latin typeface="Open Sans"/>
              </a:defRPr>
            </a:pPr>
            <a:r>
              <a:rPr i="0" sz="1600" b="0">
                <a:solidFill>
                  <a:srgbClr val="334155"/>
                </a:solidFill>
                <a:latin typeface="Open Sans"/>
              </a:rPr>
              <a:t>Enabling secure, multi-tenant environments with swift, automated threat response and seamless ACI integration.</a:t>
            </a:r>
          </a:p>
        </p:txBody>
      </p:sp>
      <p:sp>
        <p:nvSpPr>
          <p:cNvPr id="5" name="Rounded Rectangle 4"/>
          <p:cNvSpPr/>
          <p:nvPr/>
        </p:nvSpPr>
        <p:spPr>
          <a:xfrm>
            <a:off x="8432800" y="26924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9499600" y="26924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Multi-Tenancy &amp; Isolation</a:t>
            </a:r>
          </a:p>
        </p:txBody>
      </p:sp>
      <p:sp>
        <p:nvSpPr>
          <p:cNvPr id="7" name="Rounded Rectangle 6"/>
          <p:cNvSpPr/>
          <p:nvPr/>
        </p:nvSpPr>
        <p:spPr>
          <a:xfrm>
            <a:off x="9499600" y="30988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TextBox 7"/>
          <p:cNvSpPr txBox="1"/>
          <p:nvPr/>
        </p:nvSpPr>
        <p:spPr>
          <a:xfrm>
            <a:off x="9499600" y="32385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Ensures workload separation and scalable, secure environments for diverse clients.</a:t>
            </a:r>
          </a:p>
        </p:txBody>
      </p:sp>
      <p:sp>
        <p:nvSpPr>
          <p:cNvPr id="9" name="Rounded Rectangle 8"/>
          <p:cNvSpPr/>
          <p:nvPr/>
        </p:nvSpPr>
        <p:spPr>
          <a:xfrm>
            <a:off x="8432800" y="44577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9499600" y="44577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Seamless ACI Integration</a:t>
            </a:r>
          </a:p>
        </p:txBody>
      </p:sp>
      <p:sp>
        <p:nvSpPr>
          <p:cNvPr id="11" name="Rounded Rectangle 10"/>
          <p:cNvSpPr/>
          <p:nvPr/>
        </p:nvSpPr>
        <p:spPr>
          <a:xfrm>
            <a:off x="9499600" y="48641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9499600" y="50038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Direct interoperability with Cisco ACI streamlines network management and policy enforcement.</a:t>
            </a:r>
          </a:p>
        </p:txBody>
      </p:sp>
      <p:sp>
        <p:nvSpPr>
          <p:cNvPr id="13" name="Rounded Rectangle 12"/>
          <p:cNvSpPr/>
          <p:nvPr/>
        </p:nvSpPr>
        <p:spPr>
          <a:xfrm>
            <a:off x="8432800" y="62230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9499600" y="62230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Automated Threat Response</a:t>
            </a:r>
          </a:p>
        </p:txBody>
      </p:sp>
      <p:sp>
        <p:nvSpPr>
          <p:cNvPr id="15" name="Rounded Rectangle 14"/>
          <p:cNvSpPr/>
          <p:nvPr/>
        </p:nvSpPr>
        <p:spPr>
          <a:xfrm>
            <a:off x="9499600" y="66294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9499600" y="67691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Achieves median containment times </a:t>
            </a:r>
            <a:r>
              <a:rPr i="0" sz="1500" b="0">
                <a:solidFill>
                  <a:srgbClr val="334155"/>
                </a:solidFill>
                <a:latin typeface="Open Sans"/>
              </a:rPr>
              <a:t>&lt;</a:t>
            </a:r>
            <a:r>
              <a:rPr i="0" sz="1500" b="0">
                <a:solidFill>
                  <a:srgbClr val="334155"/>
                </a:solidFill>
                <a:latin typeface="Open Sans"/>
              </a:rPr>
              <a:t>30s, as validated by Cisco 2025 Labs, minimizing security breach impact.</a:t>
            </a:r>
          </a:p>
        </p:txBody>
      </p:sp>
      <p:sp>
        <p:nvSpPr>
          <p:cNvPr id="17" name="Rounded Rectangle 16"/>
          <p:cNvSpPr/>
          <p:nvPr/>
        </p:nvSpPr>
        <p:spPr>
          <a:xfrm>
            <a:off x="8432800" y="79883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TextBox 17"/>
          <p:cNvSpPr txBox="1"/>
          <p:nvPr/>
        </p:nvSpPr>
        <p:spPr>
          <a:xfrm>
            <a:off x="9499600" y="79883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Regulatory Compliance</a:t>
            </a:r>
          </a:p>
        </p:txBody>
      </p:sp>
      <p:sp>
        <p:nvSpPr>
          <p:cNvPr id="19" name="Rounded Rectangle 18"/>
          <p:cNvSpPr/>
          <p:nvPr/>
        </p:nvSpPr>
        <p:spPr>
          <a:xfrm>
            <a:off x="9499600" y="83947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TextBox 19"/>
          <p:cNvSpPr txBox="1"/>
          <p:nvPr/>
        </p:nvSpPr>
        <p:spPr>
          <a:xfrm>
            <a:off x="9499600" y="85344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Supports mandates such as PCI-D, helping meet critical statutory requirements.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508000"/>
            <a:ext cx="14452600" cy="812800"/>
          </a:xfrm>
          <a:prstGeom prst="rect">
            <a:avLst/>
          </a:prstGeom>
          <a:noFill/>
        </p:spPr>
        <p:txBody>
          <a:bodyPr wrap="square" lIns="0" rIns="0" tIns="0" bIns="0">
            <a:spAutoFit/>
          </a:bodyPr>
          <a:lstStyle/>
          <a:p>
            <a:pPr algn="l">
              <a:lnSpc>
                <a:spcPct val="84000"/>
              </a:lnSpc>
              <a:defRPr i="0" sz="5600" b="1">
                <a:solidFill>
                  <a:srgbClr val="0A2A73"/>
                </a:solidFill>
                <a:latin typeface="Open Sans"/>
              </a:defRPr>
            </a:pPr>
            <a:r>
              <a:rPr i="0" sz="5600" b="1">
                <a:solidFill>
                  <a:srgbClr val="0A2A73"/>
                </a:solidFill>
                <a:latin typeface="Open Sans"/>
              </a:rPr>
              <a:t>Zone Segmentation for Campus Networks</a:t>
            </a:r>
          </a:p>
        </p:txBody>
      </p:sp>
      <p:pic>
        <p:nvPicPr>
          <p:cNvPr id="3" name="Picture 2" descr="ed7b6f3d-1573-4904-9137-3627f44ce369.png"/>
          <p:cNvPicPr>
            <a:picLocks noChangeAspect="1"/>
          </p:cNvPicPr>
          <p:nvPr/>
        </p:nvPicPr>
        <p:blipFill>
          <a:blip r:embed="rId3"/>
          <a:stretch>
            <a:fillRect/>
          </a:stretch>
        </p:blipFill>
        <p:spPr>
          <a:xfrm>
            <a:off x="914400" y="1625600"/>
            <a:ext cx="6604000" cy="6604000"/>
          </a:xfrm>
          <a:prstGeom prst="rect">
            <a:avLst/>
          </a:prstGeom>
        </p:spPr>
      </p:pic>
      <p:sp>
        <p:nvSpPr>
          <p:cNvPr id="4" name="TextBox 3"/>
          <p:cNvSpPr txBox="1"/>
          <p:nvPr/>
        </p:nvSpPr>
        <p:spPr>
          <a:xfrm>
            <a:off x="8432800" y="1625600"/>
            <a:ext cx="6934200" cy="711200"/>
          </a:xfrm>
          <a:prstGeom prst="rect">
            <a:avLst/>
          </a:prstGeom>
          <a:noFill/>
        </p:spPr>
        <p:txBody>
          <a:bodyPr wrap="square" lIns="0" rIns="0" tIns="0" bIns="0">
            <a:spAutoFit/>
          </a:bodyPr>
          <a:lstStyle/>
          <a:p>
            <a:pPr algn="l">
              <a:defRPr i="0" sz="1600" b="0">
                <a:solidFill>
                  <a:srgbClr val="334155"/>
                </a:solidFill>
                <a:latin typeface="Open Sans"/>
              </a:defRPr>
            </a:pPr>
            <a:r>
              <a:rPr i="0" sz="1600" b="0">
                <a:solidFill>
                  <a:srgbClr val="334155"/>
                </a:solidFill>
                <a:latin typeface="Open Sans"/>
              </a:rPr>
              <a:t>Segmenting campus networks boosts breach containment and integrates smoothly with Cisco FTD and ISE.</a:t>
            </a:r>
          </a:p>
        </p:txBody>
      </p:sp>
      <p:sp>
        <p:nvSpPr>
          <p:cNvPr id="5" name="Rounded Rectangle 4"/>
          <p:cNvSpPr/>
          <p:nvPr/>
        </p:nvSpPr>
        <p:spPr>
          <a:xfrm>
            <a:off x="8432800" y="26924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9499600" y="26924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Enhanced Segmentation</a:t>
            </a:r>
          </a:p>
        </p:txBody>
      </p:sp>
      <p:sp>
        <p:nvSpPr>
          <p:cNvPr id="7" name="Rounded Rectangle 6"/>
          <p:cNvSpPr/>
          <p:nvPr/>
        </p:nvSpPr>
        <p:spPr>
          <a:xfrm>
            <a:off x="9499600" y="30988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TextBox 7"/>
          <p:cNvSpPr txBox="1"/>
          <p:nvPr/>
        </p:nvSpPr>
        <p:spPr>
          <a:xfrm>
            <a:off x="9499600" y="32385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Network segments by user, device, and application for up to 90% stronger breach containment (Forrester, 2025).</a:t>
            </a:r>
          </a:p>
        </p:txBody>
      </p:sp>
      <p:sp>
        <p:nvSpPr>
          <p:cNvPr id="9" name="Rounded Rectangle 8"/>
          <p:cNvSpPr/>
          <p:nvPr/>
        </p:nvSpPr>
        <p:spPr>
          <a:xfrm>
            <a:off x="8432800" y="44577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9499600" y="44577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Cisco Integration</a:t>
            </a:r>
          </a:p>
        </p:txBody>
      </p:sp>
      <p:sp>
        <p:nvSpPr>
          <p:cNvPr id="11" name="Rounded Rectangle 10"/>
          <p:cNvSpPr/>
          <p:nvPr/>
        </p:nvSpPr>
        <p:spPr>
          <a:xfrm>
            <a:off x="9499600" y="48641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9499600" y="50038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Works seamlessly with Cisco Firepower Threat Defense and Identity Services Engine for holistic security.</a:t>
            </a:r>
          </a:p>
        </p:txBody>
      </p:sp>
      <p:sp>
        <p:nvSpPr>
          <p:cNvPr id="13" name="Rounded Rectangle 12"/>
          <p:cNvSpPr/>
          <p:nvPr/>
        </p:nvSpPr>
        <p:spPr>
          <a:xfrm>
            <a:off x="8432800" y="62230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9499600" y="62230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Context-Aware Security</a:t>
            </a:r>
          </a:p>
        </p:txBody>
      </p:sp>
      <p:sp>
        <p:nvSpPr>
          <p:cNvPr id="15" name="Rounded Rectangle 14"/>
          <p:cNvSpPr/>
          <p:nvPr/>
        </p:nvSpPr>
        <p:spPr>
          <a:xfrm>
            <a:off x="9499600" y="66294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9499600" y="67691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Dynamically adapts segmentation using user, device, and application context cues for real-time protection.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508000"/>
            <a:ext cx="14452600" cy="812800"/>
          </a:xfrm>
          <a:prstGeom prst="rect">
            <a:avLst/>
          </a:prstGeom>
          <a:noFill/>
        </p:spPr>
        <p:txBody>
          <a:bodyPr wrap="square" lIns="0" rIns="0" tIns="0" bIns="0">
            <a:spAutoFit/>
          </a:bodyPr>
          <a:lstStyle/>
          <a:p>
            <a:pPr algn="l">
              <a:lnSpc>
                <a:spcPct val="84000"/>
              </a:lnSpc>
              <a:defRPr i="0" sz="5600" b="1">
                <a:solidFill>
                  <a:srgbClr val="0A2A73"/>
                </a:solidFill>
                <a:latin typeface="Open Sans"/>
              </a:defRPr>
            </a:pPr>
            <a:r>
              <a:rPr i="0" sz="5600" b="1">
                <a:solidFill>
                  <a:srgbClr val="0A2A73"/>
                </a:solidFill>
                <a:latin typeface="Open Sans"/>
              </a:rPr>
              <a:t>Zone Segmentation for Branches</a:t>
            </a:r>
          </a:p>
        </p:txBody>
      </p:sp>
      <p:pic>
        <p:nvPicPr>
          <p:cNvPr id="3" name="Picture 2" descr="63be9073-48c5-446b-962e-0193b748d59f.png"/>
          <p:cNvPicPr>
            <a:picLocks noChangeAspect="1"/>
          </p:cNvPicPr>
          <p:nvPr/>
        </p:nvPicPr>
        <p:blipFill>
          <a:blip r:embed="rId3"/>
          <a:stretch>
            <a:fillRect/>
          </a:stretch>
        </p:blipFill>
        <p:spPr>
          <a:xfrm>
            <a:off x="914400" y="1625600"/>
            <a:ext cx="6604000" cy="6604000"/>
          </a:xfrm>
          <a:prstGeom prst="rect">
            <a:avLst/>
          </a:prstGeom>
        </p:spPr>
      </p:pic>
      <p:sp>
        <p:nvSpPr>
          <p:cNvPr id="4" name="TextBox 3"/>
          <p:cNvSpPr txBox="1"/>
          <p:nvPr/>
        </p:nvSpPr>
        <p:spPr>
          <a:xfrm>
            <a:off x="8432800" y="1625600"/>
            <a:ext cx="6934200" cy="1066800"/>
          </a:xfrm>
          <a:prstGeom prst="rect">
            <a:avLst/>
          </a:prstGeom>
          <a:noFill/>
        </p:spPr>
        <p:txBody>
          <a:bodyPr wrap="square" lIns="0" rIns="0" tIns="0" bIns="0">
            <a:spAutoFit/>
          </a:bodyPr>
          <a:lstStyle/>
          <a:p>
            <a:pPr algn="l">
              <a:lnSpc>
                <a:spcPct val="145000"/>
              </a:lnSpc>
              <a:defRPr i="0" sz="1600" b="0">
                <a:solidFill>
                  <a:srgbClr val="334155"/>
                </a:solidFill>
                <a:latin typeface="Open Sans"/>
              </a:defRPr>
            </a:pPr>
            <a:r>
              <a:rPr i="0" sz="1600" b="0">
                <a:solidFill>
                  <a:srgbClr val="334155"/>
                </a:solidFill>
                <a:latin typeface="Open Sans"/>
              </a:rPr>
              <a:t>Delivering context-aware segmentation ensures security and consistency for distributed branches through intelligent policies and centralized management.</a:t>
            </a:r>
          </a:p>
        </p:txBody>
      </p:sp>
      <p:sp>
        <p:nvSpPr>
          <p:cNvPr id="5" name="Rounded Rectangle 4"/>
          <p:cNvSpPr/>
          <p:nvPr/>
        </p:nvSpPr>
        <p:spPr>
          <a:xfrm>
            <a:off x="8432800" y="30480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9499600" y="30480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Granular Segmentation</a:t>
            </a:r>
          </a:p>
        </p:txBody>
      </p:sp>
      <p:sp>
        <p:nvSpPr>
          <p:cNvPr id="7" name="Rounded Rectangle 6"/>
          <p:cNvSpPr/>
          <p:nvPr/>
        </p:nvSpPr>
        <p:spPr>
          <a:xfrm>
            <a:off x="9499600" y="34544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TextBox 7"/>
          <p:cNvSpPr txBox="1"/>
          <p:nvPr/>
        </p:nvSpPr>
        <p:spPr>
          <a:xfrm>
            <a:off x="9499600" y="35941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Enhances visibility and control by extending fine-grained segmentation to all branch locations.</a:t>
            </a:r>
          </a:p>
        </p:txBody>
      </p:sp>
      <p:sp>
        <p:nvSpPr>
          <p:cNvPr id="9" name="Rounded Rectangle 8"/>
          <p:cNvSpPr/>
          <p:nvPr/>
        </p:nvSpPr>
        <p:spPr>
          <a:xfrm>
            <a:off x="8432800" y="48133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9499600" y="48133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Adaptive Policies</a:t>
            </a:r>
          </a:p>
        </p:txBody>
      </p:sp>
      <p:sp>
        <p:nvSpPr>
          <p:cNvPr id="11" name="Rounded Rectangle 10"/>
          <p:cNvSpPr/>
          <p:nvPr/>
        </p:nvSpPr>
        <p:spPr>
          <a:xfrm>
            <a:off x="9499600" y="52197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9499600" y="53594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Deploys context-based policies to securely support BYOD and IoT devices.</a:t>
            </a:r>
          </a:p>
        </p:txBody>
      </p:sp>
      <p:sp>
        <p:nvSpPr>
          <p:cNvPr id="13" name="Rounded Rectangle 12"/>
          <p:cNvSpPr/>
          <p:nvPr/>
        </p:nvSpPr>
        <p:spPr>
          <a:xfrm>
            <a:off x="8432800" y="65786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9499600" y="65786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Reduced Incidents</a:t>
            </a:r>
          </a:p>
        </p:txBody>
      </p:sp>
      <p:sp>
        <p:nvSpPr>
          <p:cNvPr id="15" name="Rounded Rectangle 14"/>
          <p:cNvSpPr/>
          <p:nvPr/>
        </p:nvSpPr>
        <p:spPr>
          <a:xfrm>
            <a:off x="9499600" y="69850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9499600" y="71247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Cuts branch security incidents by up to 62% per recent Gartner analysis.</a:t>
            </a:r>
          </a:p>
        </p:txBody>
      </p:sp>
      <p:sp>
        <p:nvSpPr>
          <p:cNvPr id="17" name="Rounded Rectangle 16"/>
          <p:cNvSpPr/>
          <p:nvPr/>
        </p:nvSpPr>
        <p:spPr>
          <a:xfrm>
            <a:off x="8432800" y="83439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TextBox 17"/>
          <p:cNvSpPr txBox="1"/>
          <p:nvPr/>
        </p:nvSpPr>
        <p:spPr>
          <a:xfrm>
            <a:off x="9499600" y="83439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Centralized Consistency</a:t>
            </a:r>
          </a:p>
        </p:txBody>
      </p:sp>
      <p:sp>
        <p:nvSpPr>
          <p:cNvPr id="19" name="Rounded Rectangle 18"/>
          <p:cNvSpPr/>
          <p:nvPr/>
        </p:nvSpPr>
        <p:spPr>
          <a:xfrm>
            <a:off x="9499600" y="87503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TextBox 19"/>
          <p:cNvSpPr txBox="1"/>
          <p:nvPr/>
        </p:nvSpPr>
        <p:spPr>
          <a:xfrm>
            <a:off x="9499600" y="88900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Ensures unified security posture and simplifies administration across distributed sites.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17600" y="711200"/>
            <a:ext cx="13233400" cy="787400"/>
          </a:xfrm>
          <a:prstGeom prst="rect">
            <a:avLst/>
          </a:prstGeom>
          <a:noFill/>
        </p:spPr>
        <p:txBody>
          <a:bodyPr wrap="square" lIns="0" rIns="0" tIns="0" bIns="0">
            <a:spAutoFit/>
          </a:bodyPr>
          <a:lstStyle/>
          <a:p>
            <a:pPr algn="l">
              <a:lnSpc>
                <a:spcPct val="80000"/>
              </a:lnSpc>
              <a:defRPr i="0" sz="5600" b="1">
                <a:solidFill>
                  <a:srgbClr val="0A2B66"/>
                </a:solidFill>
                <a:latin typeface="Open Sans"/>
              </a:defRPr>
            </a:pPr>
            <a:r>
              <a:rPr i="0" sz="5600" b="1">
                <a:solidFill>
                  <a:srgbClr val="0A2B66"/>
                </a:solidFill>
                <a:latin typeface="Open Sans"/>
              </a:rPr>
              <a:t>Real-World Use Cases &amp; Scenarios</a:t>
            </a:r>
          </a:p>
        </p:txBody>
      </p:sp>
      <p:sp>
        <p:nvSpPr>
          <p:cNvPr id="3" name="TextBox 2"/>
          <p:cNvSpPr txBox="1"/>
          <p:nvPr/>
        </p:nvSpPr>
        <p:spPr>
          <a:xfrm>
            <a:off x="2082800" y="2006600"/>
            <a:ext cx="2984500" cy="317500"/>
          </a:xfrm>
          <a:prstGeom prst="rect">
            <a:avLst/>
          </a:prstGeom>
          <a:noFill/>
        </p:spPr>
        <p:txBody>
          <a:bodyPr wrap="square" lIns="0" rIns="0" tIns="0" bIns="0">
            <a:spAutoFit/>
          </a:bodyPr>
          <a:lstStyle/>
          <a:p>
            <a:pPr algn="l">
              <a:lnSpc>
                <a:spcPct val="95000"/>
              </a:lnSpc>
              <a:defRPr i="0" sz="2000" b="1">
                <a:solidFill>
                  <a:srgbClr val="0A2B66"/>
                </a:solidFill>
                <a:latin typeface="Open Sans"/>
              </a:defRPr>
            </a:pPr>
            <a:r>
              <a:rPr i="0" sz="2000" b="1">
                <a:solidFill>
                  <a:srgbClr val="0A2B66"/>
                </a:solidFill>
                <a:latin typeface="Open Sans"/>
              </a:rPr>
              <a:t>Data Center</a:t>
            </a:r>
          </a:p>
        </p:txBody>
      </p:sp>
      <p:sp>
        <p:nvSpPr>
          <p:cNvPr id="4" name="TextBox 3"/>
          <p:cNvSpPr txBox="1"/>
          <p:nvPr/>
        </p:nvSpPr>
        <p:spPr>
          <a:xfrm>
            <a:off x="2082800" y="2425700"/>
            <a:ext cx="2984500" cy="1524000"/>
          </a:xfrm>
          <a:prstGeom prst="rect">
            <a:avLst/>
          </a:prstGeom>
          <a:noFill/>
        </p:spPr>
        <p:txBody>
          <a:bodyPr wrap="square" lIns="0" rIns="0" tIns="0" bIns="0">
            <a:spAutoFit/>
          </a:bodyPr>
          <a:lstStyle/>
          <a:p>
            <a:pPr algn="l">
              <a:lnSpc>
                <a:spcPct val="120000"/>
              </a:lnSpc>
              <a:defRPr i="0" sz="1600" b="0">
                <a:solidFill>
                  <a:srgbClr val="0A2B66"/>
                </a:solidFill>
                <a:latin typeface="Open Sans"/>
              </a:defRPr>
            </a:pPr>
            <a:r>
              <a:rPr i="0" sz="1600" b="0">
                <a:solidFill>
                  <a:srgbClr val="0A2B66"/>
                </a:solidFill>
                <a:latin typeface="Open Sans"/>
              </a:rPr>
              <a:t>Segment sensitive databases for optimal isolation and contain potential malware threats within one tenant environment.</a:t>
            </a:r>
          </a:p>
        </p:txBody>
      </p:sp>
      <p:sp>
        <p:nvSpPr>
          <p:cNvPr id="5" name="TextBox 4"/>
          <p:cNvSpPr txBox="1"/>
          <p:nvPr/>
        </p:nvSpPr>
        <p:spPr>
          <a:xfrm>
            <a:off x="7124700" y="2006600"/>
            <a:ext cx="2984500" cy="317500"/>
          </a:xfrm>
          <a:prstGeom prst="rect">
            <a:avLst/>
          </a:prstGeom>
          <a:noFill/>
        </p:spPr>
        <p:txBody>
          <a:bodyPr wrap="square" lIns="0" rIns="0" tIns="0" bIns="0">
            <a:spAutoFit/>
          </a:bodyPr>
          <a:lstStyle/>
          <a:p>
            <a:pPr algn="l">
              <a:lnSpc>
                <a:spcPct val="95000"/>
              </a:lnSpc>
              <a:defRPr i="0" sz="2000" b="1">
                <a:solidFill>
                  <a:srgbClr val="0A2B66"/>
                </a:solidFill>
                <a:latin typeface="Open Sans"/>
              </a:defRPr>
            </a:pPr>
            <a:r>
              <a:rPr i="0" sz="2000" b="1">
                <a:solidFill>
                  <a:srgbClr val="0A2B66"/>
                </a:solidFill>
                <a:latin typeface="Open Sans"/>
              </a:rPr>
              <a:t>Campus Network</a:t>
            </a:r>
          </a:p>
        </p:txBody>
      </p:sp>
      <p:sp>
        <p:nvSpPr>
          <p:cNvPr id="6" name="TextBox 5"/>
          <p:cNvSpPr txBox="1"/>
          <p:nvPr/>
        </p:nvSpPr>
        <p:spPr>
          <a:xfrm>
            <a:off x="7124700" y="2425700"/>
            <a:ext cx="2984500" cy="1219200"/>
          </a:xfrm>
          <a:prstGeom prst="rect">
            <a:avLst/>
          </a:prstGeom>
          <a:noFill/>
        </p:spPr>
        <p:txBody>
          <a:bodyPr wrap="square" lIns="0" rIns="0" tIns="0" bIns="0">
            <a:spAutoFit/>
          </a:bodyPr>
          <a:lstStyle/>
          <a:p>
            <a:pPr algn="l">
              <a:lnSpc>
                <a:spcPct val="120000"/>
              </a:lnSpc>
              <a:defRPr i="0" sz="1600" b="0">
                <a:solidFill>
                  <a:srgbClr val="0A2B66"/>
                </a:solidFill>
                <a:latin typeface="Open Sans"/>
              </a:defRPr>
            </a:pPr>
            <a:r>
              <a:rPr i="0" sz="1600" b="0">
                <a:solidFill>
                  <a:srgbClr val="0A2B66"/>
                </a:solidFill>
                <a:latin typeface="Open Sans"/>
              </a:rPr>
              <a:t>Apply guest VLAN separation and segment IoT devices to improve operational security and limit threat exposure.</a:t>
            </a:r>
          </a:p>
        </p:txBody>
      </p:sp>
      <p:sp>
        <p:nvSpPr>
          <p:cNvPr id="7" name="TextBox 6"/>
          <p:cNvSpPr txBox="1"/>
          <p:nvPr/>
        </p:nvSpPr>
        <p:spPr>
          <a:xfrm>
            <a:off x="12179300" y="2006600"/>
            <a:ext cx="2984500" cy="317500"/>
          </a:xfrm>
          <a:prstGeom prst="rect">
            <a:avLst/>
          </a:prstGeom>
          <a:noFill/>
        </p:spPr>
        <p:txBody>
          <a:bodyPr wrap="square" lIns="0" rIns="0" tIns="0" bIns="0">
            <a:spAutoFit/>
          </a:bodyPr>
          <a:lstStyle/>
          <a:p>
            <a:pPr algn="l">
              <a:lnSpc>
                <a:spcPct val="95000"/>
              </a:lnSpc>
              <a:defRPr i="0" sz="2000" b="1">
                <a:solidFill>
                  <a:srgbClr val="0A2B66"/>
                </a:solidFill>
                <a:latin typeface="Open Sans"/>
              </a:defRPr>
            </a:pPr>
            <a:r>
              <a:rPr i="0" sz="2000" b="1">
                <a:solidFill>
                  <a:srgbClr val="0A2B66"/>
                </a:solidFill>
                <a:latin typeface="Open Sans"/>
              </a:rPr>
              <a:t>Branch Office</a:t>
            </a:r>
          </a:p>
        </p:txBody>
      </p:sp>
      <p:sp>
        <p:nvSpPr>
          <p:cNvPr id="8" name="TextBox 7"/>
          <p:cNvSpPr txBox="1"/>
          <p:nvPr/>
        </p:nvSpPr>
        <p:spPr>
          <a:xfrm>
            <a:off x="12179300" y="2425700"/>
            <a:ext cx="2984500" cy="1524000"/>
          </a:xfrm>
          <a:prstGeom prst="rect">
            <a:avLst/>
          </a:prstGeom>
          <a:noFill/>
        </p:spPr>
        <p:txBody>
          <a:bodyPr wrap="square" lIns="0" rIns="0" tIns="0" bIns="0">
            <a:spAutoFit/>
          </a:bodyPr>
          <a:lstStyle/>
          <a:p>
            <a:pPr algn="l">
              <a:lnSpc>
                <a:spcPct val="120000"/>
              </a:lnSpc>
              <a:defRPr i="0" sz="1600" b="0">
                <a:solidFill>
                  <a:srgbClr val="0A2B66"/>
                </a:solidFill>
                <a:latin typeface="Open Sans"/>
              </a:defRPr>
            </a:pPr>
            <a:r>
              <a:rPr i="0" sz="1600" b="0">
                <a:solidFill>
                  <a:srgbClr val="0A2B66"/>
                </a:solidFill>
                <a:latin typeface="Open Sans"/>
              </a:rPr>
              <a:t>Enhance compliance by separating POS systems from main business networks, reducing risk of unauthorized access.</a:t>
            </a:r>
          </a:p>
        </p:txBody>
      </p:sp>
      <p:pic>
        <p:nvPicPr>
          <p:cNvPr id="9" name="Picture 8" descr="f4cf28ab-5d39-4cbd-a338-b2f579b08d42.png"/>
          <p:cNvPicPr>
            <a:picLocks noChangeAspect="1"/>
          </p:cNvPicPr>
          <p:nvPr/>
        </p:nvPicPr>
        <p:blipFill>
          <a:blip r:embed="rId3"/>
          <a:stretch>
            <a:fillRect/>
          </a:stretch>
        </p:blipFill>
        <p:spPr>
          <a:xfrm>
            <a:off x="0" y="6807200"/>
            <a:ext cx="16256000" cy="23368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8000" y="406400"/>
            <a:ext cx="10045700" cy="1828800"/>
          </a:xfrm>
          <a:prstGeom prst="rect">
            <a:avLst/>
          </a:prstGeom>
          <a:noFill/>
        </p:spPr>
        <p:txBody>
          <a:bodyPr wrap="square" lIns="0" rIns="0" tIns="0" bIns="0">
            <a:spAutoFit/>
          </a:bodyPr>
          <a:lstStyle/>
          <a:p>
            <a:pPr algn="l">
              <a:lnSpc>
                <a:spcPct val="65000"/>
              </a:lnSpc>
              <a:defRPr i="0" sz="7600" b="1">
                <a:solidFill>
                  <a:srgbClr val="0B2A48"/>
                </a:solidFill>
                <a:latin typeface="Inter"/>
              </a:defRPr>
            </a:pPr>
            <a:r>
              <a:rPr i="0" sz="7600" b="1">
                <a:solidFill>
                  <a:srgbClr val="0B2A48"/>
                </a:solidFill>
                <a:latin typeface="Inter"/>
              </a:rPr>
              <a:t>Integration &amp; Deployment Options</a:t>
            </a:r>
          </a:p>
        </p:txBody>
      </p:sp>
      <p:sp>
        <p:nvSpPr>
          <p:cNvPr id="3" name="TextBox 2"/>
          <p:cNvSpPr txBox="1"/>
          <p:nvPr/>
        </p:nvSpPr>
        <p:spPr>
          <a:xfrm>
            <a:off x="508000" y="2387600"/>
            <a:ext cx="10045700" cy="660400"/>
          </a:xfrm>
          <a:prstGeom prst="rect">
            <a:avLst/>
          </a:prstGeom>
          <a:noFill/>
        </p:spPr>
        <p:txBody>
          <a:bodyPr wrap="square" lIns="0" rIns="0" tIns="0" bIns="0">
            <a:spAutoFit/>
          </a:bodyPr>
          <a:lstStyle/>
          <a:p>
            <a:pPr algn="l">
              <a:defRPr i="0" sz="1800" b="0">
                <a:solidFill>
                  <a:srgbClr val="334155"/>
                </a:solidFill>
                <a:latin typeface="Calibri"/>
              </a:defRPr>
            </a:pPr>
            <a:r>
              <a:rPr i="0" sz="1800" b="0">
                <a:solidFill>
                  <a:srgbClr val="334155"/>
                </a:solidFill>
                <a:latin typeface="Calibri"/>
              </a:rPr>
              <a:t>Flexible integration works across various network environments, supporting on-premises, hybrid, and cloud-based deployments for scalable enterprise use.</a:t>
            </a:r>
          </a:p>
        </p:txBody>
      </p:sp>
      <p:pic>
        <p:nvPicPr>
          <p:cNvPr id="4" name="Picture 3" descr="d695ec98-7421-4246-ad9d-94b7103555a8.png"/>
          <p:cNvPicPr>
            <a:picLocks noChangeAspect="1"/>
          </p:cNvPicPr>
          <p:nvPr/>
        </p:nvPicPr>
        <p:blipFill>
          <a:blip r:embed="rId3"/>
          <a:stretch>
            <a:fillRect/>
          </a:stretch>
        </p:blipFill>
        <p:spPr>
          <a:xfrm>
            <a:off x="508000" y="3454400"/>
            <a:ext cx="10414000" cy="5461000"/>
          </a:xfrm>
          <a:prstGeom prst="rect">
            <a:avLst/>
          </a:prstGeom>
        </p:spPr>
      </p:pic>
      <p:sp>
        <p:nvSpPr>
          <p:cNvPr id="5" name="TextBox 4"/>
          <p:cNvSpPr txBox="1"/>
          <p:nvPr/>
        </p:nvSpPr>
        <p:spPr>
          <a:xfrm>
            <a:off x="2362200" y="7747000"/>
            <a:ext cx="1816100" cy="152400"/>
          </a:xfrm>
          <a:prstGeom prst="rect">
            <a:avLst/>
          </a:prstGeom>
          <a:noFill/>
        </p:spPr>
        <p:txBody>
          <a:bodyPr wrap="none" lIns="0" rIns="0" tIns="0" bIns="0">
            <a:spAutoFit/>
          </a:bodyPr>
          <a:lstStyle/>
          <a:p>
            <a:pPr algn="l">
              <a:defRPr i="0" sz="1200" b="0">
                <a:solidFill>
                  <a:srgbClr val="09090B"/>
                </a:solidFill>
                <a:latin typeface="Calibri"/>
              </a:defRPr>
            </a:pPr>
            <a:r>
              <a:rPr i="0" sz="1200" b="0">
                <a:solidFill>
                  <a:srgbClr val="09090B"/>
                </a:solidFill>
                <a:latin typeface="Calibri"/>
              </a:rPr>
              <a:t>Fortune 500 Partial Adoption</a:t>
            </a:r>
          </a:p>
        </p:txBody>
      </p:sp>
      <p:sp>
        <p:nvSpPr>
          <p:cNvPr id="6" name="TextBox 5"/>
          <p:cNvSpPr txBox="1"/>
          <p:nvPr/>
        </p:nvSpPr>
        <p:spPr>
          <a:xfrm>
            <a:off x="5308600" y="7747000"/>
            <a:ext cx="1854200" cy="152400"/>
          </a:xfrm>
          <a:prstGeom prst="rect">
            <a:avLst/>
          </a:prstGeom>
          <a:noFill/>
        </p:spPr>
        <p:txBody>
          <a:bodyPr wrap="none" lIns="0" rIns="0" tIns="0" bIns="0">
            <a:spAutoFit/>
          </a:bodyPr>
          <a:lstStyle/>
          <a:p>
            <a:pPr algn="l">
              <a:defRPr i="0" sz="1200" b="0">
                <a:solidFill>
                  <a:srgbClr val="09090B"/>
                </a:solidFill>
                <a:latin typeface="Calibri"/>
              </a:defRPr>
            </a:pPr>
            <a:r>
              <a:rPr i="0" sz="1200" b="0">
                <a:solidFill>
                  <a:srgbClr val="09090B"/>
                </a:solidFill>
                <a:latin typeface="Calibri"/>
              </a:rPr>
              <a:t>Multi-Vendor Interoperability</a:t>
            </a:r>
          </a:p>
        </p:txBody>
      </p:sp>
      <p:sp>
        <p:nvSpPr>
          <p:cNvPr id="7" name="TextBox 6"/>
          <p:cNvSpPr txBox="1"/>
          <p:nvPr/>
        </p:nvSpPr>
        <p:spPr>
          <a:xfrm>
            <a:off x="8293100" y="7747000"/>
            <a:ext cx="1803400" cy="152400"/>
          </a:xfrm>
          <a:prstGeom prst="rect">
            <a:avLst/>
          </a:prstGeom>
          <a:noFill/>
        </p:spPr>
        <p:txBody>
          <a:bodyPr wrap="none" lIns="0" rIns="0" tIns="0" bIns="0">
            <a:spAutoFit/>
          </a:bodyPr>
          <a:lstStyle/>
          <a:p>
            <a:pPr algn="l">
              <a:defRPr i="0" sz="1200" b="0">
                <a:solidFill>
                  <a:srgbClr val="09090B"/>
                </a:solidFill>
                <a:latin typeface="Calibri"/>
              </a:defRPr>
            </a:pPr>
            <a:r>
              <a:rPr i="0" sz="1200" b="0">
                <a:solidFill>
                  <a:srgbClr val="09090B"/>
                </a:solidFill>
                <a:latin typeface="Calibri"/>
              </a:rPr>
              <a:t>Highly Scalable Deployments</a:t>
            </a:r>
          </a:p>
        </p:txBody>
      </p:sp>
      <p:sp>
        <p:nvSpPr>
          <p:cNvPr id="8" name="TextBox 7"/>
          <p:cNvSpPr txBox="1"/>
          <p:nvPr/>
        </p:nvSpPr>
        <p:spPr>
          <a:xfrm>
            <a:off x="1600200" y="7594600"/>
            <a:ext cx="101600" cy="152400"/>
          </a:xfrm>
          <a:prstGeom prst="rect">
            <a:avLst/>
          </a:prstGeom>
          <a:noFill/>
        </p:spPr>
        <p:txBody>
          <a:bodyPr wrap="none" lIns="0" rIns="0" tIns="0" bIns="0">
            <a:spAutoFit/>
          </a:bodyPr>
          <a:lstStyle/>
          <a:p>
            <a:pPr algn="l">
              <a:defRPr i="0" sz="1200" b="0">
                <a:solidFill>
                  <a:srgbClr val="09090B"/>
                </a:solidFill>
                <a:latin typeface="Calibri"/>
              </a:defRPr>
            </a:pPr>
            <a:r>
              <a:rPr i="0" sz="1200" b="0">
                <a:solidFill>
                  <a:srgbClr val="09090B"/>
                </a:solidFill>
                <a:latin typeface="Calibri"/>
              </a:rPr>
              <a:t>0</a:t>
            </a:r>
          </a:p>
        </p:txBody>
      </p:sp>
      <p:sp>
        <p:nvSpPr>
          <p:cNvPr id="9" name="TextBox 8"/>
          <p:cNvSpPr txBox="1"/>
          <p:nvPr/>
        </p:nvSpPr>
        <p:spPr>
          <a:xfrm>
            <a:off x="1524000" y="6870700"/>
            <a:ext cx="177800" cy="152400"/>
          </a:xfrm>
          <a:prstGeom prst="rect">
            <a:avLst/>
          </a:prstGeom>
          <a:noFill/>
        </p:spPr>
        <p:txBody>
          <a:bodyPr wrap="none" lIns="0" rIns="0" tIns="0" bIns="0">
            <a:spAutoFit/>
          </a:bodyPr>
          <a:lstStyle/>
          <a:p>
            <a:pPr algn="l">
              <a:defRPr i="0" sz="1200" b="0">
                <a:solidFill>
                  <a:srgbClr val="09090B"/>
                </a:solidFill>
                <a:latin typeface="Calibri"/>
              </a:defRPr>
            </a:pPr>
            <a:r>
              <a:rPr i="0" sz="1200" b="0">
                <a:solidFill>
                  <a:srgbClr val="09090B"/>
                </a:solidFill>
                <a:latin typeface="Calibri"/>
              </a:rPr>
              <a:t>20</a:t>
            </a:r>
          </a:p>
        </p:txBody>
      </p:sp>
      <p:sp>
        <p:nvSpPr>
          <p:cNvPr id="10" name="TextBox 9"/>
          <p:cNvSpPr txBox="1"/>
          <p:nvPr/>
        </p:nvSpPr>
        <p:spPr>
          <a:xfrm>
            <a:off x="1524000" y="6159500"/>
            <a:ext cx="177800" cy="152400"/>
          </a:xfrm>
          <a:prstGeom prst="rect">
            <a:avLst/>
          </a:prstGeom>
          <a:noFill/>
        </p:spPr>
        <p:txBody>
          <a:bodyPr wrap="none" lIns="0" rIns="0" tIns="0" bIns="0">
            <a:spAutoFit/>
          </a:bodyPr>
          <a:lstStyle/>
          <a:p>
            <a:pPr algn="l">
              <a:defRPr i="0" sz="1200" b="0">
                <a:solidFill>
                  <a:srgbClr val="09090B"/>
                </a:solidFill>
                <a:latin typeface="Calibri"/>
              </a:defRPr>
            </a:pPr>
            <a:r>
              <a:rPr i="0" sz="1200" b="0">
                <a:solidFill>
                  <a:srgbClr val="09090B"/>
                </a:solidFill>
                <a:latin typeface="Calibri"/>
              </a:rPr>
              <a:t>40</a:t>
            </a:r>
          </a:p>
        </p:txBody>
      </p:sp>
      <p:sp>
        <p:nvSpPr>
          <p:cNvPr id="11" name="TextBox 10"/>
          <p:cNvSpPr txBox="1"/>
          <p:nvPr/>
        </p:nvSpPr>
        <p:spPr>
          <a:xfrm>
            <a:off x="1524000" y="5448300"/>
            <a:ext cx="177800" cy="152400"/>
          </a:xfrm>
          <a:prstGeom prst="rect">
            <a:avLst/>
          </a:prstGeom>
          <a:noFill/>
        </p:spPr>
        <p:txBody>
          <a:bodyPr wrap="none" lIns="0" rIns="0" tIns="0" bIns="0">
            <a:spAutoFit/>
          </a:bodyPr>
          <a:lstStyle/>
          <a:p>
            <a:pPr algn="l">
              <a:defRPr i="0" sz="1200" b="0">
                <a:solidFill>
                  <a:srgbClr val="09090B"/>
                </a:solidFill>
                <a:latin typeface="Calibri"/>
              </a:defRPr>
            </a:pPr>
            <a:r>
              <a:rPr i="0" sz="1200" b="0">
                <a:solidFill>
                  <a:srgbClr val="09090B"/>
                </a:solidFill>
                <a:latin typeface="Calibri"/>
              </a:rPr>
              <a:t>60</a:t>
            </a:r>
          </a:p>
        </p:txBody>
      </p:sp>
      <p:sp>
        <p:nvSpPr>
          <p:cNvPr id="12" name="TextBox 11"/>
          <p:cNvSpPr txBox="1"/>
          <p:nvPr/>
        </p:nvSpPr>
        <p:spPr>
          <a:xfrm>
            <a:off x="1524000" y="4724400"/>
            <a:ext cx="177800" cy="152400"/>
          </a:xfrm>
          <a:prstGeom prst="rect">
            <a:avLst/>
          </a:prstGeom>
          <a:noFill/>
        </p:spPr>
        <p:txBody>
          <a:bodyPr wrap="none" lIns="0" rIns="0" tIns="0" bIns="0">
            <a:spAutoFit/>
          </a:bodyPr>
          <a:lstStyle/>
          <a:p>
            <a:pPr algn="l">
              <a:defRPr i="0" sz="1200" b="0">
                <a:solidFill>
                  <a:srgbClr val="09090B"/>
                </a:solidFill>
                <a:latin typeface="Calibri"/>
              </a:defRPr>
            </a:pPr>
            <a:r>
              <a:rPr i="0" sz="1200" b="0">
                <a:solidFill>
                  <a:srgbClr val="09090B"/>
                </a:solidFill>
                <a:latin typeface="Calibri"/>
              </a:rPr>
              <a:t>80</a:t>
            </a:r>
          </a:p>
        </p:txBody>
      </p:sp>
      <p:sp>
        <p:nvSpPr>
          <p:cNvPr id="13" name="TextBox 12"/>
          <p:cNvSpPr txBox="1"/>
          <p:nvPr/>
        </p:nvSpPr>
        <p:spPr>
          <a:xfrm>
            <a:off x="1447800" y="4013200"/>
            <a:ext cx="254000" cy="152400"/>
          </a:xfrm>
          <a:prstGeom prst="rect">
            <a:avLst/>
          </a:prstGeom>
          <a:noFill/>
        </p:spPr>
        <p:txBody>
          <a:bodyPr wrap="none" lIns="0" rIns="0" tIns="0" bIns="0">
            <a:spAutoFit/>
          </a:bodyPr>
          <a:lstStyle/>
          <a:p>
            <a:pPr algn="l">
              <a:defRPr i="0" sz="1200" b="0">
                <a:solidFill>
                  <a:srgbClr val="09090B"/>
                </a:solidFill>
                <a:latin typeface="Calibri"/>
              </a:defRPr>
            </a:pPr>
            <a:r>
              <a:rPr i="0" sz="1200" b="0">
                <a:solidFill>
                  <a:srgbClr val="09090B"/>
                </a:solidFill>
                <a:latin typeface="Calibri"/>
              </a:rPr>
              <a:t>100</a:t>
            </a:r>
          </a:p>
        </p:txBody>
      </p:sp>
      <p:sp>
        <p:nvSpPr>
          <p:cNvPr id="14" name="Rounded Rectangle 13"/>
          <p:cNvSpPr/>
          <p:nvPr/>
        </p:nvSpPr>
        <p:spPr>
          <a:xfrm>
            <a:off x="1778000" y="3708400"/>
            <a:ext cx="279400" cy="279400"/>
          </a:xfrm>
          <a:prstGeom prst="roundRect">
            <a:avLst>
              <a:gd name="adj" fmla="val 9090"/>
            </a:avLst>
          </a:prstGeom>
          <a:solidFill>
            <a:srgbClr val="FFFFFF"/>
          </a:solidFill>
          <a:ln w="12700">
            <a:solidFill>
              <a:srgbClr val="CCCCCC"/>
            </a:solid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5" name="Rounded Rectangle 14"/>
          <p:cNvSpPr/>
          <p:nvPr/>
        </p:nvSpPr>
        <p:spPr>
          <a:xfrm>
            <a:off x="11036300" y="406400"/>
            <a:ext cx="4711700" cy="1600200"/>
          </a:xfrm>
          <a:prstGeom prst="roundRect">
            <a:avLst>
              <a:gd name="adj" fmla="val 15873"/>
            </a:avLst>
          </a:prstGeom>
          <a:solidFill>
            <a:srgbClr val="082654"/>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Rounded Rectangle 15"/>
          <p:cNvSpPr/>
          <p:nvPr/>
        </p:nvSpPr>
        <p:spPr>
          <a:xfrm>
            <a:off x="11341100" y="711200"/>
            <a:ext cx="457200" cy="457200"/>
          </a:xfrm>
          <a:prstGeom prst="roundRect">
            <a:avLst>
              <a:gd name="adj" fmla="val 50000"/>
            </a:avLst>
          </a:prstGeom>
          <a:solidFill>
            <a:srgbClr val="FFFFFF">
              <a:alpha val="20000"/>
            </a:srgbClr>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TextBox 16"/>
          <p:cNvSpPr txBox="1"/>
          <p:nvPr/>
        </p:nvSpPr>
        <p:spPr>
          <a:xfrm>
            <a:off x="12001500" y="711200"/>
            <a:ext cx="3467100" cy="330200"/>
          </a:xfrm>
          <a:prstGeom prst="rect">
            <a:avLst/>
          </a:prstGeom>
          <a:noFill/>
        </p:spPr>
        <p:txBody>
          <a:bodyPr wrap="square" lIns="0" rIns="0" tIns="0" bIns="0">
            <a:spAutoFit/>
          </a:bodyPr>
          <a:lstStyle/>
          <a:p>
            <a:pPr algn="l">
              <a:defRPr i="0" sz="2200" b="1">
                <a:solidFill>
                  <a:srgbClr val="FFFFFF"/>
                </a:solidFill>
                <a:latin typeface="Inter"/>
              </a:defRPr>
            </a:pPr>
            <a:r>
              <a:rPr i="0" sz="2200" b="1">
                <a:solidFill>
                  <a:srgbClr val="FFFFFF"/>
                </a:solidFill>
                <a:latin typeface="Inter"/>
              </a:rPr>
              <a:t>Seamless Integration</a:t>
            </a:r>
          </a:p>
        </p:txBody>
      </p:sp>
      <p:sp>
        <p:nvSpPr>
          <p:cNvPr id="18" name="TextBox 17"/>
          <p:cNvSpPr txBox="1"/>
          <p:nvPr/>
        </p:nvSpPr>
        <p:spPr>
          <a:xfrm>
            <a:off x="12001500" y="1143000"/>
            <a:ext cx="3467100" cy="558800"/>
          </a:xfrm>
          <a:prstGeom prst="rect">
            <a:avLst/>
          </a:prstGeom>
          <a:noFill/>
        </p:spPr>
        <p:txBody>
          <a:bodyPr wrap="square" lIns="0" rIns="0" tIns="0" bIns="0">
            <a:spAutoFit/>
          </a:bodyPr>
          <a:lstStyle/>
          <a:p>
            <a:pPr algn="l">
              <a:defRPr i="0" sz="1500" b="0">
                <a:solidFill>
                  <a:srgbClr val="FFFFFF"/>
                </a:solidFill>
                <a:latin typeface="Calibri"/>
              </a:defRPr>
            </a:pPr>
            <a:r>
              <a:rPr i="0" sz="1500" b="0">
                <a:solidFill>
                  <a:srgbClr val="FFFFFF"/>
                </a:solidFill>
                <a:latin typeface="Calibri"/>
              </a:rPr>
              <a:t>Works with existing switches, gateways, and security appliances.</a:t>
            </a:r>
          </a:p>
        </p:txBody>
      </p:sp>
      <p:sp>
        <p:nvSpPr>
          <p:cNvPr id="19" name="Rounded Rectangle 18"/>
          <p:cNvSpPr/>
          <p:nvPr/>
        </p:nvSpPr>
        <p:spPr>
          <a:xfrm>
            <a:off x="11036300" y="2311400"/>
            <a:ext cx="4711700" cy="1600200"/>
          </a:xfrm>
          <a:prstGeom prst="roundRect">
            <a:avLst>
              <a:gd name="adj" fmla="val 15873"/>
            </a:avLst>
          </a:prstGeom>
          <a:solidFill>
            <a:srgbClr val="082654"/>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Rounded Rectangle 19"/>
          <p:cNvSpPr/>
          <p:nvPr/>
        </p:nvSpPr>
        <p:spPr>
          <a:xfrm>
            <a:off x="11341100" y="2616200"/>
            <a:ext cx="457200" cy="457200"/>
          </a:xfrm>
          <a:prstGeom prst="roundRect">
            <a:avLst>
              <a:gd name="adj" fmla="val 50000"/>
            </a:avLst>
          </a:prstGeom>
          <a:solidFill>
            <a:srgbClr val="FFFFFF">
              <a:alpha val="20000"/>
            </a:srgbClr>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TextBox 20"/>
          <p:cNvSpPr txBox="1"/>
          <p:nvPr/>
        </p:nvSpPr>
        <p:spPr>
          <a:xfrm>
            <a:off x="12001500" y="2616200"/>
            <a:ext cx="3467100" cy="330200"/>
          </a:xfrm>
          <a:prstGeom prst="rect">
            <a:avLst/>
          </a:prstGeom>
          <a:noFill/>
        </p:spPr>
        <p:txBody>
          <a:bodyPr wrap="square" lIns="0" rIns="0" tIns="0" bIns="0">
            <a:spAutoFit/>
          </a:bodyPr>
          <a:lstStyle/>
          <a:p>
            <a:pPr algn="l">
              <a:defRPr i="0" sz="2200" b="1">
                <a:solidFill>
                  <a:srgbClr val="FFFFFF"/>
                </a:solidFill>
                <a:latin typeface="Inter"/>
              </a:defRPr>
            </a:pPr>
            <a:r>
              <a:rPr i="0" sz="2200" b="1">
                <a:solidFill>
                  <a:srgbClr val="FFFFFF"/>
                </a:solidFill>
                <a:latin typeface="Inter"/>
              </a:rPr>
              <a:t>Multiple Deployments</a:t>
            </a:r>
          </a:p>
        </p:txBody>
      </p:sp>
      <p:sp>
        <p:nvSpPr>
          <p:cNvPr id="22" name="TextBox 21"/>
          <p:cNvSpPr txBox="1"/>
          <p:nvPr/>
        </p:nvSpPr>
        <p:spPr>
          <a:xfrm>
            <a:off x="12001500" y="3048000"/>
            <a:ext cx="3467100" cy="558800"/>
          </a:xfrm>
          <a:prstGeom prst="rect">
            <a:avLst/>
          </a:prstGeom>
          <a:noFill/>
        </p:spPr>
        <p:txBody>
          <a:bodyPr wrap="square" lIns="0" rIns="0" tIns="0" bIns="0">
            <a:spAutoFit/>
          </a:bodyPr>
          <a:lstStyle/>
          <a:p>
            <a:pPr algn="l">
              <a:defRPr i="0" sz="1500" b="0">
                <a:solidFill>
                  <a:srgbClr val="FFFFFF"/>
                </a:solidFill>
                <a:latin typeface="Calibri"/>
              </a:defRPr>
            </a:pPr>
            <a:r>
              <a:rPr i="0" sz="1500" b="0">
                <a:solidFill>
                  <a:srgbClr val="FFFFFF"/>
                </a:solidFill>
                <a:latin typeface="Calibri"/>
              </a:rPr>
              <a:t>Supports on-premises, hybrid, and cloud set-ups.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17600" y="711200"/>
            <a:ext cx="14046200" cy="787400"/>
          </a:xfrm>
          <a:prstGeom prst="rect">
            <a:avLst/>
          </a:prstGeom>
          <a:noFill/>
        </p:spPr>
        <p:txBody>
          <a:bodyPr wrap="square" lIns="0" rIns="0" tIns="0" bIns="0">
            <a:spAutoFit/>
          </a:bodyPr>
          <a:lstStyle/>
          <a:p>
            <a:pPr algn="l">
              <a:lnSpc>
                <a:spcPct val="80000"/>
              </a:lnSpc>
              <a:defRPr i="0" sz="5600" b="1">
                <a:solidFill>
                  <a:srgbClr val="0A2A66"/>
                </a:solidFill>
                <a:latin typeface="Open Sans"/>
              </a:defRPr>
            </a:pPr>
            <a:r>
              <a:rPr i="0" sz="5600" b="1">
                <a:solidFill>
                  <a:srgbClr val="0A2A66"/>
                </a:solidFill>
                <a:latin typeface="Open Sans"/>
              </a:rPr>
              <a:t>Best Practices &amp; Key Recommendations</a:t>
            </a:r>
          </a:p>
        </p:txBody>
      </p:sp>
      <p:sp>
        <p:nvSpPr>
          <p:cNvPr id="3" name="TextBox 2"/>
          <p:cNvSpPr txBox="1"/>
          <p:nvPr/>
        </p:nvSpPr>
        <p:spPr>
          <a:xfrm>
            <a:off x="1117600" y="1803400"/>
            <a:ext cx="342900" cy="558800"/>
          </a:xfrm>
          <a:prstGeom prst="rect">
            <a:avLst/>
          </a:prstGeom>
          <a:noFill/>
        </p:spPr>
        <p:txBody>
          <a:bodyPr wrap="square" lIns="0" rIns="0" tIns="0" bIns="0">
            <a:spAutoFit/>
          </a:bodyPr>
          <a:lstStyle/>
          <a:p>
            <a:pPr algn="l">
              <a:lnSpc>
                <a:spcPct val="70000"/>
              </a:lnSpc>
              <a:defRPr i="0" sz="4400" b="1">
                <a:solidFill>
                  <a:srgbClr val="0A2A66"/>
                </a:solidFill>
                <a:latin typeface="Open Sans"/>
              </a:defRPr>
            </a:pPr>
            <a:r>
              <a:rPr i="0" sz="4400" b="1">
                <a:solidFill>
                  <a:srgbClr val="0A2A66"/>
                </a:solidFill>
                <a:latin typeface="Open Sans"/>
              </a:rPr>
              <a:t>1</a:t>
            </a:r>
          </a:p>
        </p:txBody>
      </p:sp>
      <p:sp>
        <p:nvSpPr>
          <p:cNvPr id="4" name="TextBox 3"/>
          <p:cNvSpPr txBox="1"/>
          <p:nvPr/>
        </p:nvSpPr>
        <p:spPr>
          <a:xfrm>
            <a:off x="1892300" y="1803400"/>
            <a:ext cx="5448300" cy="381000"/>
          </a:xfrm>
          <a:prstGeom prst="rect">
            <a:avLst/>
          </a:prstGeom>
          <a:noFill/>
        </p:spPr>
        <p:txBody>
          <a:bodyPr wrap="square" lIns="0" rIns="0" tIns="0" bIns="0">
            <a:spAutoFit/>
          </a:bodyPr>
          <a:lstStyle/>
          <a:p>
            <a:pPr algn="l">
              <a:lnSpc>
                <a:spcPct val="95000"/>
              </a:lnSpc>
              <a:defRPr i="0" sz="2400" b="1">
                <a:solidFill>
                  <a:srgbClr val="0A2A66"/>
                </a:solidFill>
                <a:latin typeface="Open Sans"/>
              </a:defRPr>
            </a:pPr>
            <a:r>
              <a:rPr i="0" sz="2400" b="1">
                <a:solidFill>
                  <a:srgbClr val="0A2A66"/>
                </a:solidFill>
                <a:latin typeface="Open Sans"/>
              </a:rPr>
              <a:t>Map Processes &amp; Segmentation</a:t>
            </a:r>
          </a:p>
        </p:txBody>
      </p:sp>
      <p:sp>
        <p:nvSpPr>
          <p:cNvPr id="5" name="TextBox 4"/>
          <p:cNvSpPr txBox="1"/>
          <p:nvPr/>
        </p:nvSpPr>
        <p:spPr>
          <a:xfrm>
            <a:off x="1892300" y="2336800"/>
            <a:ext cx="5448300" cy="647700"/>
          </a:xfrm>
          <a:prstGeom prst="rect">
            <a:avLst/>
          </a:prstGeom>
          <a:noFill/>
        </p:spPr>
        <p:txBody>
          <a:bodyPr wrap="square" lIns="0" rIns="0" tIns="0" bIns="0">
            <a:spAutoFit/>
          </a:bodyPr>
          <a:lstStyle/>
          <a:p>
            <a:pPr algn="l">
              <a:defRPr i="0" sz="1600" b="0">
                <a:solidFill>
                  <a:srgbClr val="25344A"/>
                </a:solidFill>
                <a:latin typeface="Open Sans"/>
              </a:defRPr>
            </a:pPr>
            <a:r>
              <a:rPr i="0" sz="1600" b="0">
                <a:solidFill>
                  <a:srgbClr val="25344A"/>
                </a:solidFill>
                <a:latin typeface="Open Sans"/>
              </a:rPr>
              <a:t>Align business processes with segmentation zones to protect sensitive assets and data flows.</a:t>
            </a:r>
          </a:p>
        </p:txBody>
      </p:sp>
      <p:sp>
        <p:nvSpPr>
          <p:cNvPr id="6" name="TextBox 5"/>
          <p:cNvSpPr txBox="1"/>
          <p:nvPr/>
        </p:nvSpPr>
        <p:spPr>
          <a:xfrm>
            <a:off x="8940800" y="1803400"/>
            <a:ext cx="342900" cy="558800"/>
          </a:xfrm>
          <a:prstGeom prst="rect">
            <a:avLst/>
          </a:prstGeom>
          <a:noFill/>
        </p:spPr>
        <p:txBody>
          <a:bodyPr wrap="square" lIns="0" rIns="0" tIns="0" bIns="0">
            <a:spAutoFit/>
          </a:bodyPr>
          <a:lstStyle/>
          <a:p>
            <a:pPr algn="l">
              <a:lnSpc>
                <a:spcPct val="70000"/>
              </a:lnSpc>
              <a:defRPr i="0" sz="4400" b="1">
                <a:solidFill>
                  <a:srgbClr val="0A2A66"/>
                </a:solidFill>
                <a:latin typeface="Open Sans"/>
              </a:defRPr>
            </a:pPr>
            <a:r>
              <a:rPr i="0" sz="4400" b="1">
                <a:solidFill>
                  <a:srgbClr val="0A2A66"/>
                </a:solidFill>
                <a:latin typeface="Open Sans"/>
              </a:rPr>
              <a:t>2</a:t>
            </a:r>
          </a:p>
        </p:txBody>
      </p:sp>
      <p:sp>
        <p:nvSpPr>
          <p:cNvPr id="7" name="TextBox 6"/>
          <p:cNvSpPr txBox="1"/>
          <p:nvPr/>
        </p:nvSpPr>
        <p:spPr>
          <a:xfrm>
            <a:off x="9715500" y="1803400"/>
            <a:ext cx="5448300" cy="381000"/>
          </a:xfrm>
          <a:prstGeom prst="rect">
            <a:avLst/>
          </a:prstGeom>
          <a:noFill/>
        </p:spPr>
        <p:txBody>
          <a:bodyPr wrap="square" lIns="0" rIns="0" tIns="0" bIns="0">
            <a:spAutoFit/>
          </a:bodyPr>
          <a:lstStyle/>
          <a:p>
            <a:pPr algn="l">
              <a:lnSpc>
                <a:spcPct val="95000"/>
              </a:lnSpc>
              <a:defRPr i="0" sz="2400" b="1">
                <a:solidFill>
                  <a:srgbClr val="0A2A66"/>
                </a:solidFill>
                <a:latin typeface="Open Sans"/>
              </a:defRPr>
            </a:pPr>
            <a:r>
              <a:rPr i="0" sz="2400" b="1">
                <a:solidFill>
                  <a:srgbClr val="0A2A66"/>
                </a:solidFill>
                <a:latin typeface="Open Sans"/>
              </a:rPr>
              <a:t>Risk-Based Policies</a:t>
            </a:r>
          </a:p>
        </p:txBody>
      </p:sp>
      <p:sp>
        <p:nvSpPr>
          <p:cNvPr id="8" name="TextBox 7"/>
          <p:cNvSpPr txBox="1"/>
          <p:nvPr/>
        </p:nvSpPr>
        <p:spPr>
          <a:xfrm>
            <a:off x="9715500" y="2336800"/>
            <a:ext cx="5448300" cy="647700"/>
          </a:xfrm>
          <a:prstGeom prst="rect">
            <a:avLst/>
          </a:prstGeom>
          <a:noFill/>
        </p:spPr>
        <p:txBody>
          <a:bodyPr wrap="square" lIns="0" rIns="0" tIns="0" bIns="0">
            <a:spAutoFit/>
          </a:bodyPr>
          <a:lstStyle/>
          <a:p>
            <a:pPr algn="l">
              <a:defRPr i="0" sz="1600" b="0">
                <a:solidFill>
                  <a:srgbClr val="25344A"/>
                </a:solidFill>
                <a:latin typeface="Open Sans"/>
              </a:defRPr>
            </a:pPr>
            <a:r>
              <a:rPr i="0" sz="1600" b="0">
                <a:solidFill>
                  <a:srgbClr val="25344A"/>
                </a:solidFill>
                <a:latin typeface="Open Sans"/>
              </a:rPr>
              <a:t>Establish control policies that focus on assets with the highest value or risk within the environment.</a:t>
            </a:r>
          </a:p>
        </p:txBody>
      </p:sp>
      <p:sp>
        <p:nvSpPr>
          <p:cNvPr id="9" name="TextBox 8"/>
          <p:cNvSpPr txBox="1"/>
          <p:nvPr/>
        </p:nvSpPr>
        <p:spPr>
          <a:xfrm>
            <a:off x="1117600" y="3797300"/>
            <a:ext cx="342900" cy="558800"/>
          </a:xfrm>
          <a:prstGeom prst="rect">
            <a:avLst/>
          </a:prstGeom>
          <a:noFill/>
        </p:spPr>
        <p:txBody>
          <a:bodyPr wrap="square" lIns="0" rIns="0" tIns="0" bIns="0">
            <a:spAutoFit/>
          </a:bodyPr>
          <a:lstStyle/>
          <a:p>
            <a:pPr algn="l">
              <a:lnSpc>
                <a:spcPct val="70000"/>
              </a:lnSpc>
              <a:defRPr i="0" sz="4400" b="1">
                <a:solidFill>
                  <a:srgbClr val="0A2A66"/>
                </a:solidFill>
                <a:latin typeface="Open Sans"/>
              </a:defRPr>
            </a:pPr>
            <a:r>
              <a:rPr i="0" sz="4400" b="1">
                <a:solidFill>
                  <a:srgbClr val="0A2A66"/>
                </a:solidFill>
                <a:latin typeface="Open Sans"/>
              </a:rPr>
              <a:t>3</a:t>
            </a:r>
          </a:p>
        </p:txBody>
      </p:sp>
      <p:sp>
        <p:nvSpPr>
          <p:cNvPr id="10" name="TextBox 9"/>
          <p:cNvSpPr txBox="1"/>
          <p:nvPr/>
        </p:nvSpPr>
        <p:spPr>
          <a:xfrm>
            <a:off x="1892300" y="3797300"/>
            <a:ext cx="5448300" cy="381000"/>
          </a:xfrm>
          <a:prstGeom prst="rect">
            <a:avLst/>
          </a:prstGeom>
          <a:noFill/>
        </p:spPr>
        <p:txBody>
          <a:bodyPr wrap="square" lIns="0" rIns="0" tIns="0" bIns="0">
            <a:spAutoFit/>
          </a:bodyPr>
          <a:lstStyle/>
          <a:p>
            <a:pPr algn="l">
              <a:lnSpc>
                <a:spcPct val="95000"/>
              </a:lnSpc>
              <a:defRPr i="0" sz="2400" b="1">
                <a:solidFill>
                  <a:srgbClr val="0A2A66"/>
                </a:solidFill>
                <a:latin typeface="Open Sans"/>
              </a:defRPr>
            </a:pPr>
            <a:r>
              <a:rPr i="0" sz="2400" b="1">
                <a:solidFill>
                  <a:srgbClr val="0A2A66"/>
                </a:solidFill>
                <a:latin typeface="Open Sans"/>
              </a:rPr>
              <a:t>Adaptive Access Control</a:t>
            </a:r>
          </a:p>
        </p:txBody>
      </p:sp>
      <p:sp>
        <p:nvSpPr>
          <p:cNvPr id="11" name="TextBox 10"/>
          <p:cNvSpPr txBox="1"/>
          <p:nvPr/>
        </p:nvSpPr>
        <p:spPr>
          <a:xfrm>
            <a:off x="1892300" y="4330700"/>
            <a:ext cx="5448300" cy="647700"/>
          </a:xfrm>
          <a:prstGeom prst="rect">
            <a:avLst/>
          </a:prstGeom>
          <a:noFill/>
        </p:spPr>
        <p:txBody>
          <a:bodyPr wrap="square" lIns="0" rIns="0" tIns="0" bIns="0">
            <a:spAutoFit/>
          </a:bodyPr>
          <a:lstStyle/>
          <a:p>
            <a:pPr algn="l">
              <a:defRPr i="0" sz="1600" b="0">
                <a:solidFill>
                  <a:srgbClr val="25344A"/>
                </a:solidFill>
                <a:latin typeface="Open Sans"/>
              </a:defRPr>
            </a:pPr>
            <a:r>
              <a:rPr i="0" sz="1600" b="0">
                <a:solidFill>
                  <a:srgbClr val="25344A"/>
                </a:solidFill>
                <a:latin typeface="Open Sans"/>
              </a:rPr>
              <a:t>Implement context-aware mechanisms for access that respond dynamically to changing risk factors.</a:t>
            </a:r>
          </a:p>
        </p:txBody>
      </p:sp>
      <p:sp>
        <p:nvSpPr>
          <p:cNvPr id="12" name="TextBox 11"/>
          <p:cNvSpPr txBox="1"/>
          <p:nvPr/>
        </p:nvSpPr>
        <p:spPr>
          <a:xfrm>
            <a:off x="8940800" y="3797300"/>
            <a:ext cx="342900" cy="558800"/>
          </a:xfrm>
          <a:prstGeom prst="rect">
            <a:avLst/>
          </a:prstGeom>
          <a:noFill/>
        </p:spPr>
        <p:txBody>
          <a:bodyPr wrap="square" lIns="0" rIns="0" tIns="0" bIns="0">
            <a:spAutoFit/>
          </a:bodyPr>
          <a:lstStyle/>
          <a:p>
            <a:pPr algn="l">
              <a:lnSpc>
                <a:spcPct val="70000"/>
              </a:lnSpc>
              <a:defRPr i="0" sz="4400" b="1">
                <a:solidFill>
                  <a:srgbClr val="0A2A66"/>
                </a:solidFill>
                <a:latin typeface="Open Sans"/>
              </a:defRPr>
            </a:pPr>
            <a:r>
              <a:rPr i="0" sz="4400" b="1">
                <a:solidFill>
                  <a:srgbClr val="0A2A66"/>
                </a:solidFill>
                <a:latin typeface="Open Sans"/>
              </a:rPr>
              <a:t>4</a:t>
            </a:r>
          </a:p>
        </p:txBody>
      </p:sp>
      <p:sp>
        <p:nvSpPr>
          <p:cNvPr id="13" name="TextBox 12"/>
          <p:cNvSpPr txBox="1"/>
          <p:nvPr/>
        </p:nvSpPr>
        <p:spPr>
          <a:xfrm>
            <a:off x="9715500" y="3797300"/>
            <a:ext cx="5448300" cy="381000"/>
          </a:xfrm>
          <a:prstGeom prst="rect">
            <a:avLst/>
          </a:prstGeom>
          <a:noFill/>
        </p:spPr>
        <p:txBody>
          <a:bodyPr wrap="square" lIns="0" rIns="0" tIns="0" bIns="0">
            <a:spAutoFit/>
          </a:bodyPr>
          <a:lstStyle/>
          <a:p>
            <a:pPr algn="l">
              <a:lnSpc>
                <a:spcPct val="95000"/>
              </a:lnSpc>
              <a:defRPr i="0" sz="2400" b="1">
                <a:solidFill>
                  <a:srgbClr val="0A2A66"/>
                </a:solidFill>
                <a:latin typeface="Open Sans"/>
              </a:defRPr>
            </a:pPr>
            <a:r>
              <a:rPr i="0" sz="2400" b="1">
                <a:solidFill>
                  <a:srgbClr val="0A2A66"/>
                </a:solidFill>
                <a:latin typeface="Open Sans"/>
              </a:rPr>
              <a:t>Automation &amp; Continuous Review</a:t>
            </a:r>
          </a:p>
        </p:txBody>
      </p:sp>
      <p:sp>
        <p:nvSpPr>
          <p:cNvPr id="14" name="TextBox 13"/>
          <p:cNvSpPr txBox="1"/>
          <p:nvPr/>
        </p:nvSpPr>
        <p:spPr>
          <a:xfrm>
            <a:off x="9715500" y="4330700"/>
            <a:ext cx="5448300" cy="647700"/>
          </a:xfrm>
          <a:prstGeom prst="rect">
            <a:avLst/>
          </a:prstGeom>
          <a:noFill/>
        </p:spPr>
        <p:txBody>
          <a:bodyPr wrap="square" lIns="0" rIns="0" tIns="0" bIns="0">
            <a:spAutoFit/>
          </a:bodyPr>
          <a:lstStyle/>
          <a:p>
            <a:pPr algn="l">
              <a:defRPr i="0" sz="1600" b="0">
                <a:solidFill>
                  <a:srgbClr val="25344A"/>
                </a:solidFill>
                <a:latin typeface="Open Sans"/>
              </a:defRPr>
            </a:pPr>
            <a:r>
              <a:rPr i="0" sz="1600" b="0">
                <a:solidFill>
                  <a:srgbClr val="25344A"/>
                </a:solidFill>
                <a:latin typeface="Open Sans"/>
              </a:rPr>
              <a:t>Deploy automated threat detection tools and review controls periodically to ensure constant risk mitigation.</a:t>
            </a:r>
          </a:p>
        </p:txBody>
      </p:sp>
      <p:sp>
        <p:nvSpPr>
          <p:cNvPr id="15" name="Rounded Rectangle 14"/>
          <p:cNvSpPr/>
          <p:nvPr/>
        </p:nvSpPr>
        <p:spPr>
          <a:xfrm>
            <a:off x="1117600" y="5689600"/>
            <a:ext cx="14020800" cy="609600"/>
          </a:xfrm>
          <a:prstGeom prst="roundRect">
            <a:avLst>
              <a:gd name="adj" fmla="val 12500"/>
            </a:avLst>
          </a:prstGeom>
          <a:solidFill>
            <a:srgbClr val="FFFF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1270000" y="5842000"/>
            <a:ext cx="13741400" cy="304800"/>
          </a:xfrm>
          <a:prstGeom prst="rect">
            <a:avLst/>
          </a:prstGeom>
          <a:noFill/>
        </p:spPr>
        <p:txBody>
          <a:bodyPr wrap="square" lIns="0" rIns="0" tIns="0" bIns="0">
            <a:spAutoFit/>
          </a:bodyPr>
          <a:lstStyle/>
          <a:p>
            <a:pPr algn="l">
              <a:defRPr i="0" sz="1600" b="0">
                <a:solidFill>
                  <a:srgbClr val="09090B"/>
                </a:solidFill>
                <a:latin typeface="Open Sans"/>
              </a:defRPr>
            </a:pPr>
            <a:r>
              <a:rPr i="0" sz="1600" b="0">
                <a:solidFill>
                  <a:srgbClr val="09090B"/>
                </a:solidFill>
                <a:latin typeface="Open Sans"/>
              </a:rPr>
              <a:t>graph TD; A[Start]--&gt;B{Choice}; B--&gt;C[Path 1]; B--&gt;D[Path 2];</a:t>
            </a:r>
          </a:p>
        </p:txBody>
      </p:sp>
      <p:pic>
        <p:nvPicPr>
          <p:cNvPr id="17" name="Picture 16" descr="1be63d40-00ad-44e6-91de-df585866809b.png"/>
          <p:cNvPicPr>
            <a:picLocks noChangeAspect="1"/>
          </p:cNvPicPr>
          <p:nvPr/>
        </p:nvPicPr>
        <p:blipFill>
          <a:blip r:embed="rId3"/>
          <a:stretch>
            <a:fillRect/>
          </a:stretch>
        </p:blipFill>
        <p:spPr>
          <a:xfrm>
            <a:off x="0" y="6858000"/>
            <a:ext cx="16256000" cy="2286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