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divides a network into multiple zones based on trust and security requirements. This limits unauthorized access and curbs lateral movement by attackers. Implementing defined boundaries enhances security monitoring and simplifies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provides an overview of the topics covered, starting with an introduction and the need for zone segmentation. It outlines solution portfolios across key network areas, highlights features, and summarizes use cases, as well as integration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divides network infrastructures into isolated zones, reducing the risk of cyberattacks and enabling organizations to respond to threats more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segmentation is critical as lateral movement of threats inside networks is rising, with 60% of organizations impacted last year. Increasing network complexity from trends like IoT and remote work makes traditional perimeter defenses insufficient. Segmenting zones helps limit attack spread internally and supports better security controls.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portfolio addresses unique segmentation requirements across the data center, campus, and branch. Over 70% of large enterprises are considering network segmentation for enhanced security. Each environment leverages specialized tools for robust protection.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overview covers essential capabilities: policy-based segmentation for strict traffic controls, context-aware enforcement that adapts to users and devices, integration with threat response tools for rapid containment, and real-time monitoring. The solution is flexible and scalable, fitting data centers and hybrid cloud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how ACI RTC strengthens zone segmentation and security in data centers using Cisco ACI, supporting dynamic threats and workload isolation while notably reducing lateral threat movement.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how campus zone segmentation with Cisco FTD and ISE improves security, enforces isolation for guest and IoT traffic, and delivers measurable incident reduction based on real-world outcomes.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how context-aware zone segmentation customizes network security in branches by leveraging user, device, and application data, reduces management overhead, ensures policy consistency, and is widely used among retail and financial institutions.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four key use cases for network segmentation. Data centers leverage segmentation to protect critical assets. Campuses implement distinct zones for IT, guest, and IoT traffic. Branch offices focus on regulatory compliance by securing POS systems. Finally, segmentation accelerates incident response, allowing for swift ransomware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ensures seamless integration with varied environments, supporting all deployment models. Scalability is built-in for organizations of any size, and automation significantly reduces manual management workloads.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most effective ways to implement secure network environments: segment networks according to risk, designate zones for business needs, enforce adaptive policies, and automate using analytics and orchestration tools.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2200" y="1879600"/>
            <a:ext cx="8153400" cy="4483100"/>
          </a:xfrm>
          <a:prstGeom prst="rect">
            <a:avLst/>
          </a:prstGeom>
          <a:noFill/>
        </p:spPr>
        <p:txBody>
          <a:bodyPr wrap="square" lIns="0" rIns="0" tIns="0" bIns="0">
            <a:spAutoFit/>
          </a:bodyPr>
          <a:lstStyle/>
          <a:p>
            <a:pPr algn="l">
              <a:lnSpc>
                <a:spcPct val="75000"/>
              </a:lnSpc>
              <a:defRPr i="0" sz="8400" b="1">
                <a:solidFill>
                  <a:srgbClr val="0B2A5C"/>
                </a:solidFill>
                <a:latin typeface="Source Sans Pro"/>
              </a:defRPr>
            </a:pPr>
            <a:r>
              <a:rPr i="0" sz="8400" b="1">
                <a:solidFill>
                  <a:srgbClr val="0B2A5C"/>
                </a:solidFill>
                <a:latin typeface="Source Sans Pro"/>
              </a:rPr>
              <a:t>Zone Segmentation: Modern Network Security</a:t>
            </a:r>
          </a:p>
        </p:txBody>
      </p:sp>
      <p:sp>
        <p:nvSpPr>
          <p:cNvPr id="3" name="TextBox 2"/>
          <p:cNvSpPr txBox="1"/>
          <p:nvPr/>
        </p:nvSpPr>
        <p:spPr>
          <a:xfrm>
            <a:off x="1092200" y="6769100"/>
            <a:ext cx="8153400" cy="711200"/>
          </a:xfrm>
          <a:prstGeom prst="rect">
            <a:avLst/>
          </a:prstGeom>
          <a:noFill/>
        </p:spPr>
        <p:txBody>
          <a:bodyPr wrap="square" lIns="0" rIns="0" tIns="0" bIns="0">
            <a:spAutoFit/>
          </a:bodyPr>
          <a:lstStyle/>
          <a:p>
            <a:pPr algn="l">
              <a:defRPr i="0" sz="1800" b="0">
                <a:solidFill>
                  <a:srgbClr val="475569"/>
                </a:solidFill>
                <a:latin typeface="Source Sans Pro"/>
              </a:defRPr>
            </a:pPr>
            <a:r>
              <a:rPr i="0" sz="1800" b="0">
                <a:solidFill>
                  <a:srgbClr val="475569"/>
                </a:solidFill>
                <a:latin typeface="Source Sans Pro"/>
              </a:rPr>
              <a:t>Dividing networks into secure zones limits access, restricts lateral movement, and improves risk management for IT and security teams.</a:t>
            </a:r>
          </a:p>
        </p:txBody>
      </p:sp>
      <p:sp>
        <p:nvSpPr>
          <p:cNvPr id="4" name="Rounded Rectangle 3"/>
          <p:cNvSpPr/>
          <p:nvPr/>
        </p:nvSpPr>
        <p:spPr>
          <a:xfrm>
            <a:off x="1092200" y="7924800"/>
            <a:ext cx="711200" cy="711200"/>
          </a:xfrm>
          <a:prstGeom prst="roundRect">
            <a:avLst>
              <a:gd name="adj" fmla="val 50000"/>
            </a:avLst>
          </a:prstGeom>
          <a:solidFill>
            <a:srgbClr val="0B2A5C"/>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Source Sans Pro"/>
              </a:defRPr>
            </a:pPr>
            <a:r>
              <a:rPr i="0" sz="1800" b="1">
                <a:solidFill>
                  <a:srgbClr val="FFFFFF"/>
                </a:solidFill>
                <a:latin typeface="Source Sans Pro"/>
              </a:rPr>
              <a:t>IT</a:t>
            </a:r>
          </a:p>
        </p:txBody>
      </p:sp>
      <p:sp>
        <p:nvSpPr>
          <p:cNvPr id="5" name="TextBox 4"/>
          <p:cNvSpPr txBox="1"/>
          <p:nvPr/>
        </p:nvSpPr>
        <p:spPr>
          <a:xfrm>
            <a:off x="2057400" y="8026400"/>
            <a:ext cx="1549400" cy="292100"/>
          </a:xfrm>
          <a:prstGeom prst="rect">
            <a:avLst/>
          </a:prstGeom>
          <a:noFill/>
        </p:spPr>
        <p:txBody>
          <a:bodyPr wrap="square" lIns="0" rIns="0" tIns="0" bIns="0">
            <a:spAutoFit/>
          </a:bodyPr>
          <a:lstStyle/>
          <a:p>
            <a:pPr algn="l">
              <a:defRPr i="0" sz="1800" b="1">
                <a:solidFill>
                  <a:srgbClr val="0B2A5C"/>
                </a:solidFill>
                <a:latin typeface="Source Sans Pro"/>
              </a:defRPr>
            </a:pPr>
            <a:r>
              <a:rPr i="0" sz="1800" b="1">
                <a:solidFill>
                  <a:srgbClr val="0B2A5C"/>
                </a:solidFill>
                <a:latin typeface="Source Sans Pro"/>
              </a:rPr>
              <a:t>IT Security Lead</a:t>
            </a:r>
          </a:p>
        </p:txBody>
      </p:sp>
      <p:sp>
        <p:nvSpPr>
          <p:cNvPr id="6" name="TextBox 5"/>
          <p:cNvSpPr txBox="1"/>
          <p:nvPr/>
        </p:nvSpPr>
        <p:spPr>
          <a:xfrm>
            <a:off x="2057400" y="8318500"/>
            <a:ext cx="1549400" cy="228600"/>
          </a:xfrm>
          <a:prstGeom prst="rect">
            <a:avLst/>
          </a:prstGeom>
          <a:noFill/>
        </p:spPr>
        <p:txBody>
          <a:bodyPr wrap="square" lIns="0" rIns="0" tIns="0" bIns="0">
            <a:spAutoFit/>
          </a:bodyPr>
          <a:lstStyle/>
          <a:p>
            <a:pPr algn="l">
              <a:defRPr i="0" sz="1400" b="0">
                <a:solidFill>
                  <a:srgbClr val="334155"/>
                </a:solidFill>
                <a:latin typeface="Source Sans Pro"/>
              </a:defRPr>
            </a:pPr>
            <a:r>
              <a:rPr i="0" sz="1400" b="0">
                <a:solidFill>
                  <a:srgbClr val="334155"/>
                </a:solidFill>
                <a:latin typeface="Source Sans Pro"/>
              </a:rPr>
              <a:t>2026-01-12</a:t>
            </a:r>
          </a:p>
        </p:txBody>
      </p:sp>
      <p:pic>
        <p:nvPicPr>
          <p:cNvPr id="7" name="Picture 6" descr="fc682538-f846-42b3-8cca-aa679fbfea4b.png"/>
          <p:cNvPicPr>
            <a:picLocks noChangeAspect="1"/>
          </p:cNvPicPr>
          <p:nvPr/>
        </p:nvPicPr>
        <p:blipFill>
          <a:blip r:embed="rId3"/>
          <a:stretch>
            <a:fillRect/>
          </a:stretch>
        </p:blipFill>
        <p:spPr>
          <a:xfrm>
            <a:off x="10160000" y="0"/>
            <a:ext cx="6096000" cy="9144000"/>
          </a:xfrm>
          <a:prstGeom prst="rect">
            <a:avLst/>
          </a:prstGeom>
        </p:spPr>
      </p:pic>
      <p:sp>
        <p:nvSpPr>
          <p:cNvPr id="8" name="Rounded Rectangle 7"/>
          <p:cNvSpPr/>
          <p:nvPr/>
        </p:nvSpPr>
        <p:spPr>
          <a:xfrm>
            <a:off x="10160000" y="0"/>
            <a:ext cx="6096000" cy="9144000"/>
          </a:xfrm>
          <a:prstGeom prst="roundRect">
            <a:avLst>
              <a:gd name="adj" fmla="val 416"/>
            </a:avLst>
          </a:prstGeom>
          <a:solidFill>
            <a:srgbClr val="0B2A5C">
              <a:alpha val="6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Table of Contents</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993900"/>
            <a:ext cx="36068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Introduction to Zone Segmentation</a:t>
            </a:r>
          </a:p>
        </p:txBody>
      </p:sp>
      <p:sp>
        <p:nvSpPr>
          <p:cNvPr id="5" name="TextBox 4"/>
          <p:cNvSpPr txBox="1"/>
          <p:nvPr/>
        </p:nvSpPr>
        <p:spPr>
          <a:xfrm>
            <a:off x="7124700" y="2044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3</a:t>
            </a:r>
          </a:p>
        </p:txBody>
      </p:sp>
      <p:sp>
        <p:nvSpPr>
          <p:cNvPr id="6" name="Rounded Rectangle 5"/>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7" name="TextBox 6"/>
          <p:cNvSpPr txBox="1"/>
          <p:nvPr/>
        </p:nvSpPr>
        <p:spPr>
          <a:xfrm>
            <a:off x="1625600" y="3009900"/>
            <a:ext cx="34671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The Need for Zone Segmentation</a:t>
            </a:r>
          </a:p>
        </p:txBody>
      </p:sp>
      <p:sp>
        <p:nvSpPr>
          <p:cNvPr id="8" name="TextBox 7"/>
          <p:cNvSpPr txBox="1"/>
          <p:nvPr/>
        </p:nvSpPr>
        <p:spPr>
          <a:xfrm>
            <a:off x="7124700" y="3060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4</a:t>
            </a:r>
          </a:p>
        </p:txBody>
      </p:sp>
      <p:sp>
        <p:nvSpPr>
          <p:cNvPr id="9" name="Rounded Rectangle 8"/>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10" name="TextBox 9"/>
          <p:cNvSpPr txBox="1"/>
          <p:nvPr/>
        </p:nvSpPr>
        <p:spPr>
          <a:xfrm>
            <a:off x="1625600" y="4025900"/>
            <a:ext cx="28194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Solution Portfolio Overview</a:t>
            </a:r>
          </a:p>
        </p:txBody>
      </p:sp>
      <p:sp>
        <p:nvSpPr>
          <p:cNvPr id="11" name="TextBox 10"/>
          <p:cNvSpPr txBox="1"/>
          <p:nvPr/>
        </p:nvSpPr>
        <p:spPr>
          <a:xfrm>
            <a:off x="7124700" y="4076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5</a:t>
            </a:r>
          </a:p>
        </p:txBody>
      </p:sp>
      <p:sp>
        <p:nvSpPr>
          <p:cNvPr id="12" name="Rounded Rectangle 11"/>
          <p:cNvSpPr/>
          <p:nvPr/>
        </p:nvSpPr>
        <p:spPr>
          <a:xfrm>
            <a:off x="609600" y="4851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3" name="TextBox 12"/>
          <p:cNvSpPr txBox="1"/>
          <p:nvPr/>
        </p:nvSpPr>
        <p:spPr>
          <a:xfrm>
            <a:off x="1625600" y="5041900"/>
            <a:ext cx="28321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Key Features &amp; Capabilities</a:t>
            </a:r>
          </a:p>
        </p:txBody>
      </p:sp>
      <p:sp>
        <p:nvSpPr>
          <p:cNvPr id="14" name="TextBox 13"/>
          <p:cNvSpPr txBox="1"/>
          <p:nvPr/>
        </p:nvSpPr>
        <p:spPr>
          <a:xfrm>
            <a:off x="7124700" y="5092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6</a:t>
            </a:r>
          </a:p>
        </p:txBody>
      </p:sp>
      <p:sp>
        <p:nvSpPr>
          <p:cNvPr id="15" name="Rounded Rectangle 14"/>
          <p:cNvSpPr/>
          <p:nvPr/>
        </p:nvSpPr>
        <p:spPr>
          <a:xfrm>
            <a:off x="609600" y="5867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5</a:t>
            </a:r>
          </a:p>
        </p:txBody>
      </p:sp>
      <p:sp>
        <p:nvSpPr>
          <p:cNvPr id="16" name="TextBox 15"/>
          <p:cNvSpPr txBox="1"/>
          <p:nvPr/>
        </p:nvSpPr>
        <p:spPr>
          <a:xfrm>
            <a:off x="1625600" y="6057900"/>
            <a:ext cx="22606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Data Center: ACI RTC</a:t>
            </a:r>
          </a:p>
        </p:txBody>
      </p:sp>
      <p:sp>
        <p:nvSpPr>
          <p:cNvPr id="17" name="TextBox 16"/>
          <p:cNvSpPr txBox="1"/>
          <p:nvPr/>
        </p:nvSpPr>
        <p:spPr>
          <a:xfrm>
            <a:off x="7137400" y="6108700"/>
            <a:ext cx="3048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7</a:t>
            </a:r>
          </a:p>
        </p:txBody>
      </p:sp>
      <p:sp>
        <p:nvSpPr>
          <p:cNvPr id="18" name="Rounded Rectangle 17"/>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6</a:t>
            </a:r>
          </a:p>
        </p:txBody>
      </p:sp>
      <p:sp>
        <p:nvSpPr>
          <p:cNvPr id="19" name="TextBox 18"/>
          <p:cNvSpPr txBox="1"/>
          <p:nvPr/>
        </p:nvSpPr>
        <p:spPr>
          <a:xfrm>
            <a:off x="9855200" y="1993900"/>
            <a:ext cx="23368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Campus: RTC FTD ISE</a:t>
            </a:r>
          </a:p>
        </p:txBody>
      </p:sp>
      <p:sp>
        <p:nvSpPr>
          <p:cNvPr id="20" name="TextBox 19"/>
          <p:cNvSpPr txBox="1"/>
          <p:nvPr/>
        </p:nvSpPr>
        <p:spPr>
          <a:xfrm>
            <a:off x="15354300" y="2044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8</a:t>
            </a:r>
          </a:p>
        </p:txBody>
      </p:sp>
      <p:sp>
        <p:nvSpPr>
          <p:cNvPr id="21" name="Rounded Rectangle 20"/>
          <p:cNvSpPr/>
          <p:nvPr/>
        </p:nvSpPr>
        <p:spPr>
          <a:xfrm>
            <a:off x="88392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7</a:t>
            </a:r>
          </a:p>
        </p:txBody>
      </p:sp>
      <p:sp>
        <p:nvSpPr>
          <p:cNvPr id="22" name="TextBox 21"/>
          <p:cNvSpPr txBox="1"/>
          <p:nvPr/>
        </p:nvSpPr>
        <p:spPr>
          <a:xfrm>
            <a:off x="9855200" y="3009900"/>
            <a:ext cx="39243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Branch: Context-Aware Segmentation</a:t>
            </a:r>
          </a:p>
        </p:txBody>
      </p:sp>
      <p:sp>
        <p:nvSpPr>
          <p:cNvPr id="23" name="TextBox 22"/>
          <p:cNvSpPr txBox="1"/>
          <p:nvPr/>
        </p:nvSpPr>
        <p:spPr>
          <a:xfrm>
            <a:off x="15354300" y="3060700"/>
            <a:ext cx="3175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9</a:t>
            </a:r>
          </a:p>
        </p:txBody>
      </p:sp>
      <p:sp>
        <p:nvSpPr>
          <p:cNvPr id="24" name="Rounded Rectangle 23"/>
          <p:cNvSpPr/>
          <p:nvPr/>
        </p:nvSpPr>
        <p:spPr>
          <a:xfrm>
            <a:off x="88392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8</a:t>
            </a:r>
          </a:p>
        </p:txBody>
      </p:sp>
      <p:sp>
        <p:nvSpPr>
          <p:cNvPr id="25" name="TextBox 24"/>
          <p:cNvSpPr txBox="1"/>
          <p:nvPr/>
        </p:nvSpPr>
        <p:spPr>
          <a:xfrm>
            <a:off x="9855200" y="4025900"/>
            <a:ext cx="23368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Real-World Use Cases</a:t>
            </a:r>
          </a:p>
        </p:txBody>
      </p:sp>
      <p:sp>
        <p:nvSpPr>
          <p:cNvPr id="26" name="TextBox 25"/>
          <p:cNvSpPr txBox="1"/>
          <p:nvPr/>
        </p:nvSpPr>
        <p:spPr>
          <a:xfrm>
            <a:off x="15265400" y="4076700"/>
            <a:ext cx="4064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10</a:t>
            </a:r>
          </a:p>
        </p:txBody>
      </p:sp>
      <p:sp>
        <p:nvSpPr>
          <p:cNvPr id="27" name="Rounded Rectangle 26"/>
          <p:cNvSpPr/>
          <p:nvPr/>
        </p:nvSpPr>
        <p:spPr>
          <a:xfrm>
            <a:off x="8839200" y="4851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9</a:t>
            </a:r>
          </a:p>
        </p:txBody>
      </p:sp>
      <p:sp>
        <p:nvSpPr>
          <p:cNvPr id="28" name="TextBox 27"/>
          <p:cNvSpPr txBox="1"/>
          <p:nvPr/>
        </p:nvSpPr>
        <p:spPr>
          <a:xfrm>
            <a:off x="9855200" y="5041900"/>
            <a:ext cx="26416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Integration &amp; Deployment</a:t>
            </a:r>
          </a:p>
        </p:txBody>
      </p:sp>
      <p:sp>
        <p:nvSpPr>
          <p:cNvPr id="29" name="TextBox 28"/>
          <p:cNvSpPr txBox="1"/>
          <p:nvPr/>
        </p:nvSpPr>
        <p:spPr>
          <a:xfrm>
            <a:off x="15316200" y="5092700"/>
            <a:ext cx="3556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Understanding Zone Segmentation</a:t>
            </a:r>
          </a:p>
        </p:txBody>
      </p:sp>
      <p:pic>
        <p:nvPicPr>
          <p:cNvPr id="3" name="Picture 2" descr="c17dc37d-517a-43f9-a740-5a2a23a609b9.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Zone Segmentation improves security by dividing networks, reducing risks, and enabling swift threat response.</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Advanced Security Portfolio</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Offers comprehensive solutions for protecting data center, campus, and branch environments.</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Minimized Attack Surface</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Dividing the network into isolated zones reduces the scope for potential cyberattacks.</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Faster Threat Response</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Enables quicker identification and containment of threats, limiting their impact.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Why Zone Segmentation Matters</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993900"/>
            <a:ext cx="39878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60% orgs hit by lateral attacks in 2025</a:t>
            </a:r>
          </a:p>
        </p:txBody>
      </p:sp>
      <p:sp>
        <p:nvSpPr>
          <p:cNvPr id="5" name="TextBox 4"/>
          <p:cNvSpPr txBox="1"/>
          <p:nvPr/>
        </p:nvSpPr>
        <p:spPr>
          <a:xfrm>
            <a:off x="6934200" y="2044700"/>
            <a:ext cx="508000" cy="228600"/>
          </a:xfrm>
          <a:prstGeom prst="rect">
            <a:avLst/>
          </a:prstGeom>
          <a:noFill/>
        </p:spPr>
        <p:txBody>
          <a:bodyPr wrap="square" lIns="0" rIns="0" tIns="0" bIns="0">
            <a:spAutoFit/>
          </a:bodyPr>
          <a:lstStyle/>
          <a:p>
            <a:pPr algn="l">
              <a:lnSpc>
                <a:spcPct val="70000"/>
              </a:lnSpc>
              <a:defRPr i="0" sz="1800" b="0">
                <a:solidFill>
                  <a:srgbClr val="082B69"/>
                </a:solidFill>
                <a:latin typeface="__inter_fd044d"/>
              </a:defRPr>
            </a:pPr>
            <a:r>
              <a:rPr i="0" sz="1800" b="0">
                <a:solidFill>
                  <a:srgbClr val="082B69"/>
                </a:solidFill>
                <a:latin typeface="__inter_fd044d"/>
              </a:rPr>
              <a:t>60%</a:t>
            </a:r>
          </a:p>
        </p:txBody>
      </p:sp>
      <p:sp>
        <p:nvSpPr>
          <p:cNvPr id="6" name="Rounded Rectangle 5"/>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7" name="TextBox 6"/>
          <p:cNvSpPr txBox="1"/>
          <p:nvPr/>
        </p:nvSpPr>
        <p:spPr>
          <a:xfrm>
            <a:off x="1625600" y="2857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Networks are more complex: IoT, cloud, remote staff</a:t>
            </a:r>
          </a:p>
        </p:txBody>
      </p:sp>
      <p:sp>
        <p:nvSpPr>
          <p:cNvPr id="8" name="Rounded Rectangle 7"/>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9" name="TextBox 8"/>
          <p:cNvSpPr txBox="1"/>
          <p:nvPr/>
        </p:nvSpPr>
        <p:spPr>
          <a:xfrm>
            <a:off x="1625600" y="4025900"/>
            <a:ext cx="53213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Perimeter security misses internal threat movement</a:t>
            </a:r>
          </a:p>
        </p:txBody>
      </p:sp>
      <p:sp>
        <p:nvSpPr>
          <p:cNvPr id="10" name="Rounded Rectangle 9"/>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11" name="TextBox 10"/>
          <p:cNvSpPr txBox="1"/>
          <p:nvPr/>
        </p:nvSpPr>
        <p:spPr>
          <a:xfrm>
            <a:off x="9855200" y="1993900"/>
            <a:ext cx="52705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Zone segmentation reduces internal attack surface</a:t>
            </a:r>
          </a:p>
        </p:txBody>
      </p:sp>
      <p:sp>
        <p:nvSpPr>
          <p:cNvPr id="12" name="Rounded Rectangle 11"/>
          <p:cNvSpPr/>
          <p:nvPr/>
        </p:nvSpPr>
        <p:spPr>
          <a:xfrm>
            <a:off x="88392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13" name="TextBox 12"/>
          <p:cNvSpPr txBox="1"/>
          <p:nvPr/>
        </p:nvSpPr>
        <p:spPr>
          <a:xfrm>
            <a:off x="9855200" y="3009900"/>
            <a:ext cx="51689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Improved containment, response, and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Zone Segmentation Solution Portfolio</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Data Center: ACI RTC</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Leverages ACI and real-time controls to secure traffic flows in data centers with dynamic segmentation.</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Campus: RTC FTD ISE</a:t>
            </a:r>
          </a:p>
        </p:txBody>
      </p:sp>
      <p:sp>
        <p:nvSpPr>
          <p:cNvPr id="8" name="TextBox 7"/>
          <p:cNvSpPr txBox="1"/>
          <p:nvPr/>
        </p:nvSpPr>
        <p:spPr>
          <a:xfrm>
            <a:off x="9715500" y="2336800"/>
            <a:ext cx="5448300" cy="977900"/>
          </a:xfrm>
          <a:prstGeom prst="rect">
            <a:avLst/>
          </a:prstGeom>
          <a:noFill/>
        </p:spPr>
        <p:txBody>
          <a:bodyPr wrap="square" lIns="0" rIns="0" tIns="0" bIns="0">
            <a:spAutoFit/>
          </a:bodyPr>
          <a:lstStyle/>
          <a:p>
            <a:pPr algn="l">
              <a:lnSpc>
                <a:spcPct val="130000"/>
              </a:lnSpc>
              <a:defRPr i="0" sz="1600" b="0">
                <a:solidFill>
                  <a:srgbClr val="25344A"/>
                </a:solidFill>
                <a:latin typeface="Open Sans"/>
              </a:defRPr>
            </a:pPr>
            <a:r>
              <a:rPr i="0" sz="1600" b="0">
                <a:solidFill>
                  <a:srgbClr val="25344A"/>
                </a:solidFill>
                <a:latin typeface="Open Sans"/>
              </a:rPr>
              <a:t>Combines RTC, Firepower Threat Defense, and Identity Services Engine for flexible campus network segmentation.</a:t>
            </a:r>
          </a:p>
        </p:txBody>
      </p:sp>
      <p:sp>
        <p:nvSpPr>
          <p:cNvPr id="9" name="TextBox 8"/>
          <p:cNvSpPr txBox="1"/>
          <p:nvPr/>
        </p:nvSpPr>
        <p:spPr>
          <a:xfrm>
            <a:off x="1117600" y="41148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41148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Branch: Context-Aware Segmentation</a:t>
            </a:r>
          </a:p>
        </p:txBody>
      </p:sp>
      <p:sp>
        <p:nvSpPr>
          <p:cNvPr id="11" name="TextBox 10"/>
          <p:cNvSpPr txBox="1"/>
          <p:nvPr/>
        </p:nvSpPr>
        <p:spPr>
          <a:xfrm>
            <a:off x="1892300" y="4648200"/>
            <a:ext cx="5448300" cy="977900"/>
          </a:xfrm>
          <a:prstGeom prst="rect">
            <a:avLst/>
          </a:prstGeom>
          <a:noFill/>
        </p:spPr>
        <p:txBody>
          <a:bodyPr wrap="square" lIns="0" rIns="0" tIns="0" bIns="0">
            <a:spAutoFit/>
          </a:bodyPr>
          <a:lstStyle/>
          <a:p>
            <a:pPr algn="l">
              <a:lnSpc>
                <a:spcPct val="130000"/>
              </a:lnSpc>
              <a:defRPr i="0" sz="1600" b="0">
                <a:solidFill>
                  <a:srgbClr val="25344A"/>
                </a:solidFill>
                <a:latin typeface="Open Sans"/>
              </a:defRPr>
            </a:pPr>
            <a:r>
              <a:rPr i="0" sz="1600" b="0">
                <a:solidFill>
                  <a:srgbClr val="25344A"/>
                </a:solidFill>
                <a:latin typeface="Open Sans"/>
              </a:rPr>
              <a:t>Implements adaptive policies, enabling secure branch operations based on real-time context and application needs.</a:t>
            </a:r>
          </a:p>
        </p:txBody>
      </p:sp>
      <p:pic>
        <p:nvPicPr>
          <p:cNvPr id="12" name="Picture 11" descr="5ea2bd2e-f9a0-4dc3-b632-7f32e6212422.png"/>
          <p:cNvPicPr>
            <a:picLocks noChangeAspect="1"/>
          </p:cNvPicPr>
          <p:nvPr/>
        </p:nvPicPr>
        <p:blipFill>
          <a:blip r:embed="rId3"/>
          <a:stretch>
            <a:fillRect/>
          </a:stretch>
        </p:blipFill>
        <p:spPr>
          <a:xfrm>
            <a:off x="1117600" y="6134100"/>
            <a:ext cx="6096000" cy="2032000"/>
          </a:xfrm>
          <a:prstGeom prst="rect">
            <a:avLst/>
          </a:prstGeom>
        </p:spPr>
      </p:pic>
      <p:sp>
        <p:nvSpPr>
          <p:cNvPr id="13" name="Rounded Rectangle 12"/>
          <p:cNvSpPr/>
          <p:nvPr/>
        </p:nvSpPr>
        <p:spPr>
          <a:xfrm>
            <a:off x="1117600" y="8369300"/>
            <a:ext cx="14020800" cy="914400"/>
          </a:xfrm>
          <a:prstGeom prst="roundRect">
            <a:avLst>
              <a:gd name="adj" fmla="val 8333"/>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270000" y="8521700"/>
            <a:ext cx="13741400" cy="609600"/>
          </a:xfrm>
          <a:prstGeom prst="rect">
            <a:avLst/>
          </a:prstGeom>
          <a:noFill/>
        </p:spPr>
        <p:txBody>
          <a:bodyPr wrap="square" lIns="0" rIns="0" tIns="0" bIns="0">
            <a:spAutoFit/>
          </a:bodyPr>
          <a:lstStyle/>
          <a:p>
            <a:pPr algn="l">
              <a:lnSpc>
                <a:spcPct val="120000"/>
              </a:lnSpc>
              <a:defRPr i="0" sz="1600" b="0">
                <a:solidFill>
                  <a:srgbClr val="09090B"/>
                </a:solidFill>
                <a:latin typeface="Open Sans"/>
              </a:defRPr>
            </a:pPr>
            <a:r>
              <a:rPr i="0" sz="1600" b="0">
                <a:solidFill>
                  <a:srgbClr val="09090B"/>
                </a:solidFill>
                <a:latin typeface="Open Sans"/>
              </a:rPr>
              <a:t>flowchart LR</a:t>
            </a:r>
            <a:r>
              <a:t>
</a:t>
            </a:r>
            <a:r>
              <a:rPr i="0" sz="1600" b="0">
                <a:solidFill>
                  <a:srgbClr val="09090B"/>
                </a:solidFill>
                <a:latin typeface="Open Sans"/>
              </a:rPr>
              <a:t>    DC[Data Center\nACI RTC]</a:t>
            </a:r>
            <a:r>
              <a:t>
</a:t>
            </a:r>
            <a:r>
              <a:rPr i="0" sz="1600" b="0">
                <a:solidFill>
                  <a:srgbClr val="09090B"/>
                </a:solidFill>
                <a:latin typeface="Open Sans"/>
              </a:rPr>
              <a:t>    Campus[Campus\nRTC FTD ISE]</a:t>
            </a:r>
            <a:r>
              <a:t>
</a:t>
            </a:r>
            <a:r>
              <a:rPr i="0" sz="1600" b="0">
                <a:solidFill>
                  <a:srgbClr val="09090B"/>
                </a:solidFill>
                <a:latin typeface="Open Sans"/>
              </a:rPr>
              <a:t>    Branch[Branch\nContext-Aware Segmentation]</a:t>
            </a:r>
            <a:r>
              <a:t>
</a:t>
            </a:r>
            <a:r>
              <a:rPr i="0" sz="1600" b="0">
                <a:solidFill>
                  <a:srgbClr val="09090B"/>
                </a:solidFill>
                <a:latin typeface="Open Sans"/>
              </a:rPr>
              <a:t>    DC --&gt; Campus</a:t>
            </a:r>
            <a:r>
              <a:t>
</a:t>
            </a:r>
            <a:r>
              <a:rPr i="0" sz="1600" b="0">
                <a:solidFill>
                  <a:srgbClr val="09090B"/>
                </a:solidFill>
                <a:latin typeface="Open Sans"/>
              </a:rPr>
              <a:t>    Campus --&gt; Branch</a:t>
            </a:r>
          </a:p>
        </p:txBody>
      </p:sp>
      <p:pic>
        <p:nvPicPr>
          <p:cNvPr id="15" name="Picture 14" descr="32211f9d-1a03-4947-8f7b-5a2d7a4d1b0b.png"/>
          <p:cNvPicPr>
            <a:picLocks noChangeAspect="1"/>
          </p:cNvPicPr>
          <p:nvPr/>
        </p:nvPicPr>
        <p:blipFill>
          <a:blip r:embed="rId4"/>
          <a:stretch>
            <a:fillRect/>
          </a:stretch>
        </p:blipFill>
        <p:spPr>
          <a:xfrm>
            <a:off x="0" y="6858000"/>
            <a:ext cx="16256000" cy="228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20701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Key Features &amp; Capabilities</a:t>
            </a:r>
          </a:p>
        </p:txBody>
      </p:sp>
      <p:pic>
        <p:nvPicPr>
          <p:cNvPr id="3" name="Picture 2" descr="c8d7ab35-f36b-4ec4-83ec-350486ef4a18.png"/>
          <p:cNvPicPr>
            <a:picLocks noChangeAspect="1"/>
          </p:cNvPicPr>
          <p:nvPr/>
        </p:nvPicPr>
        <p:blipFill>
          <a:blip r:embed="rId3"/>
          <a:stretch>
            <a:fillRect/>
          </a:stretch>
        </p:blipFill>
        <p:spPr>
          <a:xfrm>
            <a:off x="9677400" y="2984500"/>
            <a:ext cx="5969000" cy="6172200"/>
          </a:xfrm>
          <a:prstGeom prst="rect">
            <a:avLst/>
          </a:prstGeom>
        </p:spPr>
      </p:pic>
      <p:sp>
        <p:nvSpPr>
          <p:cNvPr id="4" name="Rounded Rectangle 3"/>
          <p:cNvSpPr/>
          <p:nvPr/>
        </p:nvSpPr>
        <p:spPr>
          <a:xfrm>
            <a:off x="6096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2984500"/>
            <a:ext cx="1854200" cy="647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Policy-Based Segmentation</a:t>
            </a:r>
          </a:p>
        </p:txBody>
      </p:sp>
      <p:sp>
        <p:nvSpPr>
          <p:cNvPr id="6" name="TextBox 5"/>
          <p:cNvSpPr txBox="1"/>
          <p:nvPr/>
        </p:nvSpPr>
        <p:spPr>
          <a:xfrm>
            <a:off x="1524000" y="3733800"/>
            <a:ext cx="18542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Advanced enforcement separates network traffic for enhanced security and compliance.</a:t>
            </a:r>
          </a:p>
        </p:txBody>
      </p:sp>
      <p:sp>
        <p:nvSpPr>
          <p:cNvPr id="7" name="Rounded Rectangle 6"/>
          <p:cNvSpPr/>
          <p:nvPr/>
        </p:nvSpPr>
        <p:spPr>
          <a:xfrm>
            <a:off x="36322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2984500"/>
            <a:ext cx="17145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Context-Aware Enforcement</a:t>
            </a:r>
          </a:p>
        </p:txBody>
      </p:sp>
      <p:sp>
        <p:nvSpPr>
          <p:cNvPr id="9" name="TextBox 8"/>
          <p:cNvSpPr txBox="1"/>
          <p:nvPr/>
        </p:nvSpPr>
        <p:spPr>
          <a:xfrm>
            <a:off x="4546600" y="4051300"/>
            <a:ext cx="1714500" cy="1473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Access controls adjust based on user, device, or application context, increasing precision.</a:t>
            </a:r>
          </a:p>
        </p:txBody>
      </p:sp>
      <p:sp>
        <p:nvSpPr>
          <p:cNvPr id="10" name="Rounded Rectangle 9"/>
          <p:cNvSpPr/>
          <p:nvPr/>
        </p:nvSpPr>
        <p:spPr>
          <a:xfrm>
            <a:off x="66548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2984500"/>
            <a:ext cx="17145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Rapid Threat Containment</a:t>
            </a:r>
          </a:p>
        </p:txBody>
      </p:sp>
      <p:sp>
        <p:nvSpPr>
          <p:cNvPr id="12" name="TextBox 11"/>
          <p:cNvSpPr txBox="1"/>
          <p:nvPr/>
        </p:nvSpPr>
        <p:spPr>
          <a:xfrm>
            <a:off x="7569200" y="4051300"/>
            <a:ext cx="17145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Seamless integration quickly identifies and contains threats using automated technologies.</a:t>
            </a:r>
          </a:p>
        </p:txBody>
      </p:sp>
      <p:sp>
        <p:nvSpPr>
          <p:cNvPr id="13" name="Rounded Rectangle 12"/>
          <p:cNvSpPr/>
          <p:nvPr/>
        </p:nvSpPr>
        <p:spPr>
          <a:xfrm>
            <a:off x="609600" y="63246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524000" y="63246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Realtime Monitoring &amp; Response</a:t>
            </a:r>
          </a:p>
        </p:txBody>
      </p:sp>
      <p:sp>
        <p:nvSpPr>
          <p:cNvPr id="15" name="TextBox 14"/>
          <p:cNvSpPr txBox="1"/>
          <p:nvPr/>
        </p:nvSpPr>
        <p:spPr>
          <a:xfrm>
            <a:off x="1524000" y="73914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Continuous monitoring paired with automated response ensures quick mitigation of potential risks.</a:t>
            </a:r>
          </a:p>
        </p:txBody>
      </p:sp>
      <p:sp>
        <p:nvSpPr>
          <p:cNvPr id="16" name="Rounded Rectangle 15"/>
          <p:cNvSpPr/>
          <p:nvPr/>
        </p:nvSpPr>
        <p:spPr>
          <a:xfrm>
            <a:off x="3632200" y="63246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4546600" y="63246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Flexible, Scalable Deployment</a:t>
            </a:r>
          </a:p>
        </p:txBody>
      </p:sp>
      <p:sp>
        <p:nvSpPr>
          <p:cNvPr id="18" name="TextBox 17"/>
          <p:cNvSpPr txBox="1"/>
          <p:nvPr/>
        </p:nvSpPr>
        <p:spPr>
          <a:xfrm>
            <a:off x="4546600" y="73914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Supports diverse environments, adapting to data center, cloud, and hybrid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Zone Segmentation with ACI RTC</a:t>
            </a:r>
          </a:p>
        </p:txBody>
      </p:sp>
      <p:pic>
        <p:nvPicPr>
          <p:cNvPr id="3" name="Picture 2" descr="5eb8a07a-b0f5-4311-90a5-e677fe4262cf.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Enhances data center security by integrating micro-segmentation and automated policies within Cisco ACI environments.</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Cisco ACI Integration</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Seamlessly connects with Cisco Application Centric Infrastructure for zone segmentation.</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Dynamic Policy Automation</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3302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Enables swift policy changes and automated threat responses.</a:t>
            </a:r>
          </a:p>
        </p:txBody>
      </p:sp>
      <p:sp>
        <p:nvSpPr>
          <p:cNvPr id="13" name="Rounded Rectangle 12"/>
          <p:cNvSpPr/>
          <p:nvPr/>
        </p:nvSpPr>
        <p:spPr>
          <a:xfrm>
            <a:off x="8432800" y="58928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58928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Micro-segmentation</a:t>
            </a:r>
          </a:p>
        </p:txBody>
      </p:sp>
      <p:sp>
        <p:nvSpPr>
          <p:cNvPr id="15" name="Rounded Rectangle 14"/>
          <p:cNvSpPr/>
          <p:nvPr/>
        </p:nvSpPr>
        <p:spPr>
          <a:xfrm>
            <a:off x="9499600" y="62992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4389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Provides detailed isolation for sensitive workloads, improving internal security.</a:t>
            </a:r>
          </a:p>
        </p:txBody>
      </p:sp>
      <p:sp>
        <p:nvSpPr>
          <p:cNvPr id="17" name="Rounded Rectangle 16"/>
          <p:cNvSpPr/>
          <p:nvPr/>
        </p:nvSpPr>
        <p:spPr>
          <a:xfrm>
            <a:off x="8432800" y="76581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499600" y="76581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Reduced Threat Movement</a:t>
            </a:r>
          </a:p>
        </p:txBody>
      </p:sp>
      <p:sp>
        <p:nvSpPr>
          <p:cNvPr id="19" name="Rounded Rectangle 18"/>
          <p:cNvSpPr/>
          <p:nvPr/>
        </p:nvSpPr>
        <p:spPr>
          <a:xfrm>
            <a:off x="9499600" y="80645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499600" y="8204200"/>
            <a:ext cx="5867400" cy="3302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Studies show ACI RTC cuts lateral threats in DCs by up to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Zone Segmentation: RTC FTD &amp; ISE</a:t>
            </a:r>
          </a:p>
        </p:txBody>
      </p:sp>
      <p:pic>
        <p:nvPicPr>
          <p:cNvPr id="3" name="Picture 2" descr="6f41ce6f-a4db-44c5-8264-be9ac3377fe4.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Modern campus networks use segmentation to improve security through Cisco Firepower Threat Defense and Identity Services Engine.</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Integrated Security Controls</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FTD and ISE together provide context-aware access for both users and connected devices.</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Policy-Based Isolation</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Granular policies restrict guest and IoT network access, limiting lateral movement and risk.</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Proven Results</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 university reduced security incidents by 40% after deploying zone segmentation.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Context-Aware Zone Segmentation</a:t>
            </a:r>
          </a:p>
        </p:txBody>
      </p:sp>
      <p:pic>
        <p:nvPicPr>
          <p:cNvPr id="3" name="Picture 2" descr="ea4950f8-f502-474a-b0a1-5dbb4099e693.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1066800"/>
          </a:xfrm>
          <a:prstGeom prst="rect">
            <a:avLst/>
          </a:prstGeom>
          <a:noFill/>
        </p:spPr>
        <p:txBody>
          <a:bodyPr wrap="square" lIns="0" rIns="0" tIns="0" bIns="0">
            <a:spAutoFit/>
          </a:bodyPr>
          <a:lstStyle/>
          <a:p>
            <a:pPr algn="l">
              <a:lnSpc>
                <a:spcPct val="145000"/>
              </a:lnSpc>
              <a:defRPr i="0" sz="1600" b="0">
                <a:solidFill>
                  <a:srgbClr val="334155"/>
                </a:solidFill>
                <a:latin typeface="Open Sans"/>
              </a:defRPr>
            </a:pPr>
            <a:r>
              <a:rPr i="0" sz="1600" b="0">
                <a:solidFill>
                  <a:srgbClr val="334155"/>
                </a:solidFill>
                <a:latin typeface="Open Sans"/>
              </a:rPr>
              <a:t>Segmenting networks in branch locations enhances security and simplifies management with user, role, device, and application awareness.</a:t>
            </a:r>
          </a:p>
        </p:txBody>
      </p:sp>
      <p:sp>
        <p:nvSpPr>
          <p:cNvPr id="5" name="Rounded Rectangle 4"/>
          <p:cNvSpPr/>
          <p:nvPr/>
        </p:nvSpPr>
        <p:spPr>
          <a:xfrm>
            <a:off x="8432800" y="3048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3048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Policy by Identity</a:t>
            </a:r>
          </a:p>
        </p:txBody>
      </p:sp>
      <p:sp>
        <p:nvSpPr>
          <p:cNvPr id="7" name="Rounded Rectangle 6"/>
          <p:cNvSpPr/>
          <p:nvPr/>
        </p:nvSpPr>
        <p:spPr>
          <a:xfrm>
            <a:off x="9499600" y="3454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594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Access controls dynamically applied based on user, role, device, and app context for robust security.</a:t>
            </a:r>
          </a:p>
        </p:txBody>
      </p:sp>
      <p:sp>
        <p:nvSpPr>
          <p:cNvPr id="9" name="Rounded Rectangle 8"/>
          <p:cNvSpPr/>
          <p:nvPr/>
        </p:nvSpPr>
        <p:spPr>
          <a:xfrm>
            <a:off x="8432800" y="48133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8133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Streamlined Operations</a:t>
            </a:r>
          </a:p>
        </p:txBody>
      </p:sp>
      <p:sp>
        <p:nvSpPr>
          <p:cNvPr id="11" name="Rounded Rectangle 10"/>
          <p:cNvSpPr/>
          <p:nvPr/>
        </p:nvSpPr>
        <p:spPr>
          <a:xfrm>
            <a:off x="9499600" y="52197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3594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Unified approach simplifies policy management and enforcement across distributed branch environments.</a:t>
            </a:r>
          </a:p>
        </p:txBody>
      </p:sp>
      <p:sp>
        <p:nvSpPr>
          <p:cNvPr id="13" name="Rounded Rectangle 12"/>
          <p:cNvSpPr/>
          <p:nvPr/>
        </p:nvSpPr>
        <p:spPr>
          <a:xfrm>
            <a:off x="8432800" y="65786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5786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Policy Consistency</a:t>
            </a:r>
          </a:p>
        </p:txBody>
      </p:sp>
      <p:sp>
        <p:nvSpPr>
          <p:cNvPr id="15" name="Rounded Rectangle 14"/>
          <p:cNvSpPr/>
          <p:nvPr/>
        </p:nvSpPr>
        <p:spPr>
          <a:xfrm>
            <a:off x="9499600" y="69850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71247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Centralized control helps maintain compliance and consistent security policies everywhere.</a:t>
            </a:r>
          </a:p>
        </p:txBody>
      </p:sp>
      <p:sp>
        <p:nvSpPr>
          <p:cNvPr id="17" name="Rounded Rectangle 16"/>
          <p:cNvSpPr/>
          <p:nvPr/>
        </p:nvSpPr>
        <p:spPr>
          <a:xfrm>
            <a:off x="8432800" y="83439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499600" y="83439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Widespread Adoption</a:t>
            </a:r>
          </a:p>
        </p:txBody>
      </p:sp>
      <p:sp>
        <p:nvSpPr>
          <p:cNvPr id="19" name="Rounded Rectangle 18"/>
          <p:cNvSpPr/>
          <p:nvPr/>
        </p:nvSpPr>
        <p:spPr>
          <a:xfrm>
            <a:off x="9499600" y="87503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499600" y="88900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55% of retail and financial branches implemented context-aware segmentation in 2025 (IDC).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Real-World Segmentation Use Cases</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Data Center Protection</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Isolate critical assets and secure sensitive workloads from internal and external threats.</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Campus Network Zoning</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Create separate zones for IT, guests, and IoT devices to enhance security posture.</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Branch Regulatory Compliance</a:t>
            </a:r>
          </a:p>
        </p:txBody>
      </p:sp>
      <p:sp>
        <p:nvSpPr>
          <p:cNvPr id="11" name="TextBox 10"/>
          <p:cNvSpPr txBox="1"/>
          <p:nvPr/>
        </p:nvSpPr>
        <p:spPr>
          <a:xfrm>
            <a:off x="18923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Safeguard point-of-sale systems, ensuring adherence to industry regulations and preventing breaches.</a:t>
            </a:r>
          </a:p>
        </p:txBody>
      </p:sp>
      <p:sp>
        <p:nvSpPr>
          <p:cNvPr id="12" name="TextBox 11"/>
          <p:cNvSpPr txBox="1"/>
          <p:nvPr/>
        </p:nvSpPr>
        <p:spPr>
          <a:xfrm>
            <a:off x="89408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4</a:t>
            </a:r>
          </a:p>
        </p:txBody>
      </p:sp>
      <p:sp>
        <p:nvSpPr>
          <p:cNvPr id="13" name="TextBox 12"/>
          <p:cNvSpPr txBox="1"/>
          <p:nvPr/>
        </p:nvSpPr>
        <p:spPr>
          <a:xfrm>
            <a:off x="97155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Rapid Ransomware Response</a:t>
            </a:r>
          </a:p>
        </p:txBody>
      </p:sp>
      <p:sp>
        <p:nvSpPr>
          <p:cNvPr id="14" name="TextBox 13"/>
          <p:cNvSpPr txBox="1"/>
          <p:nvPr/>
        </p:nvSpPr>
        <p:spPr>
          <a:xfrm>
            <a:off x="97155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Contain ransomware outbreaks within hours, minimizing business impact and recovery time.</a:t>
            </a:r>
          </a:p>
        </p:txBody>
      </p:sp>
      <p:sp>
        <p:nvSpPr>
          <p:cNvPr id="15" name="Rounded Rectangle 14"/>
          <p:cNvSpPr/>
          <p:nvPr/>
        </p:nvSpPr>
        <p:spPr>
          <a:xfrm>
            <a:off x="1117600" y="56896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270000" y="58420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7" name="Picture 16" descr="56a8e725-4f99-437b-aecf-7ea0b650f193.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Integration &amp; Deployment Options</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Seamless integration with multi-vendor environments</a:t>
            </a:r>
          </a:p>
        </p:txBody>
      </p:sp>
      <p:sp>
        <p:nvSpPr>
          <p:cNvPr id="5" name="Rounded Rectangle 4"/>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6" name="TextBox 5"/>
          <p:cNvSpPr txBox="1"/>
          <p:nvPr/>
        </p:nvSpPr>
        <p:spPr>
          <a:xfrm>
            <a:off x="1625600" y="3009900"/>
            <a:ext cx="50292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Supports on-premises, hybrid, and cloud models</a:t>
            </a:r>
          </a:p>
        </p:txBody>
      </p:sp>
      <p:sp>
        <p:nvSpPr>
          <p:cNvPr id="7" name="Rounded Rectangle 6"/>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8" name="TextBox 7"/>
          <p:cNvSpPr txBox="1"/>
          <p:nvPr/>
        </p:nvSpPr>
        <p:spPr>
          <a:xfrm>
            <a:off x="1625600" y="4025900"/>
            <a:ext cx="37211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Scalable for 100 to 100K+ endpoints</a:t>
            </a:r>
          </a:p>
        </p:txBody>
      </p:sp>
      <p:sp>
        <p:nvSpPr>
          <p:cNvPr id="9" name="Rounded Rectangle 8"/>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0" name="TextBox 9"/>
          <p:cNvSpPr txBox="1"/>
          <p:nvPr/>
        </p:nvSpPr>
        <p:spPr>
          <a:xfrm>
            <a:off x="98552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Automated policy enforcement saves 30% manual effort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0" y="3683000"/>
            <a:ext cx="11963400" cy="2349500"/>
          </a:xfrm>
          <a:prstGeom prst="rect">
            <a:avLst/>
          </a:prstGeom>
          <a:noFill/>
        </p:spPr>
        <p:txBody>
          <a:bodyPr wrap="square" lIns="0" rIns="0" tIns="0" bIns="0">
            <a:spAutoFit/>
          </a:bodyPr>
          <a:lstStyle/>
          <a:p>
            <a:pPr algn="l">
              <a:lnSpc>
                <a:spcPct val="75000"/>
              </a:lnSpc>
              <a:defRPr i="0" sz="8800" b="1">
                <a:solidFill>
                  <a:srgbClr val="0B2D6B"/>
                </a:solidFill>
                <a:latin typeface="Open Sans"/>
              </a:defRPr>
            </a:pPr>
            <a:r>
              <a:rPr i="0" sz="8800" b="1">
                <a:solidFill>
                  <a:srgbClr val="0B2D6B"/>
                </a:solidFill>
                <a:latin typeface="Open Sans"/>
              </a:rPr>
              <a:t>Implementation Best Practices</a:t>
            </a:r>
          </a:p>
        </p:txBody>
      </p:sp>
      <p:sp>
        <p:nvSpPr>
          <p:cNvPr id="3" name="TextBox 2"/>
          <p:cNvSpPr txBox="1"/>
          <p:nvPr/>
        </p:nvSpPr>
        <p:spPr>
          <a:xfrm>
            <a:off x="2286000" y="7099300"/>
            <a:ext cx="11963400" cy="342900"/>
          </a:xfrm>
          <a:prstGeom prst="rect">
            <a:avLst/>
          </a:prstGeom>
          <a:noFill/>
        </p:spPr>
        <p:txBody>
          <a:bodyPr wrap="square" lIns="0" rIns="0" tIns="0" bIns="0">
            <a:spAutoFit/>
          </a:bodyPr>
          <a:lstStyle/>
          <a:p>
            <a:pPr algn="l">
              <a:defRPr i="0" sz="1800" b="1">
                <a:solidFill>
                  <a:srgbClr val="0B2D6B"/>
                </a:solidFill>
                <a:latin typeface="Open Sans"/>
              </a:defRPr>
            </a:pPr>
            <a:r>
              <a:rPr i="0" sz="1800" b="1">
                <a:solidFill>
                  <a:srgbClr val="0B2D6B"/>
                </a:solidFill>
                <a:latin typeface="Open Sans"/>
              </a:rPr>
              <a:t>Network Security</a:t>
            </a:r>
          </a:p>
        </p:txBody>
      </p:sp>
      <p:sp>
        <p:nvSpPr>
          <p:cNvPr id="4" name="TextBox 3"/>
          <p:cNvSpPr txBox="1"/>
          <p:nvPr/>
        </p:nvSpPr>
        <p:spPr>
          <a:xfrm>
            <a:off x="2286000" y="7569200"/>
            <a:ext cx="11709400" cy="368300"/>
          </a:xfrm>
          <a:prstGeom prst="rect">
            <a:avLst/>
          </a:prstGeom>
          <a:noFill/>
        </p:spPr>
        <p:txBody>
          <a:bodyPr wrap="square" lIns="0" rIns="0" tIns="0" bIns="0">
            <a:spAutoFit/>
          </a:bodyPr>
          <a:lstStyle/>
          <a:p>
            <a:pPr algn="l">
              <a:defRPr i="0" sz="1600" b="0">
                <a:solidFill>
                  <a:srgbClr val="0B2D6B"/>
                </a:solidFill>
                <a:latin typeface="Open Sans"/>
              </a:defRPr>
            </a:pPr>
            <a:r>
              <a:rPr i="0" sz="1600" b="0">
                <a:solidFill>
                  <a:srgbClr val="0B2D6B"/>
                </a:solidFill>
                <a:latin typeface="Open Sans"/>
              </a:rPr>
              <a:t>Segment architecture by risk, assign tailored zones, apply context-aware policies, and automate via analytics and SOAR.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