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leveraging AI for segmentation and policy management, organizations can quickly detect potential breaches and impose tailored controls. This approach supports rapid incident response and significantly reduces overall security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importance of evolving cyber threats and the limitations of traditional defenses. Emphasize how AI-driven solutions offer scalable and adaptive protection, enabling organizations to keep up with new challenges and better secure their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Evolving cyber threats, high encrypted traffic volumes, and widespread hybrid cloud adoption have raised the bar for security. AI-driven tools are essential to keep up with these advancing threats and the complexities of today’s network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Competitors face challenges due to encryption, often either exhausting resources on decryption or skipping inspection. Over 90% of traffic being encrypted creates large blind spots, highlighting why new approaches are critical.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how AI-driven inspection techniques improve encrypted traffic analysis. Hardware needs drop dramatically, with up to 80% less equipment required, while maintaining strong detection of threats hidden in encrypted traffic.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AI-driven segmentation strategies operate at both macro and micro levels. Macro segmentation separates business units for broad security, while micro segmentation creates granular protections around specific workloads. Most organizations are moving toward adopting micro-segmentation, as highlighted by the 55% adoption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uses dynamic context, such as user or device identity, to assign security policies. Integrating FTD and ISE allows immediate, automated enforcement, which minimizes manual policy management workload.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Unified policy management ensures consistent control and oversight for both on-premises and cloud environments. Automation through dynamic tagging dramatically improves update speed and accuracy, leading to a significant reduction in response times. Centralized controls help maintain strong, consistent security across all platforms.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switches enable application-level visibility at the access layer. Leveraging Layer 4 segmentation, security policies can be enforced based on applications, users, or devices, not just network addresses. This approach significantly reduces the risk of threats moving laterally.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how deep inspection of encrypted flows, unified asset visibility, and major reductions in manual policy changes set us apart. Emphasize concrete metrics to illustrate operational and security gains.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AI-powered segmentation and dynamic policy enforcement can close critical security gaps by enabling consistent controls, detailed traffic inspection, and automation. Organizations using these solutions have seen tangible reductions in security incidents.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demos cover segmentation and policy management, including macro/micro segmentation, smart switches, dynamic tags, and campus context-aware solutions.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2200" y="1879600"/>
            <a:ext cx="8153400" cy="3365500"/>
          </a:xfrm>
          <a:prstGeom prst="rect">
            <a:avLst/>
          </a:prstGeom>
          <a:noFill/>
        </p:spPr>
        <p:txBody>
          <a:bodyPr wrap="square" lIns="0" rIns="0" tIns="0" bIns="0">
            <a:spAutoFit/>
          </a:bodyPr>
          <a:lstStyle/>
          <a:p>
            <a:pPr algn="l">
              <a:lnSpc>
                <a:spcPct val="75000"/>
              </a:lnSpc>
              <a:defRPr i="0" sz="8400" b="1">
                <a:solidFill>
                  <a:srgbClr val="0B2A5C"/>
                </a:solidFill>
                <a:latin typeface="Source Sans Pro"/>
              </a:defRPr>
            </a:pPr>
            <a:r>
              <a:rPr i="0" sz="8400" b="1">
                <a:solidFill>
                  <a:srgbClr val="0B2A5C"/>
                </a:solidFill>
                <a:latin typeface="Source Sans Pro"/>
              </a:rPr>
              <a:t>AI Defense: Advanced Security Solutions</a:t>
            </a:r>
          </a:p>
        </p:txBody>
      </p:sp>
      <p:sp>
        <p:nvSpPr>
          <p:cNvPr id="3" name="TextBox 2"/>
          <p:cNvSpPr txBox="1"/>
          <p:nvPr/>
        </p:nvSpPr>
        <p:spPr>
          <a:xfrm>
            <a:off x="1092200" y="5651500"/>
            <a:ext cx="8153400" cy="1066800"/>
          </a:xfrm>
          <a:prstGeom prst="rect">
            <a:avLst/>
          </a:prstGeom>
          <a:noFill/>
        </p:spPr>
        <p:txBody>
          <a:bodyPr wrap="square" lIns="0" rIns="0" tIns="0" bIns="0">
            <a:spAutoFit/>
          </a:bodyPr>
          <a:lstStyle/>
          <a:p>
            <a:pPr algn="l">
              <a:lnSpc>
                <a:spcPct val="126000"/>
              </a:lnSpc>
              <a:defRPr i="0" sz="1800" b="0">
                <a:solidFill>
                  <a:srgbClr val="475569"/>
                </a:solidFill>
                <a:latin typeface="Source Sans Pro"/>
              </a:defRPr>
            </a:pPr>
            <a:r>
              <a:rPr i="0" sz="1800" b="0">
                <a:solidFill>
                  <a:srgbClr val="475569"/>
                </a:solidFill>
                <a:latin typeface="Source Sans Pro"/>
              </a:rPr>
              <a:t>Utilizing advanced segmentation and policy management empowers organizations to proactively identify threats and strengthen defenses, improving incident response and risk mitigation capabilities.</a:t>
            </a:r>
          </a:p>
        </p:txBody>
      </p:sp>
      <p:sp>
        <p:nvSpPr>
          <p:cNvPr id="4" name="Rounded Rectangle 3"/>
          <p:cNvSpPr/>
          <p:nvPr/>
        </p:nvSpPr>
        <p:spPr>
          <a:xfrm>
            <a:off x="1092200" y="7924800"/>
            <a:ext cx="711200" cy="711200"/>
          </a:xfrm>
          <a:prstGeom prst="roundRect">
            <a:avLst>
              <a:gd name="adj" fmla="val 50000"/>
            </a:avLst>
          </a:prstGeom>
          <a:solidFill>
            <a:srgbClr val="0B2A5C"/>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Source Sans Pro"/>
              </a:defRPr>
            </a:pPr>
            <a:r>
              <a:rPr i="0" sz="1800" b="1">
                <a:solidFill>
                  <a:srgbClr val="FFFFFF"/>
                </a:solidFill>
                <a:latin typeface="Source Sans Pro"/>
              </a:rPr>
              <a:t>AI</a:t>
            </a:r>
          </a:p>
        </p:txBody>
      </p:sp>
      <p:sp>
        <p:nvSpPr>
          <p:cNvPr id="5" name="TextBox 4"/>
          <p:cNvSpPr txBox="1"/>
          <p:nvPr/>
        </p:nvSpPr>
        <p:spPr>
          <a:xfrm>
            <a:off x="2057400" y="8026400"/>
            <a:ext cx="952500" cy="292100"/>
          </a:xfrm>
          <a:prstGeom prst="rect">
            <a:avLst/>
          </a:prstGeom>
          <a:noFill/>
        </p:spPr>
        <p:txBody>
          <a:bodyPr wrap="square" lIns="0" rIns="0" tIns="0" bIns="0">
            <a:spAutoFit/>
          </a:bodyPr>
          <a:lstStyle/>
          <a:p>
            <a:pPr algn="l">
              <a:defRPr i="0" sz="1800" b="1">
                <a:solidFill>
                  <a:srgbClr val="0B2A5C"/>
                </a:solidFill>
                <a:latin typeface="Source Sans Pro"/>
              </a:defRPr>
            </a:pPr>
            <a:r>
              <a:rPr i="0" sz="1800" b="1">
                <a:solidFill>
                  <a:srgbClr val="0B2A5C"/>
                </a:solidFill>
                <a:latin typeface="Source Sans Pro"/>
              </a:rPr>
              <a:t>AI Analyst</a:t>
            </a:r>
          </a:p>
        </p:txBody>
      </p:sp>
      <p:sp>
        <p:nvSpPr>
          <p:cNvPr id="6" name="TextBox 5"/>
          <p:cNvSpPr txBox="1"/>
          <p:nvPr/>
        </p:nvSpPr>
        <p:spPr>
          <a:xfrm>
            <a:off x="2057400" y="8318500"/>
            <a:ext cx="952500" cy="228600"/>
          </a:xfrm>
          <a:prstGeom prst="rect">
            <a:avLst/>
          </a:prstGeom>
          <a:noFill/>
        </p:spPr>
        <p:txBody>
          <a:bodyPr wrap="square" lIns="0" rIns="0" tIns="0" bIns="0">
            <a:spAutoFit/>
          </a:bodyPr>
          <a:lstStyle/>
          <a:p>
            <a:pPr algn="l">
              <a:defRPr i="0" sz="1400" b="0">
                <a:solidFill>
                  <a:srgbClr val="334155"/>
                </a:solidFill>
                <a:latin typeface="Source Sans Pro"/>
              </a:defRPr>
            </a:pPr>
            <a:r>
              <a:rPr i="0" sz="1400" b="0">
                <a:solidFill>
                  <a:srgbClr val="334155"/>
                </a:solidFill>
                <a:latin typeface="Source Sans Pro"/>
              </a:rPr>
              <a:t>2026-01-12</a:t>
            </a:r>
          </a:p>
        </p:txBody>
      </p:sp>
      <p:pic>
        <p:nvPicPr>
          <p:cNvPr id="7" name="Picture 6" descr="204a917e-a109-46c8-913b-8a19a0b5f96c.png"/>
          <p:cNvPicPr>
            <a:picLocks noChangeAspect="1"/>
          </p:cNvPicPr>
          <p:nvPr/>
        </p:nvPicPr>
        <p:blipFill>
          <a:blip r:embed="rId3"/>
          <a:stretch>
            <a:fillRect/>
          </a:stretch>
        </p:blipFill>
        <p:spPr>
          <a:xfrm>
            <a:off x="10160000" y="0"/>
            <a:ext cx="6096000" cy="9144000"/>
          </a:xfrm>
          <a:prstGeom prst="rect">
            <a:avLst/>
          </a:prstGeom>
        </p:spPr>
      </p:pic>
      <p:sp>
        <p:nvSpPr>
          <p:cNvPr id="8" name="Rounded Rectangle 7"/>
          <p:cNvSpPr/>
          <p:nvPr/>
        </p:nvSpPr>
        <p:spPr>
          <a:xfrm>
            <a:off x="10160000" y="0"/>
            <a:ext cx="6096000" cy="9144000"/>
          </a:xfrm>
          <a:prstGeom prst="roundRect">
            <a:avLst>
              <a:gd name="adj" fmla="val 416"/>
            </a:avLst>
          </a:prstGeom>
          <a:solidFill>
            <a:srgbClr val="0B2A5C">
              <a:alpha val="6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The Need for Advanced AI Defense</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Cyber threats evolve rapidly, increasing enterprise risks</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2857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AI-driven defense strengthens response capabilities at scale</a:t>
            </a:r>
          </a:p>
        </p:txBody>
      </p:sp>
      <p:sp>
        <p:nvSpPr>
          <p:cNvPr id="7" name="Rounded Rectangle 6"/>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8" name="TextBox 7"/>
          <p:cNvSpPr txBox="1"/>
          <p:nvPr/>
        </p:nvSpPr>
        <p:spPr>
          <a:xfrm>
            <a:off x="98552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Adapting to new threat vectors is critical for resilience</a:t>
            </a:r>
          </a:p>
        </p:txBody>
      </p:sp>
      <p:sp>
        <p:nvSpPr>
          <p:cNvPr id="9" name="Rounded Rectangle 8"/>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0" name="TextBox 9"/>
          <p:cNvSpPr txBox="1"/>
          <p:nvPr/>
        </p:nvSpPr>
        <p:spPr>
          <a:xfrm>
            <a:off x="9855200" y="2857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Legacy approaches often lag behind modern attack methods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Driving Forces for Advanced AI Defense</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993900"/>
            <a:ext cx="49403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Cyber threats evolving at unprecedented speed</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3009900"/>
            <a:ext cx="46482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Encrypted traffic exceeds 95% in enterprises</a:t>
            </a:r>
          </a:p>
        </p:txBody>
      </p:sp>
      <p:sp>
        <p:nvSpPr>
          <p:cNvPr id="7" name="Rounded Rectangle 6"/>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8" name="TextBox 7"/>
          <p:cNvSpPr txBox="1"/>
          <p:nvPr/>
        </p:nvSpPr>
        <p:spPr>
          <a:xfrm>
            <a:off x="1625600" y="4025900"/>
            <a:ext cx="46228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Over 80% use hybrid cloud/on-prem models</a:t>
            </a:r>
          </a:p>
        </p:txBody>
      </p:sp>
      <p:sp>
        <p:nvSpPr>
          <p:cNvPr id="9" name="Rounded Rectangle 8"/>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0" name="TextBox 9"/>
          <p:cNvSpPr txBox="1"/>
          <p:nvPr/>
        </p:nvSpPr>
        <p:spPr>
          <a:xfrm>
            <a:off x="9855200" y="1993900"/>
            <a:ext cx="45847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Greater complexity in network environments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Addressing Enforcement Gaps in Security</a:t>
            </a:r>
          </a:p>
        </p:txBody>
      </p:sp>
      <p:pic>
        <p:nvPicPr>
          <p:cNvPr id="3" name="Picture 2" descr="90b472fe-b8c0-48d8-9b0f-36f7d51ea33a.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Many solutions struggle with encrypted traffic, leading to costly processes or uninspected blind spots in security enforcement.</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Competitor Weaknesses</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Decryption-heavy or bypass strategies are inefficient, increasing costs and leaving gaps in threat detection.</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Encrypted Traffic Volume</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Over 90% of network traffic is now encrypted, compounding the risk of uninspected threats.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Efficient Encrypted Traffic Inspection</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AI-Powered Inspection</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Delivers deep analysis of encrypted packets, minimizing reliance on full decryption for security.</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Resource Optimization</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Reduces hardware needs for inspection by up to 80% using advanced algorithms.</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Threat Detection</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Identifies hidden threats within TLS/SSL traffic with high accuracy.</a:t>
            </a:r>
          </a:p>
        </p:txBody>
      </p:sp>
      <p:sp>
        <p:nvSpPr>
          <p:cNvPr id="12" name="Rounded Rectangle 11"/>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4" name="Picture 13" descr="86331f0c-22d6-4680-a67b-0a58094ef82d.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31115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AI-Driven Segmentation: Macro vs. Micro</a:t>
            </a:r>
          </a:p>
        </p:txBody>
      </p:sp>
      <p:sp>
        <p:nvSpPr>
          <p:cNvPr id="3" name="Rounded Rectangle 2"/>
          <p:cNvSpPr/>
          <p:nvPr/>
        </p:nvSpPr>
        <p:spPr>
          <a:xfrm>
            <a:off x="9677400" y="4025900"/>
            <a:ext cx="5969000" cy="6096000"/>
          </a:xfrm>
          <a:prstGeom prst="roundRect">
            <a:avLst>
              <a:gd name="adj" fmla="val 5106"/>
            </a:avLst>
          </a:prstGeom>
          <a:solidFill>
            <a:srgbClr val="F5F7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bb0944c5-0855-4a43-8008-22c5c1960ad7.png"/>
          <p:cNvPicPr>
            <a:picLocks noChangeAspect="1"/>
          </p:cNvPicPr>
          <p:nvPr/>
        </p:nvPicPr>
        <p:blipFill>
          <a:blip r:embed="rId3"/>
          <a:stretch>
            <a:fillRect/>
          </a:stretch>
        </p:blipFill>
        <p:spPr>
          <a:xfrm>
            <a:off x="9982200" y="4787900"/>
            <a:ext cx="5359400" cy="4572000"/>
          </a:xfrm>
          <a:prstGeom prst="rect">
            <a:avLst/>
          </a:prstGeom>
        </p:spPr>
      </p:pic>
      <p:sp>
        <p:nvSpPr>
          <p:cNvPr id="5" name="Rounded Rectangle 4"/>
          <p:cNvSpPr/>
          <p:nvPr/>
        </p:nvSpPr>
        <p:spPr>
          <a:xfrm>
            <a:off x="10109200" y="4914900"/>
            <a:ext cx="279400" cy="279400"/>
          </a:xfrm>
          <a:prstGeom prst="roundRect">
            <a:avLst>
              <a:gd name="adj" fmla="val 109090"/>
            </a:avLst>
          </a:prstGeom>
          <a:solidFill>
            <a:srgbClr val="FFFFFF"/>
          </a:solidFill>
          <a:ln w="12700">
            <a:solidFill>
              <a:srgbClr val="CCCCCC"/>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6" name="Rounded Rectangle 5"/>
          <p:cNvSpPr/>
          <p:nvPr/>
        </p:nvSpPr>
        <p:spPr>
          <a:xfrm>
            <a:off x="6096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1524000" y="4025900"/>
            <a:ext cx="18542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Macro Segmentation</a:t>
            </a:r>
          </a:p>
        </p:txBody>
      </p:sp>
      <p:sp>
        <p:nvSpPr>
          <p:cNvPr id="8" name="TextBox 7"/>
          <p:cNvSpPr txBox="1"/>
          <p:nvPr/>
        </p:nvSpPr>
        <p:spPr>
          <a:xfrm>
            <a:off x="1524000" y="4775200"/>
            <a:ext cx="18542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Focuses on dividing organizations into large, distinct business units or functional areas to enhance overall security boundaries.</a:t>
            </a:r>
          </a:p>
        </p:txBody>
      </p:sp>
      <p:sp>
        <p:nvSpPr>
          <p:cNvPr id="9" name="Rounded Rectangle 8"/>
          <p:cNvSpPr/>
          <p:nvPr/>
        </p:nvSpPr>
        <p:spPr>
          <a:xfrm>
            <a:off x="36322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4546600" y="4025900"/>
            <a:ext cx="18542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Micro Segmentation</a:t>
            </a:r>
          </a:p>
        </p:txBody>
      </p:sp>
      <p:sp>
        <p:nvSpPr>
          <p:cNvPr id="11" name="TextBox 10"/>
          <p:cNvSpPr txBox="1"/>
          <p:nvPr/>
        </p:nvSpPr>
        <p:spPr>
          <a:xfrm>
            <a:off x="4546600" y="4775200"/>
            <a:ext cx="1854200" cy="2654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Establishes finer segmentation within enterprise networks, restricting communication between individual workloads or applications for improved control.</a:t>
            </a:r>
          </a:p>
        </p:txBody>
      </p:sp>
      <p:sp>
        <p:nvSpPr>
          <p:cNvPr id="12" name="Rounded Rectangle 11"/>
          <p:cNvSpPr/>
          <p:nvPr/>
        </p:nvSpPr>
        <p:spPr>
          <a:xfrm>
            <a:off x="66548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7569200" y="4025900"/>
            <a:ext cx="16256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Adoption Trends</a:t>
            </a:r>
          </a:p>
        </p:txBody>
      </p:sp>
      <p:sp>
        <p:nvSpPr>
          <p:cNvPr id="14" name="TextBox 13"/>
          <p:cNvSpPr txBox="1"/>
          <p:nvPr/>
        </p:nvSpPr>
        <p:spPr>
          <a:xfrm>
            <a:off x="7569200" y="4775200"/>
            <a:ext cx="1625600" cy="2362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Growing number of companies are integrating micro-segmentation, with over 55% implementing or planning AI-based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16256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Zone Segmentation: Context-Aware Security</a:t>
            </a:r>
          </a:p>
        </p:txBody>
      </p:sp>
      <p:pic>
        <p:nvPicPr>
          <p:cNvPr id="3" name="Picture 2" descr="0426b271-c247-4948-8453-ae0c434dff38.png"/>
          <p:cNvPicPr>
            <a:picLocks noChangeAspect="1"/>
          </p:cNvPicPr>
          <p:nvPr/>
        </p:nvPicPr>
        <p:blipFill>
          <a:blip r:embed="rId3"/>
          <a:stretch>
            <a:fillRect/>
          </a:stretch>
        </p:blipFill>
        <p:spPr>
          <a:xfrm>
            <a:off x="914400" y="2438400"/>
            <a:ext cx="6604000" cy="6604000"/>
          </a:xfrm>
          <a:prstGeom prst="rect">
            <a:avLst/>
          </a:prstGeom>
        </p:spPr>
      </p:pic>
      <p:sp>
        <p:nvSpPr>
          <p:cNvPr id="4" name="TextBox 3"/>
          <p:cNvSpPr txBox="1"/>
          <p:nvPr/>
        </p:nvSpPr>
        <p:spPr>
          <a:xfrm>
            <a:off x="8432800" y="24384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Dynamic zone segmentation leverages Security Group Tags for efficient, context-based policy assignment.</a:t>
            </a:r>
          </a:p>
        </p:txBody>
      </p:sp>
      <p:sp>
        <p:nvSpPr>
          <p:cNvPr id="5" name="Rounded Rectangle 4"/>
          <p:cNvSpPr/>
          <p:nvPr/>
        </p:nvSpPr>
        <p:spPr>
          <a:xfrm>
            <a:off x="8432800" y="35052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35052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Policy Assignment</a:t>
            </a:r>
          </a:p>
        </p:txBody>
      </p:sp>
      <p:sp>
        <p:nvSpPr>
          <p:cNvPr id="7" name="Rounded Rectangle 6"/>
          <p:cNvSpPr/>
          <p:nvPr/>
        </p:nvSpPr>
        <p:spPr>
          <a:xfrm>
            <a:off x="9499600" y="39116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40513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Security policies are mapped dynamically to users, devices, or apps using SGT.</a:t>
            </a:r>
          </a:p>
        </p:txBody>
      </p:sp>
      <p:sp>
        <p:nvSpPr>
          <p:cNvPr id="9" name="Rounded Rectangle 8"/>
          <p:cNvSpPr/>
          <p:nvPr/>
        </p:nvSpPr>
        <p:spPr>
          <a:xfrm>
            <a:off x="8432800" y="52705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52705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Integrated Enforcement</a:t>
            </a:r>
          </a:p>
        </p:txBody>
      </p:sp>
      <p:sp>
        <p:nvSpPr>
          <p:cNvPr id="11" name="Rounded Rectangle 10"/>
          <p:cNvSpPr/>
          <p:nvPr/>
        </p:nvSpPr>
        <p:spPr>
          <a:xfrm>
            <a:off x="9499600" y="56769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8166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Real-time policy application through FTD and ISE for immediate response.</a:t>
            </a:r>
          </a:p>
        </p:txBody>
      </p:sp>
      <p:sp>
        <p:nvSpPr>
          <p:cNvPr id="13" name="Rounded Rectangle 12"/>
          <p:cNvSpPr/>
          <p:nvPr/>
        </p:nvSpPr>
        <p:spPr>
          <a:xfrm>
            <a:off x="8432800" y="70358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70358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Operational Efficiency</a:t>
            </a:r>
          </a:p>
        </p:txBody>
      </p:sp>
      <p:sp>
        <p:nvSpPr>
          <p:cNvPr id="15" name="Rounded Rectangle 14"/>
          <p:cNvSpPr/>
          <p:nvPr/>
        </p:nvSpPr>
        <p:spPr>
          <a:xfrm>
            <a:off x="9499600" y="74422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75819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Reduces manual effort in managing policies by automating context-based controls.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15621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Unified Policy Management Across Environments</a:t>
            </a:r>
          </a:p>
        </p:txBody>
      </p:sp>
      <p:sp>
        <p:nvSpPr>
          <p:cNvPr id="3" name="TextBox 2"/>
          <p:cNvSpPr txBox="1"/>
          <p:nvPr/>
        </p:nvSpPr>
        <p:spPr>
          <a:xfrm>
            <a:off x="1117600" y="25781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25781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Centralized Oversight</a:t>
            </a:r>
          </a:p>
        </p:txBody>
      </p:sp>
      <p:sp>
        <p:nvSpPr>
          <p:cNvPr id="5" name="TextBox 4"/>
          <p:cNvSpPr txBox="1"/>
          <p:nvPr/>
        </p:nvSpPr>
        <p:spPr>
          <a:xfrm>
            <a:off x="1892300" y="31115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Manage policies across on-premises and multi-cloud with unified visibility.</a:t>
            </a:r>
          </a:p>
        </p:txBody>
      </p:sp>
      <p:sp>
        <p:nvSpPr>
          <p:cNvPr id="6" name="TextBox 5"/>
          <p:cNvSpPr txBox="1"/>
          <p:nvPr/>
        </p:nvSpPr>
        <p:spPr>
          <a:xfrm>
            <a:off x="8940800" y="25781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25781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Automated Policy Updates</a:t>
            </a:r>
          </a:p>
        </p:txBody>
      </p:sp>
      <p:sp>
        <p:nvSpPr>
          <p:cNvPr id="8" name="TextBox 7"/>
          <p:cNvSpPr txBox="1"/>
          <p:nvPr/>
        </p:nvSpPr>
        <p:spPr>
          <a:xfrm>
            <a:off x="9715500" y="31115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Real-time updates via dynamic tag-based assignment streamline policy alignment.</a:t>
            </a:r>
          </a:p>
        </p:txBody>
      </p:sp>
      <p:sp>
        <p:nvSpPr>
          <p:cNvPr id="9" name="TextBox 8"/>
          <p:cNvSpPr txBox="1"/>
          <p:nvPr/>
        </p:nvSpPr>
        <p:spPr>
          <a:xfrm>
            <a:off x="1117600" y="45720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4572000"/>
            <a:ext cx="51435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Accelerated Response Times</a:t>
            </a:r>
          </a:p>
        </p:txBody>
      </p:sp>
      <p:sp>
        <p:nvSpPr>
          <p:cNvPr id="11" name="TextBox 10"/>
          <p:cNvSpPr txBox="1"/>
          <p:nvPr/>
        </p:nvSpPr>
        <p:spPr>
          <a:xfrm>
            <a:off x="1892300" y="5105400"/>
            <a:ext cx="5143500" cy="3302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Reduce response time to policy changes by up to 50%.</a:t>
            </a:r>
          </a:p>
        </p:txBody>
      </p:sp>
      <p:sp>
        <p:nvSpPr>
          <p:cNvPr id="12" name="TextBox 11"/>
          <p:cNvSpPr txBox="1"/>
          <p:nvPr/>
        </p:nvSpPr>
        <p:spPr>
          <a:xfrm>
            <a:off x="8940800" y="45720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4</a:t>
            </a:r>
          </a:p>
        </p:txBody>
      </p:sp>
      <p:sp>
        <p:nvSpPr>
          <p:cNvPr id="13" name="TextBox 12"/>
          <p:cNvSpPr txBox="1"/>
          <p:nvPr/>
        </p:nvSpPr>
        <p:spPr>
          <a:xfrm>
            <a:off x="9715500" y="45720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Consistent Security</a:t>
            </a:r>
          </a:p>
        </p:txBody>
      </p:sp>
      <p:sp>
        <p:nvSpPr>
          <p:cNvPr id="14" name="TextBox 13"/>
          <p:cNvSpPr txBox="1"/>
          <p:nvPr/>
        </p:nvSpPr>
        <p:spPr>
          <a:xfrm>
            <a:off x="9715500" y="51054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Ensure security standards remain uniform across environments using centralized controls.</a:t>
            </a:r>
          </a:p>
        </p:txBody>
      </p:sp>
      <p:sp>
        <p:nvSpPr>
          <p:cNvPr id="15" name="Rounded Rectangle 14"/>
          <p:cNvSpPr/>
          <p:nvPr/>
        </p:nvSpPr>
        <p:spPr>
          <a:xfrm>
            <a:off x="1117600" y="64770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270000" y="66294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7" name="Picture 16" descr="ba78404f-1608-4c2d-a298-470e90d2751b.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Smart Switches &amp; L4 Segmentation</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Enhanced Application Awareness</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Smart switches recognize and manage traffic at the application level, increasing control in the access layer.</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Dynamic Policy Enforcement</a:t>
            </a:r>
          </a:p>
        </p:txBody>
      </p:sp>
      <p:sp>
        <p:nvSpPr>
          <p:cNvPr id="8" name="TextBox 7"/>
          <p:cNvSpPr txBox="1"/>
          <p:nvPr/>
        </p:nvSpPr>
        <p:spPr>
          <a:xfrm>
            <a:off x="9715500" y="2336800"/>
            <a:ext cx="5448300" cy="977900"/>
          </a:xfrm>
          <a:prstGeom prst="rect">
            <a:avLst/>
          </a:prstGeom>
          <a:noFill/>
        </p:spPr>
        <p:txBody>
          <a:bodyPr wrap="square" lIns="0" rIns="0" tIns="0" bIns="0">
            <a:spAutoFit/>
          </a:bodyPr>
          <a:lstStyle/>
          <a:p>
            <a:pPr algn="l">
              <a:lnSpc>
                <a:spcPct val="130000"/>
              </a:lnSpc>
              <a:defRPr i="0" sz="1600" b="0">
                <a:solidFill>
                  <a:srgbClr val="25344A"/>
                </a:solidFill>
                <a:latin typeface="Open Sans"/>
              </a:defRPr>
            </a:pPr>
            <a:r>
              <a:rPr i="0" sz="1600" b="0">
                <a:solidFill>
                  <a:srgbClr val="25344A"/>
                </a:solidFill>
                <a:latin typeface="Open Sans"/>
              </a:rPr>
              <a:t>Policies are applied based on app, user, and device attributes, moving beyond traditional VLAN and IP-based rules.</a:t>
            </a:r>
          </a:p>
        </p:txBody>
      </p:sp>
      <p:sp>
        <p:nvSpPr>
          <p:cNvPr id="9" name="TextBox 8"/>
          <p:cNvSpPr txBox="1"/>
          <p:nvPr/>
        </p:nvSpPr>
        <p:spPr>
          <a:xfrm>
            <a:off x="1117600" y="41148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41148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Security Impact</a:t>
            </a:r>
          </a:p>
        </p:txBody>
      </p:sp>
      <p:sp>
        <p:nvSpPr>
          <p:cNvPr id="11" name="TextBox 10"/>
          <p:cNvSpPr txBox="1"/>
          <p:nvPr/>
        </p:nvSpPr>
        <p:spPr>
          <a:xfrm>
            <a:off x="1892300" y="46482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Deployment cuts lateral movement attack vectors by 60%, limiting threat spread within the network.</a:t>
            </a:r>
          </a:p>
        </p:txBody>
      </p:sp>
      <p:pic>
        <p:nvPicPr>
          <p:cNvPr id="12" name="Picture 11" descr="b152506b-c7aa-4c17-8db8-dfcd88bf292d.png"/>
          <p:cNvPicPr>
            <a:picLocks noChangeAspect="1"/>
          </p:cNvPicPr>
          <p:nvPr/>
        </p:nvPicPr>
        <p:blipFill>
          <a:blip r:embed="rId3"/>
          <a:stretch>
            <a:fillRect/>
          </a:stretch>
        </p:blipFill>
        <p:spPr>
          <a:xfrm>
            <a:off x="1117600" y="5816600"/>
            <a:ext cx="6096000" cy="2032000"/>
          </a:xfrm>
          <a:prstGeom prst="rect">
            <a:avLst/>
          </a:prstGeom>
        </p:spPr>
      </p:pic>
      <p:sp>
        <p:nvSpPr>
          <p:cNvPr id="13" name="TextBox 12"/>
          <p:cNvSpPr txBox="1"/>
          <p:nvPr/>
        </p:nvSpPr>
        <p:spPr>
          <a:xfrm>
            <a:off x="4127500" y="7429500"/>
            <a:ext cx="3149600" cy="279400"/>
          </a:xfrm>
          <a:prstGeom prst="rect">
            <a:avLst/>
          </a:prstGeom>
          <a:noFill/>
        </p:spPr>
        <p:txBody>
          <a:bodyPr wrap="none" lIns="0" rIns="0" tIns="0" bIns="0">
            <a:spAutoFit/>
          </a:bodyPr>
          <a:lstStyle/>
          <a:p>
            <a:pPr algn="l">
              <a:defRPr i="0" sz="1600" b="0">
                <a:solidFill>
                  <a:srgbClr val="09090B"/>
                </a:solidFill>
                <a:latin typeface="Open Sans"/>
              </a:defRPr>
            </a:pPr>
            <a:r>
              <a:rPr i="0" sz="1600" b="0">
                <a:solidFill>
                  <a:srgbClr val="09090B"/>
                </a:solidFill>
                <a:latin typeface="Open Sans"/>
              </a:rPr>
              <a:t>After Smart Switch Segmentation</a:t>
            </a:r>
          </a:p>
        </p:txBody>
      </p:sp>
      <p:sp>
        <p:nvSpPr>
          <p:cNvPr id="14" name="TextBox 13"/>
          <p:cNvSpPr txBox="1"/>
          <p:nvPr/>
        </p:nvSpPr>
        <p:spPr>
          <a:xfrm>
            <a:off x="1727200" y="7251700"/>
            <a:ext cx="139700" cy="279400"/>
          </a:xfrm>
          <a:prstGeom prst="rect">
            <a:avLst/>
          </a:prstGeom>
          <a:noFill/>
        </p:spPr>
        <p:txBody>
          <a:bodyPr wrap="none" lIns="0" rIns="0" tIns="0" bIns="0">
            <a:spAutoFit/>
          </a:bodyPr>
          <a:lstStyle/>
          <a:p>
            <a:pPr algn="l">
              <a:defRPr i="0" sz="1600" b="0">
                <a:solidFill>
                  <a:srgbClr val="09090B"/>
                </a:solidFill>
                <a:latin typeface="Open Sans"/>
              </a:defRPr>
            </a:pPr>
            <a:r>
              <a:rPr i="0" sz="1600" b="0">
                <a:solidFill>
                  <a:srgbClr val="09090B"/>
                </a:solidFill>
                <a:latin typeface="Open Sans"/>
              </a:rPr>
              <a:t>0</a:t>
            </a:r>
          </a:p>
        </p:txBody>
      </p:sp>
      <p:sp>
        <p:nvSpPr>
          <p:cNvPr id="15" name="TextBox 14"/>
          <p:cNvSpPr txBox="1"/>
          <p:nvPr/>
        </p:nvSpPr>
        <p:spPr>
          <a:xfrm>
            <a:off x="1612900" y="6870700"/>
            <a:ext cx="254000" cy="279400"/>
          </a:xfrm>
          <a:prstGeom prst="rect">
            <a:avLst/>
          </a:prstGeom>
          <a:noFill/>
        </p:spPr>
        <p:txBody>
          <a:bodyPr wrap="none" lIns="0" rIns="0" tIns="0" bIns="0">
            <a:spAutoFit/>
          </a:bodyPr>
          <a:lstStyle/>
          <a:p>
            <a:pPr algn="l">
              <a:defRPr i="0" sz="1600" b="0">
                <a:solidFill>
                  <a:srgbClr val="09090B"/>
                </a:solidFill>
                <a:latin typeface="Open Sans"/>
              </a:defRPr>
            </a:pPr>
            <a:r>
              <a:rPr i="0" sz="1600" b="0">
                <a:solidFill>
                  <a:srgbClr val="09090B"/>
                </a:solidFill>
                <a:latin typeface="Open Sans"/>
              </a:rPr>
              <a:t>25</a:t>
            </a:r>
          </a:p>
        </p:txBody>
      </p:sp>
      <p:sp>
        <p:nvSpPr>
          <p:cNvPr id="16" name="TextBox 15"/>
          <p:cNvSpPr txBox="1"/>
          <p:nvPr/>
        </p:nvSpPr>
        <p:spPr>
          <a:xfrm>
            <a:off x="1612900" y="6489700"/>
            <a:ext cx="254000" cy="279400"/>
          </a:xfrm>
          <a:prstGeom prst="rect">
            <a:avLst/>
          </a:prstGeom>
          <a:noFill/>
        </p:spPr>
        <p:txBody>
          <a:bodyPr wrap="none" lIns="0" rIns="0" tIns="0" bIns="0">
            <a:spAutoFit/>
          </a:bodyPr>
          <a:lstStyle/>
          <a:p>
            <a:pPr algn="l">
              <a:defRPr i="0" sz="1600" b="0">
                <a:solidFill>
                  <a:srgbClr val="09090B"/>
                </a:solidFill>
                <a:latin typeface="Open Sans"/>
              </a:defRPr>
            </a:pPr>
            <a:r>
              <a:rPr i="0" sz="1600" b="0">
                <a:solidFill>
                  <a:srgbClr val="09090B"/>
                </a:solidFill>
                <a:latin typeface="Open Sans"/>
              </a:rPr>
              <a:t>50</a:t>
            </a:r>
          </a:p>
        </p:txBody>
      </p:sp>
      <p:sp>
        <p:nvSpPr>
          <p:cNvPr id="17" name="TextBox 16"/>
          <p:cNvSpPr txBox="1"/>
          <p:nvPr/>
        </p:nvSpPr>
        <p:spPr>
          <a:xfrm>
            <a:off x="1498600" y="5816600"/>
            <a:ext cx="368300" cy="279400"/>
          </a:xfrm>
          <a:prstGeom prst="rect">
            <a:avLst/>
          </a:prstGeom>
          <a:noFill/>
        </p:spPr>
        <p:txBody>
          <a:bodyPr wrap="none" lIns="0" rIns="0" tIns="0" bIns="0">
            <a:spAutoFit/>
          </a:bodyPr>
          <a:lstStyle/>
          <a:p>
            <a:pPr algn="l">
              <a:defRPr i="0" sz="1600" b="0">
                <a:solidFill>
                  <a:srgbClr val="09090B"/>
                </a:solidFill>
                <a:latin typeface="Open Sans"/>
              </a:defRPr>
            </a:pPr>
            <a:r>
              <a:rPr i="0" sz="1600" b="0">
                <a:solidFill>
                  <a:srgbClr val="09090B"/>
                </a:solidFill>
                <a:latin typeface="Open Sans"/>
              </a:rPr>
              <a:t>100</a:t>
            </a:r>
          </a:p>
        </p:txBody>
      </p:sp>
      <p:sp>
        <p:nvSpPr>
          <p:cNvPr id="18" name="Rounded Rectangle 17"/>
          <p:cNvSpPr/>
          <p:nvPr/>
        </p:nvSpPr>
        <p:spPr>
          <a:xfrm>
            <a:off x="1117600" y="80518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1270000" y="8204200"/>
            <a:ext cx="13741400" cy="304800"/>
          </a:xfrm>
          <a:prstGeom prst="rect">
            <a:avLst/>
          </a:prstGeom>
          <a:noFill/>
        </p:spPr>
        <p:txBody>
          <a:bodyPr wrap="square" lIns="0" rIns="0" tIns="0" bIns="0">
            <a:spAutoFit/>
          </a:bodyPr>
          <a:lstStyle/>
          <a:p>
            <a:pPr algn="l">
              <a:lnSpc>
                <a:spcPct val="120000"/>
              </a:lnSpc>
              <a:defRPr i="0" sz="1600" b="0">
                <a:solidFill>
                  <a:srgbClr val="09090B"/>
                </a:solidFill>
                <a:latin typeface="Open Sans"/>
              </a:defRPr>
            </a:pPr>
            <a:r>
              <a:rPr i="0" sz="1600" b="0">
                <a:solidFill>
                  <a:srgbClr val="09090B"/>
                </a:solidFill>
                <a:latin typeface="Open Sans"/>
              </a:rPr>
              <a:t>graph TD</a:t>
            </a:r>
            <a:r>
              <a:t>
</a:t>
            </a:r>
            <a:r>
              <a:rPr i="0" sz="1600" b="0">
                <a:solidFill>
                  <a:srgbClr val="09090B"/>
                </a:solidFill>
                <a:latin typeface="Open Sans"/>
              </a:rPr>
              <a:t>    A[App-Aware Smart Switch]</a:t>
            </a:r>
            <a:r>
              <a:t>
</a:t>
            </a:r>
            <a:r>
              <a:rPr i="0" sz="1600" b="0">
                <a:solidFill>
                  <a:srgbClr val="09090B"/>
                </a:solidFill>
                <a:latin typeface="Open Sans"/>
              </a:rPr>
              <a:t>    B[User &amp; Device Policies]</a:t>
            </a:r>
            <a:r>
              <a:t>
</a:t>
            </a:r>
            <a:r>
              <a:rPr i="0" sz="1600" b="0">
                <a:solidFill>
                  <a:srgbClr val="09090B"/>
                </a:solidFill>
                <a:latin typeface="Open Sans"/>
              </a:rPr>
              <a:t>    C[L4 Segmentation]</a:t>
            </a:r>
            <a:r>
              <a:t>
</a:t>
            </a:r>
            <a:r>
              <a:rPr i="0" sz="1600" b="0">
                <a:solidFill>
                  <a:srgbClr val="09090B"/>
                </a:solidFill>
                <a:latin typeface="Open Sans"/>
              </a:rPr>
              <a:t>    D[Reduced Threat Movement]</a:t>
            </a:r>
            <a:r>
              <a:t>
</a:t>
            </a:r>
            <a:r>
              <a:rPr i="0" sz="1600" b="0">
                <a:solidFill>
                  <a:srgbClr val="09090B"/>
                </a:solidFill>
                <a:latin typeface="Open Sans"/>
              </a:rPr>
              <a:t>    A --&gt; B --&gt; C --&gt; D</a:t>
            </a:r>
          </a:p>
        </p:txBody>
      </p:sp>
      <p:pic>
        <p:nvPicPr>
          <p:cNvPr id="20" name="Picture 19" descr="c2b3c947-93aa-4b50-9d65-5471e4f81fee.png"/>
          <p:cNvPicPr>
            <a:picLocks noChangeAspect="1"/>
          </p:cNvPicPr>
          <p:nvPr/>
        </p:nvPicPr>
        <p:blipFill>
          <a:blip r:embed="rId4"/>
          <a:stretch>
            <a:fillRect/>
          </a:stretch>
        </p:blipFill>
        <p:spPr>
          <a:xfrm>
            <a:off x="0" y="6858000"/>
            <a:ext cx="16256000" cy="2286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3233400" cy="1562100"/>
          </a:xfrm>
          <a:prstGeom prst="rect">
            <a:avLst/>
          </a:prstGeom>
          <a:noFill/>
        </p:spPr>
        <p:txBody>
          <a:bodyPr wrap="square" lIns="0" rIns="0" tIns="0" bIns="0">
            <a:spAutoFit/>
          </a:bodyPr>
          <a:lstStyle/>
          <a:p>
            <a:pPr algn="l">
              <a:lnSpc>
                <a:spcPct val="80000"/>
              </a:lnSpc>
              <a:defRPr i="0" sz="5600" b="1">
                <a:solidFill>
                  <a:srgbClr val="0A2B66"/>
                </a:solidFill>
                <a:latin typeface="Open Sans"/>
              </a:defRPr>
            </a:pPr>
            <a:r>
              <a:rPr i="0" sz="5600" b="1">
                <a:solidFill>
                  <a:srgbClr val="0A2B66"/>
                </a:solidFill>
                <a:latin typeface="Open Sans"/>
              </a:rPr>
              <a:t>Competitive Differentiators: Quantitative Insights</a:t>
            </a:r>
          </a:p>
        </p:txBody>
      </p:sp>
      <p:sp>
        <p:nvSpPr>
          <p:cNvPr id="3" name="TextBox 2"/>
          <p:cNvSpPr txBox="1"/>
          <p:nvPr/>
        </p:nvSpPr>
        <p:spPr>
          <a:xfrm>
            <a:off x="2082800" y="2781300"/>
            <a:ext cx="2984500" cy="6350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Encrypted Traffic Inspection</a:t>
            </a:r>
          </a:p>
        </p:txBody>
      </p:sp>
      <p:sp>
        <p:nvSpPr>
          <p:cNvPr id="4" name="TextBox 3"/>
          <p:cNvSpPr txBox="1"/>
          <p:nvPr/>
        </p:nvSpPr>
        <p:spPr>
          <a:xfrm>
            <a:off x="2082800" y="35179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Inspection of up to 95% of encrypted flows enables advanced threat detection and regulatory compliance.</a:t>
            </a:r>
          </a:p>
        </p:txBody>
      </p:sp>
      <p:sp>
        <p:nvSpPr>
          <p:cNvPr id="5" name="TextBox 4"/>
          <p:cNvSpPr txBox="1"/>
          <p:nvPr/>
        </p:nvSpPr>
        <p:spPr>
          <a:xfrm>
            <a:off x="7124700" y="27813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Unified Visibility</a:t>
            </a:r>
          </a:p>
        </p:txBody>
      </p:sp>
      <p:sp>
        <p:nvSpPr>
          <p:cNvPr id="6" name="TextBox 5"/>
          <p:cNvSpPr txBox="1"/>
          <p:nvPr/>
        </p:nvSpPr>
        <p:spPr>
          <a:xfrm>
            <a:off x="7124700" y="32004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Achieves total asset coverage in both cloud and on-prem environments, supporting comprehensive monitoring and governance.</a:t>
            </a:r>
          </a:p>
        </p:txBody>
      </p:sp>
      <p:sp>
        <p:nvSpPr>
          <p:cNvPr id="7" name="TextBox 6"/>
          <p:cNvSpPr txBox="1"/>
          <p:nvPr/>
        </p:nvSpPr>
        <p:spPr>
          <a:xfrm>
            <a:off x="12179300" y="27813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Policy Automation Gains</a:t>
            </a:r>
          </a:p>
        </p:txBody>
      </p:sp>
      <p:sp>
        <p:nvSpPr>
          <p:cNvPr id="8" name="TextBox 7"/>
          <p:cNvSpPr txBox="1"/>
          <p:nvPr/>
        </p:nvSpPr>
        <p:spPr>
          <a:xfrm>
            <a:off x="12179300" y="32004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Manual policy interventions reduced by 40%, streamlining operations, lowering risk, and improving efficiency across teams.</a:t>
            </a:r>
          </a:p>
        </p:txBody>
      </p:sp>
      <p:pic>
        <p:nvPicPr>
          <p:cNvPr id="9" name="Picture 8" descr="3419fd63-4806-46b1-b5a0-ded922ea7e1a.png"/>
          <p:cNvPicPr>
            <a:picLocks noChangeAspect="1"/>
          </p:cNvPicPr>
          <p:nvPr/>
        </p:nvPicPr>
        <p:blipFill>
          <a:blip r:embed="rId3"/>
          <a:stretch>
            <a:fillRect/>
          </a:stretch>
        </p:blipFill>
        <p:spPr>
          <a:xfrm>
            <a:off x="1117600" y="5143500"/>
            <a:ext cx="8128000" cy="2540000"/>
          </a:xfrm>
          <a:prstGeom prst="rect">
            <a:avLst/>
          </a:prstGeom>
        </p:spPr>
      </p:pic>
      <p:sp>
        <p:nvSpPr>
          <p:cNvPr id="10" name="TextBox 9"/>
          <p:cNvSpPr txBox="1"/>
          <p:nvPr/>
        </p:nvSpPr>
        <p:spPr>
          <a:xfrm>
            <a:off x="1689100" y="7277100"/>
            <a:ext cx="29464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Encrypted Traffic Inspected (%)</a:t>
            </a:r>
          </a:p>
        </p:txBody>
      </p:sp>
      <p:sp>
        <p:nvSpPr>
          <p:cNvPr id="11" name="TextBox 10"/>
          <p:cNvSpPr txBox="1"/>
          <p:nvPr/>
        </p:nvSpPr>
        <p:spPr>
          <a:xfrm>
            <a:off x="6146800" y="7277100"/>
            <a:ext cx="31369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Policy Manual Tasks Reduced (%)</a:t>
            </a:r>
          </a:p>
        </p:txBody>
      </p:sp>
      <p:sp>
        <p:nvSpPr>
          <p:cNvPr id="12" name="TextBox 11"/>
          <p:cNvSpPr txBox="1"/>
          <p:nvPr/>
        </p:nvSpPr>
        <p:spPr>
          <a:xfrm>
            <a:off x="1727200" y="7099300"/>
            <a:ext cx="1397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0</a:t>
            </a:r>
          </a:p>
        </p:txBody>
      </p:sp>
      <p:sp>
        <p:nvSpPr>
          <p:cNvPr id="13" name="TextBox 12"/>
          <p:cNvSpPr txBox="1"/>
          <p:nvPr/>
        </p:nvSpPr>
        <p:spPr>
          <a:xfrm>
            <a:off x="1612900" y="6591300"/>
            <a:ext cx="2540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25</a:t>
            </a:r>
          </a:p>
        </p:txBody>
      </p:sp>
      <p:sp>
        <p:nvSpPr>
          <p:cNvPr id="14" name="TextBox 13"/>
          <p:cNvSpPr txBox="1"/>
          <p:nvPr/>
        </p:nvSpPr>
        <p:spPr>
          <a:xfrm>
            <a:off x="1612900" y="6083300"/>
            <a:ext cx="2540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50</a:t>
            </a:r>
          </a:p>
        </p:txBody>
      </p:sp>
      <p:sp>
        <p:nvSpPr>
          <p:cNvPr id="15" name="TextBox 14"/>
          <p:cNvSpPr txBox="1"/>
          <p:nvPr/>
        </p:nvSpPr>
        <p:spPr>
          <a:xfrm>
            <a:off x="1612900" y="5575300"/>
            <a:ext cx="2540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75</a:t>
            </a:r>
          </a:p>
        </p:txBody>
      </p:sp>
      <p:sp>
        <p:nvSpPr>
          <p:cNvPr id="16" name="TextBox 15"/>
          <p:cNvSpPr txBox="1"/>
          <p:nvPr/>
        </p:nvSpPr>
        <p:spPr>
          <a:xfrm>
            <a:off x="1498600" y="5156200"/>
            <a:ext cx="368300" cy="279400"/>
          </a:xfrm>
          <a:prstGeom prst="rect">
            <a:avLst/>
          </a:prstGeom>
          <a:noFill/>
        </p:spPr>
        <p:txBody>
          <a:bodyPr wrap="none" lIns="0" rIns="0" tIns="0" bIns="0">
            <a:spAutoFit/>
          </a:bodyPr>
          <a:lstStyle/>
          <a:p>
            <a:pPr algn="l">
              <a:defRPr i="0" sz="1600" b="0">
                <a:solidFill>
                  <a:srgbClr val="0A2B66"/>
                </a:solidFill>
                <a:latin typeface="Open Sans"/>
              </a:defRPr>
            </a:pPr>
            <a:r>
              <a:rPr i="0" sz="1600" b="0">
                <a:solidFill>
                  <a:srgbClr val="0A2B66"/>
                </a:solidFill>
                <a:latin typeface="Open Sans"/>
              </a:rPr>
              <a:t>100</a:t>
            </a:r>
          </a:p>
        </p:txBody>
      </p:sp>
      <p:sp>
        <p:nvSpPr>
          <p:cNvPr id="17" name="Rounded Rectangle 16"/>
          <p:cNvSpPr/>
          <p:nvPr/>
        </p:nvSpPr>
        <p:spPr>
          <a:xfrm>
            <a:off x="1943100" y="5270500"/>
            <a:ext cx="279400" cy="279400"/>
          </a:xfrm>
          <a:prstGeom prst="roundRect">
            <a:avLst>
              <a:gd name="adj" fmla="val 9090"/>
            </a:avLst>
          </a:prstGeom>
          <a:solidFill>
            <a:srgbClr val="FFFFFF"/>
          </a:solidFill>
          <a:ln w="12700">
            <a:solidFill>
              <a:srgbClr val="CCCCCC"/>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Rounded Rectangle 17"/>
          <p:cNvSpPr/>
          <p:nvPr/>
        </p:nvSpPr>
        <p:spPr>
          <a:xfrm>
            <a:off x="1117600" y="7988300"/>
            <a:ext cx="14020800" cy="1422400"/>
          </a:xfrm>
          <a:prstGeom prst="roundRect">
            <a:avLst>
              <a:gd name="adj" fmla="val 5357"/>
            </a:avLst>
          </a:prstGeom>
          <a:solidFill>
            <a:srgbClr val="F9FAF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1320800" y="8191500"/>
            <a:ext cx="13639800" cy="1016000"/>
          </a:xfrm>
          <a:prstGeom prst="rect">
            <a:avLst/>
          </a:prstGeom>
          <a:noFill/>
        </p:spPr>
        <p:txBody>
          <a:bodyPr wrap="square" lIns="0" rIns="0" tIns="0" bIns="0">
            <a:spAutoFit/>
          </a:bodyPr>
          <a:lstStyle/>
          <a:p>
            <a:pPr algn="l">
              <a:lnSpc>
                <a:spcPct val="113000"/>
              </a:lnSpc>
              <a:defRPr i="0" sz="1400" b="0">
                <a:solidFill>
                  <a:srgbClr val="1F2937"/>
                </a:solidFill>
                <a:latin typeface="ui-monospace"/>
              </a:defRPr>
            </a:pPr>
            <a:r>
              <a:rPr i="0" sz="1400" b="0">
                <a:solidFill>
                  <a:srgbClr val="1F2937"/>
                </a:solidFill>
                <a:latin typeface="ui-monospace"/>
              </a:rPr>
              <a:t>graph TD;</a:t>
            </a:r>
            <a:r>
              <a:t>
</a:t>
            </a:r>
            <a:r>
              <a:rPr i="0" sz="1400" b="0">
                <a:solidFill>
                  <a:srgbClr val="1F2937"/>
                </a:solidFill>
                <a:latin typeface="ui-monospace"/>
              </a:rPr>
              <a:t>  AssetCoverage[100% Asset Coverage] --&gt;|Drives| EnhancedSecurity;</a:t>
            </a:r>
            <a:r>
              <a:t>
</a:t>
            </a:r>
            <a:r>
              <a:rPr i="0" sz="1400" b="0">
                <a:solidFill>
                  <a:srgbClr val="1F2937"/>
                </a:solidFill>
                <a:latin typeface="ui-monospace"/>
              </a:rPr>
              <a:t>  EncryptedInspection[95% Encrypted Traffic Inspection] --&gt;|Enables| AdvancedThreatDetection;</a:t>
            </a:r>
            <a:r>
              <a:t>
</a:t>
            </a:r>
            <a:r>
              <a:rPr i="0" sz="1400" b="0">
                <a:solidFill>
                  <a:srgbClr val="1F2937"/>
                </a:solidFill>
                <a:latin typeface="ui-monospace"/>
              </a:rPr>
              <a:t>  AutomationGains[40% Less Manual Intervention] --&gt;|Improves| OperationalEfficiency;</a:t>
            </a:r>
          </a:p>
        </p:txBody>
      </p:sp>
      <p:pic>
        <p:nvPicPr>
          <p:cNvPr id="20" name="Picture 19" descr="72db5d90-d98e-4018-aa65-fad980e9d828.png"/>
          <p:cNvPicPr>
            <a:picLocks noChangeAspect="1"/>
          </p:cNvPicPr>
          <p:nvPr/>
        </p:nvPicPr>
        <p:blipFill>
          <a:blip r:embed="rId4"/>
          <a:stretch>
            <a:fillRect/>
          </a:stretch>
        </p:blipFill>
        <p:spPr>
          <a:xfrm>
            <a:off x="0" y="9410700"/>
            <a:ext cx="16256000" cy="2336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Key Takeaways: AI-Driven Security</a:t>
            </a:r>
          </a:p>
        </p:txBody>
      </p:sp>
      <p:pic>
        <p:nvPicPr>
          <p:cNvPr id="3" name="Picture 2" descr="5ea9083a-b773-40e5-ba8c-86a4810d57c0.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Modern segmentation and policy solutions bridge major security gaps through context-aware, unified controls across environments.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Encrypted Traffic Inspection</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Efficiently secures and inspects encrypted flows to ensure compliance and threat visibility.</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Unified Policy Management</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Delivers consistent, environment-wide enforcement, minimizing gaps across cloud and on-prem environments.</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Context-Aware Enforcement</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AI enables dynamic adaptation of policies, responding in real time to changing conditions and risks.</a:t>
            </a:r>
          </a:p>
        </p:txBody>
      </p:sp>
      <p:sp>
        <p:nvSpPr>
          <p:cNvPr id="17" name="Rounded Rectangle 16"/>
          <p:cNvSpPr/>
          <p:nvPr/>
        </p:nvSpPr>
        <p:spPr>
          <a:xfrm>
            <a:off x="8432800" y="79883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79883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Proven Impact</a:t>
            </a:r>
          </a:p>
        </p:txBody>
      </p:sp>
      <p:sp>
        <p:nvSpPr>
          <p:cNvPr id="19" name="Rounded Rectangle 18"/>
          <p:cNvSpPr/>
          <p:nvPr/>
        </p:nvSpPr>
        <p:spPr>
          <a:xfrm>
            <a:off x="9499600" y="83947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5344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Advanced segmentation users report up to 70% lower incident rates, improving security posture and resilience.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0" y="3683000"/>
            <a:ext cx="11963400" cy="1168400"/>
          </a:xfrm>
          <a:prstGeom prst="rect">
            <a:avLst/>
          </a:prstGeom>
          <a:noFill/>
        </p:spPr>
        <p:txBody>
          <a:bodyPr wrap="square" lIns="0" rIns="0" tIns="0" bIns="0">
            <a:spAutoFit/>
          </a:bodyPr>
          <a:lstStyle/>
          <a:p>
            <a:pPr algn="l">
              <a:lnSpc>
                <a:spcPct val="75000"/>
              </a:lnSpc>
              <a:defRPr i="0" sz="8800" b="1">
                <a:solidFill>
                  <a:srgbClr val="0B2D6B"/>
                </a:solidFill>
                <a:latin typeface="Open Sans"/>
              </a:defRPr>
            </a:pPr>
            <a:r>
              <a:rPr i="0" sz="8800" b="1">
                <a:solidFill>
                  <a:srgbClr val="0B2D6B"/>
                </a:solidFill>
                <a:latin typeface="Open Sans"/>
              </a:rPr>
              <a:t>Key References</a:t>
            </a:r>
          </a:p>
        </p:txBody>
      </p:sp>
      <p:sp>
        <p:nvSpPr>
          <p:cNvPr id="3" name="TextBox 2"/>
          <p:cNvSpPr txBox="1"/>
          <p:nvPr/>
        </p:nvSpPr>
        <p:spPr>
          <a:xfrm>
            <a:off x="2286000" y="5918200"/>
            <a:ext cx="11963400" cy="342900"/>
          </a:xfrm>
          <a:prstGeom prst="rect">
            <a:avLst/>
          </a:prstGeom>
          <a:noFill/>
        </p:spPr>
        <p:txBody>
          <a:bodyPr wrap="square" lIns="0" rIns="0" tIns="0" bIns="0">
            <a:spAutoFit/>
          </a:bodyPr>
          <a:lstStyle/>
          <a:p>
            <a:pPr algn="l">
              <a:defRPr i="0" sz="1800" b="1">
                <a:solidFill>
                  <a:srgbClr val="0B2D6B"/>
                </a:solidFill>
                <a:latin typeface="Open Sans"/>
              </a:defRPr>
            </a:pPr>
            <a:r>
              <a:rPr i="0" sz="1800" b="1">
                <a:solidFill>
                  <a:srgbClr val="0B2D6B"/>
                </a:solidFill>
                <a:latin typeface="Open Sans"/>
              </a:rPr>
              <a:t>Source Demos</a:t>
            </a:r>
          </a:p>
        </p:txBody>
      </p:sp>
      <p:sp>
        <p:nvSpPr>
          <p:cNvPr id="4" name="TextBox 3"/>
          <p:cNvSpPr txBox="1"/>
          <p:nvPr/>
        </p:nvSpPr>
        <p:spPr>
          <a:xfrm>
            <a:off x="2286000" y="6388100"/>
            <a:ext cx="11709400" cy="736600"/>
          </a:xfrm>
          <a:prstGeom prst="rect">
            <a:avLst/>
          </a:prstGeom>
          <a:noFill/>
        </p:spPr>
        <p:txBody>
          <a:bodyPr wrap="square" lIns="0" rIns="0" tIns="0" bIns="0">
            <a:spAutoFit/>
          </a:bodyPr>
          <a:lstStyle/>
          <a:p>
            <a:pPr algn="l">
              <a:lnSpc>
                <a:spcPct val="150000"/>
              </a:lnSpc>
              <a:defRPr i="0" sz="1600" b="0">
                <a:solidFill>
                  <a:srgbClr val="0B2D6B"/>
                </a:solidFill>
                <a:latin typeface="Open Sans"/>
              </a:defRPr>
            </a:pPr>
            <a:r>
              <a:rPr i="0" sz="1600" b="0">
                <a:solidFill>
                  <a:srgbClr val="0B2D6B"/>
                </a:solidFill>
                <a:latin typeface="Open Sans"/>
              </a:rPr>
              <a:t>Macro micro segmentation, policy management, smart switch, cloud edge, and campus zone segmentation use cases reviewed.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