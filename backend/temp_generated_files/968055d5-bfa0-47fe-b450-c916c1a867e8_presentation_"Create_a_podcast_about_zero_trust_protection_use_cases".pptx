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focus on Zero Trust security use cases, emphasizing how Cisco Zero Trust Solutions can address enterprise security needs with practical, actionable strategies.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Trust is a security strategy where no user or device is trusted automatically. Every access request is verified and authenticated, regardless of location or credentials, as a central approach to improving security.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Trust changes traditional security by focusing on constant verification. It doesn’t assume anything inside or outside a network is safe, but checks access at every point, minimizing risk.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hybrid work environments and device diversity become the norm, traditional security perimeters are no longer effective. Zero Trust addresses these challenges by ensuring every connection is verified, combating emerging threats such as ransomware and compromised third-party access.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Trust is built on granting minimal, necessary access, ensuring ongoing authentication, adapting controls based on current risk, and using threat intelligence to improve security posture.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Trust secure remote access enables direct application connectivity, eliminates traditional network bottlenecks and backhauling, and leverages global PoPs for reliable, low-latency experiences. Data security is maintained through robust encryption, while high-availability design ensures users always stay connected.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approach strengthens identity controls using adaptive MFA, real-time risk scoring, device validation, and session monitoring. The result is strong adoption, improved access security, and enhanced threat response.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Third-party and BYOD access presents an increasing risk for data breaches, as seen in recent statistics and cases like Uber. Utilizing Zero Trust, including VPN endpoint checks and agentless solutions, helps maintain control over these complex environments and reduces exposure.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how Zero Trust enables dynamic, context-aware access and automated responses by integrating threat intelligence directly at enforcement points, enhancing organizational security while proactively diminishing attack vectors.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Cisco ThousandEyes delivers robust visibility for both applications and networks across hybrid and cloud environments. This capability helps organizations monitor end-to-end performance, proactively identify disruptions, and optimize both user experience and operational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Trust authentication uses several methods: knowledge-based (passwords, PINs), possession-based (mobile phones, tokens), and biometric-based (fingerprints, facial recognition). Combining these strengthens security and minimizes the risk of unauthorized access.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Cisco streamlines managing diverse devices and users by uniting multiple access controls, making it easier to maintain security and consistency without excessive complexity.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92200" y="1879600"/>
            <a:ext cx="8153400" cy="3365500"/>
          </a:xfrm>
          <a:prstGeom prst="rect">
            <a:avLst/>
          </a:prstGeom>
          <a:noFill/>
        </p:spPr>
        <p:txBody>
          <a:bodyPr wrap="square" lIns="0" rIns="0" tIns="0" bIns="0">
            <a:spAutoFit/>
          </a:bodyPr>
          <a:lstStyle/>
          <a:p>
            <a:pPr algn="l">
              <a:lnSpc>
                <a:spcPct val="75000"/>
              </a:lnSpc>
              <a:defRPr i="0" sz="8400" b="1">
                <a:solidFill>
                  <a:srgbClr val="0B2A5C"/>
                </a:solidFill>
                <a:latin typeface="Source Sans Pro"/>
              </a:defRPr>
            </a:pPr>
            <a:r>
              <a:rPr i="0" sz="8400" b="1">
                <a:solidFill>
                  <a:srgbClr val="0B2A5C"/>
                </a:solidFill>
                <a:latin typeface="Source Sans Pro"/>
              </a:rPr>
              <a:t>Zero Trust Protection Use Cases</a:t>
            </a:r>
          </a:p>
        </p:txBody>
      </p:sp>
      <p:sp>
        <p:nvSpPr>
          <p:cNvPr id="3" name="TextBox 2"/>
          <p:cNvSpPr txBox="1"/>
          <p:nvPr/>
        </p:nvSpPr>
        <p:spPr>
          <a:xfrm>
            <a:off x="1092200" y="5651500"/>
            <a:ext cx="8153400" cy="711200"/>
          </a:xfrm>
          <a:prstGeom prst="rect">
            <a:avLst/>
          </a:prstGeom>
          <a:noFill/>
        </p:spPr>
        <p:txBody>
          <a:bodyPr wrap="square" lIns="0" rIns="0" tIns="0" bIns="0">
            <a:spAutoFit/>
          </a:bodyPr>
          <a:lstStyle/>
          <a:p>
            <a:pPr algn="l">
              <a:defRPr i="0" sz="1800" b="0">
                <a:solidFill>
                  <a:srgbClr val="475569"/>
                </a:solidFill>
                <a:latin typeface="Source Sans Pro"/>
              </a:defRPr>
            </a:pPr>
            <a:r>
              <a:rPr i="0" sz="1800" b="0">
                <a:solidFill>
                  <a:srgbClr val="475569"/>
                </a:solidFill>
                <a:latin typeface="Source Sans Pro"/>
              </a:rPr>
              <a:t>Explore practical applications and benefits of Zero Trust security, with guidance from Cisco Zero Trust Solutions for modern enterprises.</a:t>
            </a:r>
          </a:p>
        </p:txBody>
      </p:sp>
      <p:sp>
        <p:nvSpPr>
          <p:cNvPr id="4" name="Rounded Rectangle 3"/>
          <p:cNvSpPr/>
          <p:nvPr/>
        </p:nvSpPr>
        <p:spPr>
          <a:xfrm>
            <a:off x="1092200" y="7924800"/>
            <a:ext cx="711200" cy="711200"/>
          </a:xfrm>
          <a:prstGeom prst="roundRect">
            <a:avLst>
              <a:gd name="adj" fmla="val 50000"/>
            </a:avLst>
          </a:prstGeom>
          <a:solidFill>
            <a:srgbClr val="0B2A5C"/>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lnSpc>
                <a:spcPct val="120000"/>
              </a:lnSpc>
              <a:defRPr i="0" sz="1800" b="1">
                <a:solidFill>
                  <a:srgbClr val="FFFFFF"/>
                </a:solidFill>
                <a:latin typeface="Source Sans Pro"/>
              </a:defRPr>
            </a:pPr>
            <a:r>
              <a:rPr i="0" sz="1800" b="1">
                <a:solidFill>
                  <a:srgbClr val="FFFFFF"/>
                </a:solidFill>
                <a:latin typeface="Source Sans Pro"/>
              </a:rPr>
              <a:t>YN</a:t>
            </a:r>
          </a:p>
        </p:txBody>
      </p:sp>
      <p:sp>
        <p:nvSpPr>
          <p:cNvPr id="5" name="TextBox 4"/>
          <p:cNvSpPr txBox="1"/>
          <p:nvPr/>
        </p:nvSpPr>
        <p:spPr>
          <a:xfrm>
            <a:off x="2057400" y="8026400"/>
            <a:ext cx="1066800" cy="292100"/>
          </a:xfrm>
          <a:prstGeom prst="rect">
            <a:avLst/>
          </a:prstGeom>
          <a:noFill/>
        </p:spPr>
        <p:txBody>
          <a:bodyPr wrap="square" lIns="0" rIns="0" tIns="0" bIns="0">
            <a:spAutoFit/>
          </a:bodyPr>
          <a:lstStyle/>
          <a:p>
            <a:pPr algn="l">
              <a:defRPr i="0" sz="1800" b="1">
                <a:solidFill>
                  <a:srgbClr val="0B2A5C"/>
                </a:solidFill>
                <a:latin typeface="Source Sans Pro"/>
              </a:defRPr>
            </a:pPr>
            <a:r>
              <a:rPr i="0" sz="1800" b="1">
                <a:solidFill>
                  <a:srgbClr val="0B2A5C"/>
                </a:solidFill>
                <a:latin typeface="Source Sans Pro"/>
              </a:rPr>
              <a:t>Your Name</a:t>
            </a:r>
          </a:p>
        </p:txBody>
      </p:sp>
      <p:sp>
        <p:nvSpPr>
          <p:cNvPr id="6" name="TextBox 5"/>
          <p:cNvSpPr txBox="1"/>
          <p:nvPr/>
        </p:nvSpPr>
        <p:spPr>
          <a:xfrm>
            <a:off x="2057400" y="8318500"/>
            <a:ext cx="1066800" cy="228600"/>
          </a:xfrm>
          <a:prstGeom prst="rect">
            <a:avLst/>
          </a:prstGeom>
          <a:noFill/>
        </p:spPr>
        <p:txBody>
          <a:bodyPr wrap="square" lIns="0" rIns="0" tIns="0" bIns="0">
            <a:spAutoFit/>
          </a:bodyPr>
          <a:lstStyle/>
          <a:p>
            <a:pPr algn="l">
              <a:defRPr i="0" sz="1400" b="0">
                <a:solidFill>
                  <a:srgbClr val="334155"/>
                </a:solidFill>
                <a:latin typeface="Source Sans Pro"/>
              </a:defRPr>
            </a:pPr>
            <a:r>
              <a:rPr i="0" sz="1400" b="0">
                <a:solidFill>
                  <a:srgbClr val="334155"/>
                </a:solidFill>
                <a:latin typeface="Source Sans Pro"/>
              </a:rPr>
              <a:t>2026-02-19</a:t>
            </a:r>
          </a:p>
        </p:txBody>
      </p:sp>
      <p:pic>
        <p:nvPicPr>
          <p:cNvPr id="7" name="Picture 6" descr="36499b09-89e8-4297-ba58-0336b26b76e3.png"/>
          <p:cNvPicPr>
            <a:picLocks noChangeAspect="1"/>
          </p:cNvPicPr>
          <p:nvPr/>
        </p:nvPicPr>
        <p:blipFill>
          <a:blip r:embed="rId3"/>
          <a:stretch>
            <a:fillRect/>
          </a:stretch>
        </p:blipFill>
        <p:spPr>
          <a:xfrm>
            <a:off x="10160000" y="0"/>
            <a:ext cx="6096000" cy="9144000"/>
          </a:xfrm>
          <a:prstGeom prst="rect">
            <a:avLst/>
          </a:prstGeom>
        </p:spPr>
      </p:pic>
      <p:sp>
        <p:nvSpPr>
          <p:cNvPr id="8" name="Rounded Rectangle 7"/>
          <p:cNvSpPr/>
          <p:nvPr/>
        </p:nvSpPr>
        <p:spPr>
          <a:xfrm>
            <a:off x="10160000" y="0"/>
            <a:ext cx="6096000" cy="9144000"/>
          </a:xfrm>
          <a:prstGeom prst="roundRect">
            <a:avLst>
              <a:gd name="adj" fmla="val 416"/>
            </a:avLst>
          </a:prstGeom>
          <a:solidFill>
            <a:srgbClr val="0B2A5C">
              <a:alpha val="6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15062200" cy="787400"/>
          </a:xfrm>
          <a:prstGeom prst="rect">
            <a:avLst/>
          </a:prstGeom>
          <a:noFill/>
        </p:spPr>
        <p:txBody>
          <a:bodyPr wrap="square" lIns="0" rIns="0" tIns="0" bIns="0">
            <a:spAutoFit/>
          </a:bodyPr>
          <a:lstStyle/>
          <a:p>
            <a:pPr algn="l">
              <a:lnSpc>
                <a:spcPct val="80000"/>
              </a:lnSpc>
              <a:defRPr i="0" sz="5600" b="1">
                <a:solidFill>
                  <a:srgbClr val="082B69"/>
                </a:solidFill>
                <a:latin typeface="__inter_fd044d"/>
              </a:defRPr>
            </a:pPr>
            <a:r>
              <a:rPr i="0" sz="5600" b="1">
                <a:solidFill>
                  <a:srgbClr val="082B69"/>
                </a:solidFill>
                <a:latin typeface="__inter_fd044d"/>
              </a:rPr>
              <a:t>Introduction to Zero Trust</a:t>
            </a:r>
          </a:p>
        </p:txBody>
      </p:sp>
      <p:sp>
        <p:nvSpPr>
          <p:cNvPr id="3" name="Rounded Rectangle 2"/>
          <p:cNvSpPr/>
          <p:nvPr/>
        </p:nvSpPr>
        <p:spPr>
          <a:xfrm>
            <a:off x="6096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1</a:t>
            </a:r>
          </a:p>
        </p:txBody>
      </p:sp>
      <p:sp>
        <p:nvSpPr>
          <p:cNvPr id="4" name="TextBox 3"/>
          <p:cNvSpPr txBox="1"/>
          <p:nvPr/>
        </p:nvSpPr>
        <p:spPr>
          <a:xfrm>
            <a:off x="1625600" y="1993900"/>
            <a:ext cx="44831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Never trust, always verify as core approach</a:t>
            </a:r>
          </a:p>
        </p:txBody>
      </p:sp>
      <p:sp>
        <p:nvSpPr>
          <p:cNvPr id="5" name="Rounded Rectangle 4"/>
          <p:cNvSpPr/>
          <p:nvPr/>
        </p:nvSpPr>
        <p:spPr>
          <a:xfrm>
            <a:off x="6096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2</a:t>
            </a:r>
          </a:p>
        </p:txBody>
      </p:sp>
      <p:sp>
        <p:nvSpPr>
          <p:cNvPr id="6" name="TextBox 5"/>
          <p:cNvSpPr txBox="1"/>
          <p:nvPr/>
        </p:nvSpPr>
        <p:spPr>
          <a:xfrm>
            <a:off x="1625600" y="3009900"/>
            <a:ext cx="52451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Each access requires authentication and validation</a:t>
            </a:r>
          </a:p>
        </p:txBody>
      </p:sp>
      <p:sp>
        <p:nvSpPr>
          <p:cNvPr id="7" name="Rounded Rectangle 6"/>
          <p:cNvSpPr/>
          <p:nvPr/>
        </p:nvSpPr>
        <p:spPr>
          <a:xfrm>
            <a:off x="88392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1</a:t>
            </a:r>
          </a:p>
        </p:txBody>
      </p:sp>
      <p:sp>
        <p:nvSpPr>
          <p:cNvPr id="8" name="TextBox 7"/>
          <p:cNvSpPr txBox="1"/>
          <p:nvPr/>
        </p:nvSpPr>
        <p:spPr>
          <a:xfrm>
            <a:off x="9855200" y="1841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Every device and user treated as unknown by default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508000"/>
            <a:ext cx="14452600" cy="812800"/>
          </a:xfrm>
          <a:prstGeom prst="rect">
            <a:avLst/>
          </a:prstGeom>
          <a:noFill/>
        </p:spPr>
        <p:txBody>
          <a:bodyPr wrap="square" lIns="0" rIns="0" tIns="0" bIns="0">
            <a:spAutoFit/>
          </a:bodyPr>
          <a:lstStyle/>
          <a:p>
            <a:pPr algn="l">
              <a:lnSpc>
                <a:spcPct val="84000"/>
              </a:lnSpc>
              <a:defRPr i="0" sz="5600" b="1">
                <a:solidFill>
                  <a:srgbClr val="0A2A73"/>
                </a:solidFill>
                <a:latin typeface="Open Sans"/>
              </a:defRPr>
            </a:pPr>
            <a:r>
              <a:rPr i="0" sz="5600" b="1">
                <a:solidFill>
                  <a:srgbClr val="0A2A73"/>
                </a:solidFill>
                <a:latin typeface="Open Sans"/>
              </a:rPr>
              <a:t>Introduction to Zero Trust</a:t>
            </a:r>
          </a:p>
        </p:txBody>
      </p:sp>
      <p:pic>
        <p:nvPicPr>
          <p:cNvPr id="3" name="Picture 2" descr="bcd12d54-a52d-4bf3-a7dd-f5ad4790dce9.png"/>
          <p:cNvPicPr>
            <a:picLocks noChangeAspect="1"/>
          </p:cNvPicPr>
          <p:nvPr/>
        </p:nvPicPr>
        <p:blipFill>
          <a:blip r:embed="rId3"/>
          <a:stretch>
            <a:fillRect/>
          </a:stretch>
        </p:blipFill>
        <p:spPr>
          <a:xfrm>
            <a:off x="914400" y="1625600"/>
            <a:ext cx="6604000" cy="6604000"/>
          </a:xfrm>
          <a:prstGeom prst="rect">
            <a:avLst/>
          </a:prstGeom>
        </p:spPr>
      </p:pic>
      <p:sp>
        <p:nvSpPr>
          <p:cNvPr id="4" name="TextBox 3"/>
          <p:cNvSpPr txBox="1"/>
          <p:nvPr/>
        </p:nvSpPr>
        <p:spPr>
          <a:xfrm>
            <a:off x="8432800" y="1625600"/>
            <a:ext cx="6934200" cy="711200"/>
          </a:xfrm>
          <a:prstGeom prst="rect">
            <a:avLst/>
          </a:prstGeom>
          <a:noFill/>
        </p:spPr>
        <p:txBody>
          <a:bodyPr wrap="square" lIns="0" rIns="0" tIns="0" bIns="0">
            <a:spAutoFit/>
          </a:bodyPr>
          <a:lstStyle/>
          <a:p>
            <a:pPr algn="l">
              <a:defRPr i="0" sz="1600" b="0">
                <a:solidFill>
                  <a:srgbClr val="334155"/>
                </a:solidFill>
                <a:latin typeface="Open Sans"/>
              </a:defRPr>
            </a:pPr>
            <a:r>
              <a:rPr i="0" sz="1600" b="0">
                <a:solidFill>
                  <a:srgbClr val="334155"/>
                </a:solidFill>
                <a:latin typeface="Open Sans"/>
              </a:rPr>
              <a:t>Zero Trust is a modern security model requiring continuous verification for every access request, no matter the user’s location or device.</a:t>
            </a:r>
          </a:p>
        </p:txBody>
      </p:sp>
      <p:sp>
        <p:nvSpPr>
          <p:cNvPr id="5" name="Rounded Rectangle 4"/>
          <p:cNvSpPr/>
          <p:nvPr/>
        </p:nvSpPr>
        <p:spPr>
          <a:xfrm>
            <a:off x="8432800" y="26924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9499600" y="26924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Never Trust, Always Verify</a:t>
            </a:r>
          </a:p>
        </p:txBody>
      </p:sp>
      <p:sp>
        <p:nvSpPr>
          <p:cNvPr id="7" name="Rounded Rectangle 6"/>
          <p:cNvSpPr/>
          <p:nvPr/>
        </p:nvSpPr>
        <p:spPr>
          <a:xfrm>
            <a:off x="9499600" y="30988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9499600" y="32385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All access requests must be verified and authorized, enforcing strict identity checks at every step.</a:t>
            </a:r>
          </a:p>
        </p:txBody>
      </p:sp>
      <p:sp>
        <p:nvSpPr>
          <p:cNvPr id="9" name="Rounded Rectangle 8"/>
          <p:cNvSpPr/>
          <p:nvPr/>
        </p:nvSpPr>
        <p:spPr>
          <a:xfrm>
            <a:off x="8432800" y="4457700"/>
            <a:ext cx="762000" cy="762000"/>
          </a:xfrm>
          <a:prstGeom prst="roundRect">
            <a:avLst>
              <a:gd name="adj" fmla="val 23333"/>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99600" y="4457700"/>
            <a:ext cx="5867400" cy="355600"/>
          </a:xfrm>
          <a:prstGeom prst="rect">
            <a:avLst/>
          </a:prstGeom>
          <a:noFill/>
        </p:spPr>
        <p:txBody>
          <a:bodyPr wrap="square" lIns="0" rIns="0" tIns="0" bIns="0">
            <a:spAutoFit/>
          </a:bodyPr>
          <a:lstStyle/>
          <a:p>
            <a:pPr algn="l">
              <a:defRPr i="0" sz="2000" b="1">
                <a:solidFill>
                  <a:srgbClr val="0A2A73"/>
                </a:solidFill>
                <a:latin typeface="Open Sans"/>
              </a:defRPr>
            </a:pPr>
            <a:r>
              <a:rPr i="0" sz="2000" b="1">
                <a:solidFill>
                  <a:srgbClr val="0A2A73"/>
                </a:solidFill>
                <a:latin typeface="Open Sans"/>
              </a:rPr>
              <a:t>Beyond Perimeter Security</a:t>
            </a:r>
          </a:p>
        </p:txBody>
      </p:sp>
      <p:sp>
        <p:nvSpPr>
          <p:cNvPr id="11" name="Rounded Rectangle 10"/>
          <p:cNvSpPr/>
          <p:nvPr/>
        </p:nvSpPr>
        <p:spPr>
          <a:xfrm>
            <a:off x="9499600" y="4864100"/>
            <a:ext cx="457200" cy="38100"/>
          </a:xfrm>
          <a:prstGeom prst="roundRect">
            <a:avLst>
              <a:gd name="adj" fmla="val 66666"/>
            </a:avLst>
          </a:prstGeom>
          <a:solidFill>
            <a:srgbClr val="0A2A7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9499600" y="5003800"/>
            <a:ext cx="5867400" cy="660400"/>
          </a:xfrm>
          <a:prstGeom prst="rect">
            <a:avLst/>
          </a:prstGeom>
          <a:noFill/>
        </p:spPr>
        <p:txBody>
          <a:bodyPr wrap="square" lIns="0" rIns="0" tIns="0" bIns="0">
            <a:spAutoFit/>
          </a:bodyPr>
          <a:lstStyle/>
          <a:p>
            <a:pPr algn="l">
              <a:defRPr i="0" sz="1500" b="0">
                <a:solidFill>
                  <a:srgbClr val="334155"/>
                </a:solidFill>
                <a:latin typeface="Open Sans"/>
              </a:defRPr>
            </a:pPr>
            <a:r>
              <a:rPr i="0" sz="1500" b="0">
                <a:solidFill>
                  <a:srgbClr val="334155"/>
                </a:solidFill>
                <a:latin typeface="Open Sans"/>
              </a:rPr>
              <a:t>Moves away from relying solely on traditional network boundaries by tightly managing user access everywhere.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8585200" cy="2070100"/>
          </a:xfrm>
          <a:prstGeom prst="rect">
            <a:avLst/>
          </a:prstGeom>
          <a:noFill/>
        </p:spPr>
        <p:txBody>
          <a:bodyPr wrap="square" lIns="0" rIns="0" tIns="0" bIns="0">
            <a:spAutoFit/>
          </a:bodyPr>
          <a:lstStyle/>
          <a:p>
            <a:pPr algn="l">
              <a:lnSpc>
                <a:spcPct val="65000"/>
              </a:lnSpc>
              <a:defRPr i="0" sz="8600" b="0">
                <a:solidFill>
                  <a:srgbClr val="0B1F36"/>
                </a:solidFill>
                <a:latin typeface="Inter"/>
              </a:defRPr>
            </a:pPr>
            <a:r>
              <a:rPr i="0" sz="8600" b="0">
                <a:solidFill>
                  <a:srgbClr val="0B1F36"/>
                </a:solidFill>
                <a:latin typeface="Inter"/>
              </a:rPr>
              <a:t>Why Embrace Zero Trust?</a:t>
            </a:r>
          </a:p>
        </p:txBody>
      </p:sp>
      <p:pic>
        <p:nvPicPr>
          <p:cNvPr id="3" name="Picture 2" descr="80129d8f-08de-4a36-bd12-c91a7f15cf6b.png"/>
          <p:cNvPicPr>
            <a:picLocks noChangeAspect="1"/>
          </p:cNvPicPr>
          <p:nvPr/>
        </p:nvPicPr>
        <p:blipFill>
          <a:blip r:embed="rId3"/>
          <a:stretch>
            <a:fillRect/>
          </a:stretch>
        </p:blipFill>
        <p:spPr>
          <a:xfrm>
            <a:off x="9677400" y="2984500"/>
            <a:ext cx="5969000" cy="6096000"/>
          </a:xfrm>
          <a:prstGeom prst="rect">
            <a:avLst/>
          </a:prstGeom>
        </p:spPr>
      </p:pic>
      <p:sp>
        <p:nvSpPr>
          <p:cNvPr id="4" name="Rounded Rectangle 3"/>
          <p:cNvSpPr/>
          <p:nvPr/>
        </p:nvSpPr>
        <p:spPr>
          <a:xfrm>
            <a:off x="609600" y="29845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1524000" y="2984500"/>
            <a:ext cx="1625600" cy="1282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Hybrid Work Is Here to Stay</a:t>
            </a:r>
          </a:p>
        </p:txBody>
      </p:sp>
      <p:sp>
        <p:nvSpPr>
          <p:cNvPr id="6" name="TextBox 5"/>
          <p:cNvSpPr txBox="1"/>
          <p:nvPr/>
        </p:nvSpPr>
        <p:spPr>
          <a:xfrm>
            <a:off x="1524000" y="4381500"/>
            <a:ext cx="1625600" cy="23622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Employees access company resources from any location, making traditional perimeter-based security insufficient.</a:t>
            </a:r>
          </a:p>
        </p:txBody>
      </p:sp>
      <p:sp>
        <p:nvSpPr>
          <p:cNvPr id="7" name="Rounded Rectangle 6"/>
          <p:cNvSpPr/>
          <p:nvPr/>
        </p:nvSpPr>
        <p:spPr>
          <a:xfrm>
            <a:off x="3632200" y="29845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4546600" y="2984500"/>
            <a:ext cx="1701800" cy="12827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Secure BYOD &amp; Unmanaged Devices</a:t>
            </a:r>
          </a:p>
        </p:txBody>
      </p:sp>
      <p:sp>
        <p:nvSpPr>
          <p:cNvPr id="9" name="TextBox 8"/>
          <p:cNvSpPr txBox="1"/>
          <p:nvPr/>
        </p:nvSpPr>
        <p:spPr>
          <a:xfrm>
            <a:off x="4546600" y="4381500"/>
            <a:ext cx="1701800" cy="17653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Enables secure access for personal and unmanaged devices without complex endpoint control measures.</a:t>
            </a:r>
          </a:p>
        </p:txBody>
      </p:sp>
      <p:sp>
        <p:nvSpPr>
          <p:cNvPr id="10" name="Rounded Rectangle 9"/>
          <p:cNvSpPr/>
          <p:nvPr/>
        </p:nvSpPr>
        <p:spPr>
          <a:xfrm>
            <a:off x="6654800" y="2984500"/>
            <a:ext cx="711200" cy="711200"/>
          </a:xfrm>
          <a:prstGeom prst="roundRect">
            <a:avLst>
              <a:gd name="adj" fmla="val 50000"/>
            </a:avLst>
          </a:prstGeom>
          <a:solidFill>
            <a:srgbClr val="0A2A5D"/>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7569200" y="2984500"/>
            <a:ext cx="1625600" cy="965200"/>
          </a:xfrm>
          <a:prstGeom prst="rect">
            <a:avLst/>
          </a:prstGeom>
          <a:noFill/>
        </p:spPr>
        <p:txBody>
          <a:bodyPr wrap="square" lIns="0" rIns="0" tIns="0" bIns="0">
            <a:spAutoFit/>
          </a:bodyPr>
          <a:lstStyle/>
          <a:p>
            <a:pPr algn="l">
              <a:lnSpc>
                <a:spcPct val="85000"/>
              </a:lnSpc>
              <a:defRPr i="0" sz="2200" b="1">
                <a:solidFill>
                  <a:srgbClr val="0B1F36"/>
                </a:solidFill>
                <a:latin typeface="Inter"/>
              </a:defRPr>
            </a:pPr>
            <a:r>
              <a:rPr i="0" sz="2200" b="1">
                <a:solidFill>
                  <a:srgbClr val="0B1F36"/>
                </a:solidFill>
                <a:latin typeface="Inter"/>
              </a:rPr>
              <a:t>Combat Modern Threats</a:t>
            </a:r>
          </a:p>
        </p:txBody>
      </p:sp>
      <p:sp>
        <p:nvSpPr>
          <p:cNvPr id="12" name="TextBox 11"/>
          <p:cNvSpPr txBox="1"/>
          <p:nvPr/>
        </p:nvSpPr>
        <p:spPr>
          <a:xfrm>
            <a:off x="7569200" y="4051300"/>
            <a:ext cx="1625600" cy="2057400"/>
          </a:xfrm>
          <a:prstGeom prst="rect">
            <a:avLst/>
          </a:prstGeom>
          <a:noFill/>
        </p:spPr>
        <p:txBody>
          <a:bodyPr wrap="square" lIns="0" rIns="0" tIns="0" bIns="0">
            <a:spAutoFit/>
          </a:bodyPr>
          <a:lstStyle/>
          <a:p>
            <a:pPr algn="l">
              <a:lnSpc>
                <a:spcPct val="115000"/>
              </a:lnSpc>
              <a:defRPr i="0" sz="1600" b="0">
                <a:solidFill>
                  <a:srgbClr val="4A5A6D"/>
                </a:solidFill>
                <a:latin typeface="Calibri"/>
              </a:defRPr>
            </a:pPr>
            <a:r>
              <a:rPr i="0" sz="1600" b="0">
                <a:solidFill>
                  <a:srgbClr val="4A5A6D"/>
                </a:solidFill>
                <a:latin typeface="Calibri"/>
              </a:rPr>
              <a:t>Protects against ransomware and supply chain breaches by verifying users and devices at every access 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3233400" cy="787400"/>
          </a:xfrm>
          <a:prstGeom prst="rect">
            <a:avLst/>
          </a:prstGeom>
          <a:noFill/>
        </p:spPr>
        <p:txBody>
          <a:bodyPr wrap="square" lIns="0" rIns="0" tIns="0" bIns="0">
            <a:spAutoFit/>
          </a:bodyPr>
          <a:lstStyle/>
          <a:p>
            <a:pPr algn="l">
              <a:lnSpc>
                <a:spcPct val="80000"/>
              </a:lnSpc>
              <a:defRPr i="0" sz="5600" b="1">
                <a:solidFill>
                  <a:srgbClr val="0A2B66"/>
                </a:solidFill>
                <a:latin typeface="Open Sans"/>
              </a:defRPr>
            </a:pPr>
            <a:r>
              <a:rPr i="0" sz="5600" b="1">
                <a:solidFill>
                  <a:srgbClr val="0A2B66"/>
                </a:solidFill>
                <a:latin typeface="Open Sans"/>
              </a:rPr>
              <a:t>Core Zero Trust Principles</a:t>
            </a:r>
          </a:p>
        </p:txBody>
      </p:sp>
      <p:sp>
        <p:nvSpPr>
          <p:cNvPr id="3" name="TextBox 2"/>
          <p:cNvSpPr txBox="1"/>
          <p:nvPr/>
        </p:nvSpPr>
        <p:spPr>
          <a:xfrm>
            <a:off x="2082800" y="20066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Least-Privileged Access</a:t>
            </a:r>
          </a:p>
        </p:txBody>
      </p:sp>
      <p:sp>
        <p:nvSpPr>
          <p:cNvPr id="4" name="TextBox 3"/>
          <p:cNvSpPr txBox="1"/>
          <p:nvPr/>
        </p:nvSpPr>
        <p:spPr>
          <a:xfrm>
            <a:off x="2082800" y="2425700"/>
            <a:ext cx="2984500" cy="15240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Restrict access for users and applications to only what is strictly necessary, minimizing security risks from excessive permissions.</a:t>
            </a:r>
          </a:p>
        </p:txBody>
      </p:sp>
      <p:sp>
        <p:nvSpPr>
          <p:cNvPr id="5" name="TextBox 4"/>
          <p:cNvSpPr txBox="1"/>
          <p:nvPr/>
        </p:nvSpPr>
        <p:spPr>
          <a:xfrm>
            <a:off x="7124700" y="20066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Continuous Verification</a:t>
            </a:r>
          </a:p>
        </p:txBody>
      </p:sp>
      <p:sp>
        <p:nvSpPr>
          <p:cNvPr id="6" name="TextBox 5"/>
          <p:cNvSpPr txBox="1"/>
          <p:nvPr/>
        </p:nvSpPr>
        <p:spPr>
          <a:xfrm>
            <a:off x="7124700" y="2425700"/>
            <a:ext cx="2984500" cy="12192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Regularly authenticate users and monitor activity to ensure ongoing trust and timely detection of anomalies.</a:t>
            </a:r>
          </a:p>
        </p:txBody>
      </p:sp>
      <p:sp>
        <p:nvSpPr>
          <p:cNvPr id="7" name="TextBox 6"/>
          <p:cNvSpPr txBox="1"/>
          <p:nvPr/>
        </p:nvSpPr>
        <p:spPr>
          <a:xfrm>
            <a:off x="12179300" y="2006600"/>
            <a:ext cx="2984500" cy="3175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Adaptive Security</a:t>
            </a:r>
          </a:p>
        </p:txBody>
      </p:sp>
      <p:sp>
        <p:nvSpPr>
          <p:cNvPr id="8" name="TextBox 7"/>
          <p:cNvSpPr txBox="1"/>
          <p:nvPr/>
        </p:nvSpPr>
        <p:spPr>
          <a:xfrm>
            <a:off x="12179300" y="2425700"/>
            <a:ext cx="2984500" cy="12192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Implement dynamic, risk-aware controls that adjust access based on real-time context and behavior.</a:t>
            </a:r>
          </a:p>
        </p:txBody>
      </p:sp>
      <p:sp>
        <p:nvSpPr>
          <p:cNvPr id="9" name="TextBox 8"/>
          <p:cNvSpPr txBox="1"/>
          <p:nvPr/>
        </p:nvSpPr>
        <p:spPr>
          <a:xfrm>
            <a:off x="2082800" y="4864100"/>
            <a:ext cx="2984500" cy="635000"/>
          </a:xfrm>
          <a:prstGeom prst="rect">
            <a:avLst/>
          </a:prstGeom>
          <a:noFill/>
        </p:spPr>
        <p:txBody>
          <a:bodyPr wrap="square" lIns="0" rIns="0" tIns="0" bIns="0">
            <a:spAutoFit/>
          </a:bodyPr>
          <a:lstStyle/>
          <a:p>
            <a:pPr algn="l">
              <a:lnSpc>
                <a:spcPct val="95000"/>
              </a:lnSpc>
              <a:defRPr i="0" sz="2000" b="1">
                <a:solidFill>
                  <a:srgbClr val="0A2B66"/>
                </a:solidFill>
                <a:latin typeface="Open Sans"/>
              </a:defRPr>
            </a:pPr>
            <a:r>
              <a:rPr i="0" sz="2000" b="1">
                <a:solidFill>
                  <a:srgbClr val="0A2B66"/>
                </a:solidFill>
                <a:latin typeface="Open Sans"/>
              </a:rPr>
              <a:t>Threat Intelligence Integration</a:t>
            </a:r>
          </a:p>
        </p:txBody>
      </p:sp>
      <p:sp>
        <p:nvSpPr>
          <p:cNvPr id="10" name="TextBox 9"/>
          <p:cNvSpPr txBox="1"/>
          <p:nvPr/>
        </p:nvSpPr>
        <p:spPr>
          <a:xfrm>
            <a:off x="2082800" y="5600700"/>
            <a:ext cx="2984500" cy="1219200"/>
          </a:xfrm>
          <a:prstGeom prst="rect">
            <a:avLst/>
          </a:prstGeom>
          <a:noFill/>
        </p:spPr>
        <p:txBody>
          <a:bodyPr wrap="square" lIns="0" rIns="0" tIns="0" bIns="0">
            <a:spAutoFit/>
          </a:bodyPr>
          <a:lstStyle/>
          <a:p>
            <a:pPr algn="l">
              <a:lnSpc>
                <a:spcPct val="120000"/>
              </a:lnSpc>
              <a:defRPr i="0" sz="1600" b="0">
                <a:solidFill>
                  <a:srgbClr val="0A2B66"/>
                </a:solidFill>
                <a:latin typeface="Open Sans"/>
              </a:defRPr>
            </a:pPr>
            <a:r>
              <a:rPr i="0" sz="1600" b="0">
                <a:solidFill>
                  <a:srgbClr val="0A2B66"/>
                </a:solidFill>
                <a:latin typeface="Open Sans"/>
              </a:rPr>
              <a:t>Leverage threat data to strengthen security controls and respond proactively to emerging risks.</a:t>
            </a:r>
          </a:p>
        </p:txBody>
      </p:sp>
      <p:pic>
        <p:nvPicPr>
          <p:cNvPr id="11" name="Picture 10" descr="bb474e31-2942-40cd-aaa3-c42cfd670e0b.png"/>
          <p:cNvPicPr>
            <a:picLocks noChangeAspect="1"/>
          </p:cNvPicPr>
          <p:nvPr/>
        </p:nvPicPr>
        <p:blipFill>
          <a:blip r:embed="rId3"/>
          <a:stretch>
            <a:fillRect/>
          </a:stretch>
        </p:blipFill>
        <p:spPr>
          <a:xfrm>
            <a:off x="0" y="6819900"/>
            <a:ext cx="16256000" cy="2336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4046200" cy="787400"/>
          </a:xfrm>
          <a:prstGeom prst="rect">
            <a:avLst/>
          </a:prstGeom>
          <a:noFill/>
        </p:spPr>
        <p:txBody>
          <a:bodyPr wrap="square" lIns="0" rIns="0" tIns="0" bIns="0">
            <a:spAutoFit/>
          </a:bodyPr>
          <a:lstStyle/>
          <a:p>
            <a:pPr algn="l">
              <a:lnSpc>
                <a:spcPct val="80000"/>
              </a:lnSpc>
              <a:defRPr i="0" sz="5600" b="1">
                <a:solidFill>
                  <a:srgbClr val="0A2A66"/>
                </a:solidFill>
                <a:latin typeface="Open Sans"/>
              </a:defRPr>
            </a:pPr>
            <a:r>
              <a:rPr i="0" sz="5600" b="1">
                <a:solidFill>
                  <a:srgbClr val="0A2A66"/>
                </a:solidFill>
                <a:latin typeface="Open Sans"/>
              </a:rPr>
              <a:t>Zero Trust Remote Access</a:t>
            </a:r>
          </a:p>
        </p:txBody>
      </p:sp>
      <p:sp>
        <p:nvSpPr>
          <p:cNvPr id="3" name="TextBox 2"/>
          <p:cNvSpPr txBox="1"/>
          <p:nvPr/>
        </p:nvSpPr>
        <p:spPr>
          <a:xfrm>
            <a:off x="11176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1</a:t>
            </a:r>
          </a:p>
        </p:txBody>
      </p:sp>
      <p:sp>
        <p:nvSpPr>
          <p:cNvPr id="4" name="TextBox 3"/>
          <p:cNvSpPr txBox="1"/>
          <p:nvPr/>
        </p:nvSpPr>
        <p:spPr>
          <a:xfrm>
            <a:off x="18923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Direct App Connections</a:t>
            </a:r>
          </a:p>
        </p:txBody>
      </p:sp>
      <p:sp>
        <p:nvSpPr>
          <p:cNvPr id="5" name="TextBox 4"/>
          <p:cNvSpPr txBox="1"/>
          <p:nvPr/>
        </p:nvSpPr>
        <p:spPr>
          <a:xfrm>
            <a:off x="18923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Direct-to-application links bypass legacy backhaul, improving performance and reducing exposure.</a:t>
            </a:r>
          </a:p>
        </p:txBody>
      </p:sp>
      <p:sp>
        <p:nvSpPr>
          <p:cNvPr id="6" name="TextBox 5"/>
          <p:cNvSpPr txBox="1"/>
          <p:nvPr/>
        </p:nvSpPr>
        <p:spPr>
          <a:xfrm>
            <a:off x="89408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2</a:t>
            </a:r>
          </a:p>
        </p:txBody>
      </p:sp>
      <p:sp>
        <p:nvSpPr>
          <p:cNvPr id="7" name="TextBox 6"/>
          <p:cNvSpPr txBox="1"/>
          <p:nvPr/>
        </p:nvSpPr>
        <p:spPr>
          <a:xfrm>
            <a:off x="97155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Encrypted Data Transport</a:t>
            </a:r>
          </a:p>
        </p:txBody>
      </p:sp>
      <p:sp>
        <p:nvSpPr>
          <p:cNvPr id="8" name="TextBox 7"/>
          <p:cNvSpPr txBox="1"/>
          <p:nvPr/>
        </p:nvSpPr>
        <p:spPr>
          <a:xfrm>
            <a:off x="97155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TLS/IPsec tunnels safeguard data in transit, ensuring confidentiality and compliance.</a:t>
            </a:r>
          </a:p>
        </p:txBody>
      </p:sp>
      <p:sp>
        <p:nvSpPr>
          <p:cNvPr id="9" name="TextBox 8"/>
          <p:cNvSpPr txBox="1"/>
          <p:nvPr/>
        </p:nvSpPr>
        <p:spPr>
          <a:xfrm>
            <a:off x="1117600" y="37973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3</a:t>
            </a:r>
          </a:p>
        </p:txBody>
      </p:sp>
      <p:sp>
        <p:nvSpPr>
          <p:cNvPr id="10" name="TextBox 9"/>
          <p:cNvSpPr txBox="1"/>
          <p:nvPr/>
        </p:nvSpPr>
        <p:spPr>
          <a:xfrm>
            <a:off x="1892300" y="37973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Low-Latency Global Access</a:t>
            </a:r>
          </a:p>
        </p:txBody>
      </p:sp>
      <p:sp>
        <p:nvSpPr>
          <p:cNvPr id="11" name="TextBox 10"/>
          <p:cNvSpPr txBox="1"/>
          <p:nvPr/>
        </p:nvSpPr>
        <p:spPr>
          <a:xfrm>
            <a:off x="1892300" y="43307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Multiple worldwide PoPs enable efficient, low-latency routing for remote users.</a:t>
            </a:r>
          </a:p>
        </p:txBody>
      </p:sp>
      <p:sp>
        <p:nvSpPr>
          <p:cNvPr id="12" name="TextBox 11"/>
          <p:cNvSpPr txBox="1"/>
          <p:nvPr/>
        </p:nvSpPr>
        <p:spPr>
          <a:xfrm>
            <a:off x="8940800" y="37973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4</a:t>
            </a:r>
          </a:p>
        </p:txBody>
      </p:sp>
      <p:sp>
        <p:nvSpPr>
          <p:cNvPr id="13" name="TextBox 12"/>
          <p:cNvSpPr txBox="1"/>
          <p:nvPr/>
        </p:nvSpPr>
        <p:spPr>
          <a:xfrm>
            <a:off x="9715500" y="37973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Resilient Architecture</a:t>
            </a:r>
          </a:p>
        </p:txBody>
      </p:sp>
      <p:sp>
        <p:nvSpPr>
          <p:cNvPr id="14" name="TextBox 13"/>
          <p:cNvSpPr txBox="1"/>
          <p:nvPr/>
        </p:nvSpPr>
        <p:spPr>
          <a:xfrm>
            <a:off x="9715500" y="43307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Automatic failover and high availability maintain continuous secure access.</a:t>
            </a:r>
          </a:p>
        </p:txBody>
      </p:sp>
      <p:sp>
        <p:nvSpPr>
          <p:cNvPr id="15" name="Rounded Rectangle 14"/>
          <p:cNvSpPr/>
          <p:nvPr/>
        </p:nvSpPr>
        <p:spPr>
          <a:xfrm>
            <a:off x="1117600" y="5689600"/>
            <a:ext cx="14020800" cy="609600"/>
          </a:xfrm>
          <a:prstGeom prst="roundRect">
            <a:avLst>
              <a:gd name="adj" fmla="val 125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1270000" y="5842000"/>
            <a:ext cx="13741400" cy="304800"/>
          </a:xfrm>
          <a:prstGeom prst="rect">
            <a:avLst/>
          </a:prstGeom>
          <a:noFill/>
        </p:spPr>
        <p:txBody>
          <a:bodyPr wrap="square" lIns="0" rIns="0" tIns="0" bIns="0">
            <a:spAutoFit/>
          </a:bodyPr>
          <a:lstStyle/>
          <a:p>
            <a:pPr algn="l">
              <a:defRPr i="0" sz="1600" b="0">
                <a:solidFill>
                  <a:srgbClr val="09090B"/>
                </a:solidFill>
                <a:latin typeface="Open Sans"/>
              </a:defRPr>
            </a:pPr>
            <a:r>
              <a:rPr i="0" sz="1600" b="0">
                <a:solidFill>
                  <a:srgbClr val="09090B"/>
                </a:solidFill>
                <a:latin typeface="Open Sans"/>
              </a:rPr>
              <a:t>graph TD; A[Start]--&gt;B{Choice}; B--&gt;C[Path 1]; B--&gt;D[Path 2];</a:t>
            </a:r>
          </a:p>
        </p:txBody>
      </p:sp>
      <p:pic>
        <p:nvPicPr>
          <p:cNvPr id="17" name="Picture 16" descr="ff978c0d-f411-4a91-a0fb-626e2f78c06d.png"/>
          <p:cNvPicPr>
            <a:picLocks noChangeAspect="1"/>
          </p:cNvPicPr>
          <p:nvPr/>
        </p:nvPicPr>
        <p:blipFill>
          <a:blip r:embed="rId3"/>
          <a:stretch>
            <a:fillRect/>
          </a:stretch>
        </p:blipFill>
        <p:spPr>
          <a:xfrm>
            <a:off x="0" y="6858000"/>
            <a:ext cx="16256000" cy="2286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406400"/>
            <a:ext cx="10045700" cy="2755900"/>
          </a:xfrm>
          <a:prstGeom prst="rect">
            <a:avLst/>
          </a:prstGeom>
          <a:noFill/>
        </p:spPr>
        <p:txBody>
          <a:bodyPr wrap="square" lIns="0" rIns="0" tIns="0" bIns="0">
            <a:spAutoFit/>
          </a:bodyPr>
          <a:lstStyle/>
          <a:p>
            <a:pPr algn="l">
              <a:lnSpc>
                <a:spcPct val="65000"/>
              </a:lnSpc>
              <a:defRPr i="0" sz="7600" b="1">
                <a:solidFill>
                  <a:srgbClr val="0B2A48"/>
                </a:solidFill>
                <a:latin typeface="Inter"/>
              </a:defRPr>
            </a:pPr>
            <a:r>
              <a:rPr i="0" sz="7600" b="1">
                <a:solidFill>
                  <a:srgbClr val="0B2A48"/>
                </a:solidFill>
                <a:latin typeface="Inter"/>
              </a:rPr>
              <a:t>Zero Trust in Identity &amp; Access Management</a:t>
            </a:r>
          </a:p>
        </p:txBody>
      </p:sp>
      <p:sp>
        <p:nvSpPr>
          <p:cNvPr id="3" name="TextBox 2"/>
          <p:cNvSpPr txBox="1"/>
          <p:nvPr/>
        </p:nvSpPr>
        <p:spPr>
          <a:xfrm>
            <a:off x="508000" y="3314700"/>
            <a:ext cx="10045700" cy="330200"/>
          </a:xfrm>
          <a:prstGeom prst="rect">
            <a:avLst/>
          </a:prstGeom>
          <a:noFill/>
        </p:spPr>
        <p:txBody>
          <a:bodyPr wrap="square" lIns="0" rIns="0" tIns="0" bIns="0">
            <a:spAutoFit/>
          </a:bodyPr>
          <a:lstStyle/>
          <a:p>
            <a:pPr algn="l">
              <a:defRPr i="0" sz="1800" b="0">
                <a:solidFill>
                  <a:srgbClr val="334155"/>
                </a:solidFill>
                <a:latin typeface="Calibri"/>
              </a:defRPr>
            </a:pPr>
            <a:r>
              <a:rPr i="0" sz="1800" b="0">
                <a:solidFill>
                  <a:srgbClr val="334155"/>
                </a:solidFill>
                <a:latin typeface="Calibri"/>
              </a:rPr>
              <a:t>Leveraging adaptive MFA, risk access scoring, device validation, and ITDR for secure, seamless access.</a:t>
            </a:r>
          </a:p>
        </p:txBody>
      </p:sp>
      <p:pic>
        <p:nvPicPr>
          <p:cNvPr id="4" name="Picture 3" descr="44e6536b-1637-4a87-959c-c8d533a0e338.png"/>
          <p:cNvPicPr>
            <a:picLocks noChangeAspect="1"/>
          </p:cNvPicPr>
          <p:nvPr/>
        </p:nvPicPr>
        <p:blipFill>
          <a:blip r:embed="rId3"/>
          <a:stretch>
            <a:fillRect/>
          </a:stretch>
        </p:blipFill>
        <p:spPr>
          <a:xfrm>
            <a:off x="508000" y="4051300"/>
            <a:ext cx="10414000" cy="5461000"/>
          </a:xfrm>
          <a:prstGeom prst="rect">
            <a:avLst/>
          </a:prstGeom>
        </p:spPr>
      </p:pic>
      <p:sp>
        <p:nvSpPr>
          <p:cNvPr id="5" name="TextBox 4"/>
          <p:cNvSpPr txBox="1"/>
          <p:nvPr/>
        </p:nvSpPr>
        <p:spPr>
          <a:xfrm>
            <a:off x="2819400" y="8331200"/>
            <a:ext cx="9144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MFA Adoption</a:t>
            </a:r>
          </a:p>
        </p:txBody>
      </p:sp>
      <p:sp>
        <p:nvSpPr>
          <p:cNvPr id="6" name="TextBox 5"/>
          <p:cNvSpPr txBox="1"/>
          <p:nvPr/>
        </p:nvSpPr>
        <p:spPr>
          <a:xfrm>
            <a:off x="5664200" y="8331200"/>
            <a:ext cx="11303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Risk-Based Access</a:t>
            </a:r>
          </a:p>
        </p:txBody>
      </p:sp>
      <p:sp>
        <p:nvSpPr>
          <p:cNvPr id="7" name="TextBox 6"/>
          <p:cNvSpPr txBox="1"/>
          <p:nvPr/>
        </p:nvSpPr>
        <p:spPr>
          <a:xfrm>
            <a:off x="8648700" y="8331200"/>
            <a:ext cx="11176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Validated Devices</a:t>
            </a:r>
          </a:p>
        </p:txBody>
      </p:sp>
      <p:sp>
        <p:nvSpPr>
          <p:cNvPr id="8" name="TextBox 7"/>
          <p:cNvSpPr txBox="1"/>
          <p:nvPr/>
        </p:nvSpPr>
        <p:spPr>
          <a:xfrm>
            <a:off x="1600200" y="8178800"/>
            <a:ext cx="1016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0</a:t>
            </a:r>
          </a:p>
        </p:txBody>
      </p:sp>
      <p:sp>
        <p:nvSpPr>
          <p:cNvPr id="9" name="TextBox 8"/>
          <p:cNvSpPr txBox="1"/>
          <p:nvPr/>
        </p:nvSpPr>
        <p:spPr>
          <a:xfrm>
            <a:off x="1524000" y="7454900"/>
            <a:ext cx="1778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20</a:t>
            </a:r>
          </a:p>
        </p:txBody>
      </p:sp>
      <p:sp>
        <p:nvSpPr>
          <p:cNvPr id="10" name="TextBox 9"/>
          <p:cNvSpPr txBox="1"/>
          <p:nvPr/>
        </p:nvSpPr>
        <p:spPr>
          <a:xfrm>
            <a:off x="1524000" y="6743700"/>
            <a:ext cx="1778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40</a:t>
            </a:r>
          </a:p>
        </p:txBody>
      </p:sp>
      <p:sp>
        <p:nvSpPr>
          <p:cNvPr id="11" name="TextBox 10"/>
          <p:cNvSpPr txBox="1"/>
          <p:nvPr/>
        </p:nvSpPr>
        <p:spPr>
          <a:xfrm>
            <a:off x="1524000" y="6032500"/>
            <a:ext cx="1778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60</a:t>
            </a:r>
          </a:p>
        </p:txBody>
      </p:sp>
      <p:sp>
        <p:nvSpPr>
          <p:cNvPr id="12" name="TextBox 11"/>
          <p:cNvSpPr txBox="1"/>
          <p:nvPr/>
        </p:nvSpPr>
        <p:spPr>
          <a:xfrm>
            <a:off x="1524000" y="5308600"/>
            <a:ext cx="1778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80</a:t>
            </a:r>
          </a:p>
        </p:txBody>
      </p:sp>
      <p:sp>
        <p:nvSpPr>
          <p:cNvPr id="13" name="TextBox 12"/>
          <p:cNvSpPr txBox="1"/>
          <p:nvPr/>
        </p:nvSpPr>
        <p:spPr>
          <a:xfrm>
            <a:off x="1447800" y="4597400"/>
            <a:ext cx="2540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100</a:t>
            </a:r>
          </a:p>
        </p:txBody>
      </p:sp>
      <p:sp>
        <p:nvSpPr>
          <p:cNvPr id="14" name="Rounded Rectangle 13"/>
          <p:cNvSpPr/>
          <p:nvPr/>
        </p:nvSpPr>
        <p:spPr>
          <a:xfrm>
            <a:off x="1778000" y="4305300"/>
            <a:ext cx="279400" cy="279400"/>
          </a:xfrm>
          <a:prstGeom prst="roundRect">
            <a:avLst>
              <a:gd name="adj" fmla="val 9090"/>
            </a:avLst>
          </a:prstGeom>
          <a:solidFill>
            <a:srgbClr val="FFFFFF"/>
          </a:solidFill>
          <a:ln w="12700">
            <a:solidFill>
              <a:srgbClr val="CCCCCC"/>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Rounded Rectangle 14"/>
          <p:cNvSpPr/>
          <p:nvPr/>
        </p:nvSpPr>
        <p:spPr>
          <a:xfrm>
            <a:off x="11036300" y="406400"/>
            <a:ext cx="4711700" cy="1879600"/>
          </a:xfrm>
          <a:prstGeom prst="roundRect">
            <a:avLst>
              <a:gd name="adj" fmla="val 13513"/>
            </a:avLst>
          </a:prstGeom>
          <a:solidFill>
            <a:srgbClr val="082654"/>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ounded Rectangle 15"/>
          <p:cNvSpPr/>
          <p:nvPr/>
        </p:nvSpPr>
        <p:spPr>
          <a:xfrm>
            <a:off x="11341100" y="711200"/>
            <a:ext cx="457200" cy="457200"/>
          </a:xfrm>
          <a:prstGeom prst="roundRect">
            <a:avLst>
              <a:gd name="adj" fmla="val 50000"/>
            </a:avLst>
          </a:prstGeom>
          <a:solidFill>
            <a:srgbClr val="FFFFFF">
              <a:alpha val="2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12001500" y="711200"/>
            <a:ext cx="3467100" cy="3302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Adaptive MFA</a:t>
            </a:r>
          </a:p>
        </p:txBody>
      </p:sp>
      <p:sp>
        <p:nvSpPr>
          <p:cNvPr id="18" name="TextBox 17"/>
          <p:cNvSpPr txBox="1"/>
          <p:nvPr/>
        </p:nvSpPr>
        <p:spPr>
          <a:xfrm>
            <a:off x="12001500" y="1143000"/>
            <a:ext cx="3467100" cy="838200"/>
          </a:xfrm>
          <a:prstGeom prst="rect">
            <a:avLst/>
          </a:prstGeom>
          <a:noFill/>
        </p:spPr>
        <p:txBody>
          <a:bodyPr wrap="square" lIns="0" rIns="0" tIns="0" bIns="0">
            <a:spAutoFit/>
          </a:bodyPr>
          <a:lstStyle/>
          <a:p>
            <a:pPr algn="l">
              <a:lnSpc>
                <a:spcPct val="117000"/>
              </a:lnSpc>
              <a:defRPr i="0" sz="1500" b="0">
                <a:solidFill>
                  <a:srgbClr val="FFFFFF"/>
                </a:solidFill>
                <a:latin typeface="Calibri"/>
              </a:defRPr>
            </a:pPr>
            <a:r>
              <a:rPr i="0" sz="1500" b="0">
                <a:solidFill>
                  <a:srgbClr val="FFFFFF"/>
                </a:solidFill>
                <a:latin typeface="Calibri"/>
              </a:rPr>
              <a:t>Automatically adjusts authentication requirements based on user context and risk.</a:t>
            </a:r>
          </a:p>
        </p:txBody>
      </p:sp>
      <p:sp>
        <p:nvSpPr>
          <p:cNvPr id="19" name="Rounded Rectangle 18"/>
          <p:cNvSpPr/>
          <p:nvPr/>
        </p:nvSpPr>
        <p:spPr>
          <a:xfrm>
            <a:off x="11036300" y="2590800"/>
            <a:ext cx="4711700" cy="1600200"/>
          </a:xfrm>
          <a:prstGeom prst="roundRect">
            <a:avLst>
              <a:gd name="adj" fmla="val 15873"/>
            </a:avLst>
          </a:prstGeom>
          <a:solidFill>
            <a:srgbClr val="082654"/>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ounded Rectangle 19"/>
          <p:cNvSpPr/>
          <p:nvPr/>
        </p:nvSpPr>
        <p:spPr>
          <a:xfrm>
            <a:off x="11341100" y="2895600"/>
            <a:ext cx="457200" cy="457200"/>
          </a:xfrm>
          <a:prstGeom prst="roundRect">
            <a:avLst>
              <a:gd name="adj" fmla="val 50000"/>
            </a:avLst>
          </a:prstGeom>
          <a:solidFill>
            <a:srgbClr val="FFFFFF">
              <a:alpha val="2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12001500" y="2895600"/>
            <a:ext cx="3467100" cy="3302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Risk Scoring</a:t>
            </a:r>
          </a:p>
        </p:txBody>
      </p:sp>
      <p:sp>
        <p:nvSpPr>
          <p:cNvPr id="22" name="TextBox 21"/>
          <p:cNvSpPr txBox="1"/>
          <p:nvPr/>
        </p:nvSpPr>
        <p:spPr>
          <a:xfrm>
            <a:off x="12001500" y="3327400"/>
            <a:ext cx="3467100" cy="558800"/>
          </a:xfrm>
          <a:prstGeom prst="rect">
            <a:avLst/>
          </a:prstGeom>
          <a:noFill/>
        </p:spPr>
        <p:txBody>
          <a:bodyPr wrap="square" lIns="0" rIns="0" tIns="0" bIns="0">
            <a:spAutoFit/>
          </a:bodyPr>
          <a:lstStyle/>
          <a:p>
            <a:pPr algn="l">
              <a:defRPr i="0" sz="1500" b="0">
                <a:solidFill>
                  <a:srgbClr val="FFFFFF"/>
                </a:solidFill>
                <a:latin typeface="Calibri"/>
              </a:defRPr>
            </a:pPr>
            <a:r>
              <a:rPr i="0" sz="1500" b="0">
                <a:solidFill>
                  <a:srgbClr val="FFFFFF"/>
                </a:solidFill>
                <a:latin typeface="Calibri"/>
              </a:rPr>
              <a:t>Access decisions use real-time risk scores for each session.</a:t>
            </a:r>
          </a:p>
        </p:txBody>
      </p:sp>
      <p:sp>
        <p:nvSpPr>
          <p:cNvPr id="23" name="Rounded Rectangle 22"/>
          <p:cNvSpPr/>
          <p:nvPr/>
        </p:nvSpPr>
        <p:spPr>
          <a:xfrm>
            <a:off x="11036300" y="4495800"/>
            <a:ext cx="4711700" cy="1600200"/>
          </a:xfrm>
          <a:prstGeom prst="roundRect">
            <a:avLst>
              <a:gd name="adj" fmla="val 15873"/>
            </a:avLst>
          </a:prstGeom>
          <a:solidFill>
            <a:srgbClr val="082654"/>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ounded Rectangle 23"/>
          <p:cNvSpPr/>
          <p:nvPr/>
        </p:nvSpPr>
        <p:spPr>
          <a:xfrm>
            <a:off x="11341100" y="4800600"/>
            <a:ext cx="457200" cy="457200"/>
          </a:xfrm>
          <a:prstGeom prst="roundRect">
            <a:avLst>
              <a:gd name="adj" fmla="val 50000"/>
            </a:avLst>
          </a:prstGeom>
          <a:solidFill>
            <a:srgbClr val="FFFFFF">
              <a:alpha val="2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4"/>
          <p:cNvSpPr txBox="1"/>
          <p:nvPr/>
        </p:nvSpPr>
        <p:spPr>
          <a:xfrm>
            <a:off x="12001500" y="4800600"/>
            <a:ext cx="3467100" cy="3302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Device Validation</a:t>
            </a:r>
          </a:p>
        </p:txBody>
      </p:sp>
      <p:sp>
        <p:nvSpPr>
          <p:cNvPr id="26" name="TextBox 25"/>
          <p:cNvSpPr txBox="1"/>
          <p:nvPr/>
        </p:nvSpPr>
        <p:spPr>
          <a:xfrm>
            <a:off x="12001500" y="5232400"/>
            <a:ext cx="3467100" cy="558800"/>
          </a:xfrm>
          <a:prstGeom prst="rect">
            <a:avLst/>
          </a:prstGeom>
          <a:noFill/>
        </p:spPr>
        <p:txBody>
          <a:bodyPr wrap="square" lIns="0" rIns="0" tIns="0" bIns="0">
            <a:spAutoFit/>
          </a:bodyPr>
          <a:lstStyle/>
          <a:p>
            <a:pPr algn="l">
              <a:defRPr i="0" sz="1500" b="0">
                <a:solidFill>
                  <a:srgbClr val="FFFFFF"/>
                </a:solidFill>
                <a:latin typeface="Calibri"/>
              </a:defRPr>
            </a:pPr>
            <a:r>
              <a:rPr i="0" sz="1500" b="0">
                <a:solidFill>
                  <a:srgbClr val="FFFFFF"/>
                </a:solidFill>
                <a:latin typeface="Calibri"/>
              </a:rPr>
              <a:t>Ensures only compliant and secure devices can access resources.</a:t>
            </a:r>
          </a:p>
        </p:txBody>
      </p:sp>
      <p:sp>
        <p:nvSpPr>
          <p:cNvPr id="27" name="Rounded Rectangle 26"/>
          <p:cNvSpPr/>
          <p:nvPr/>
        </p:nvSpPr>
        <p:spPr>
          <a:xfrm>
            <a:off x="11036300" y="6400800"/>
            <a:ext cx="4711700" cy="1600200"/>
          </a:xfrm>
          <a:prstGeom prst="roundRect">
            <a:avLst>
              <a:gd name="adj" fmla="val 15873"/>
            </a:avLst>
          </a:prstGeom>
          <a:solidFill>
            <a:srgbClr val="082654"/>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Rounded Rectangle 27"/>
          <p:cNvSpPr/>
          <p:nvPr/>
        </p:nvSpPr>
        <p:spPr>
          <a:xfrm>
            <a:off x="11341100" y="6705600"/>
            <a:ext cx="457200" cy="457200"/>
          </a:xfrm>
          <a:prstGeom prst="roundRect">
            <a:avLst>
              <a:gd name="adj" fmla="val 50000"/>
            </a:avLst>
          </a:prstGeom>
          <a:solidFill>
            <a:srgbClr val="FFFFFF">
              <a:alpha val="2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TextBox 28"/>
          <p:cNvSpPr txBox="1"/>
          <p:nvPr/>
        </p:nvSpPr>
        <p:spPr>
          <a:xfrm>
            <a:off x="12001500" y="6705600"/>
            <a:ext cx="3467100" cy="3302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Continuous Monitoring</a:t>
            </a:r>
          </a:p>
        </p:txBody>
      </p:sp>
      <p:sp>
        <p:nvSpPr>
          <p:cNvPr id="30" name="TextBox 29"/>
          <p:cNvSpPr txBox="1"/>
          <p:nvPr/>
        </p:nvSpPr>
        <p:spPr>
          <a:xfrm>
            <a:off x="12001500" y="7137400"/>
            <a:ext cx="3467100" cy="558800"/>
          </a:xfrm>
          <a:prstGeom prst="rect">
            <a:avLst/>
          </a:prstGeom>
          <a:noFill/>
        </p:spPr>
        <p:txBody>
          <a:bodyPr wrap="square" lIns="0" rIns="0" tIns="0" bIns="0">
            <a:spAutoFit/>
          </a:bodyPr>
          <a:lstStyle/>
          <a:p>
            <a:pPr algn="l">
              <a:defRPr i="0" sz="1500" b="0">
                <a:solidFill>
                  <a:srgbClr val="FFFFFF"/>
                </a:solidFill>
                <a:latin typeface="Calibri"/>
              </a:defRPr>
            </a:pPr>
            <a:r>
              <a:rPr i="0" sz="1500" b="0">
                <a:solidFill>
                  <a:srgbClr val="FFFFFF"/>
                </a:solidFill>
                <a:latin typeface="Calibri"/>
              </a:rPr>
              <a:t>Watches user activity throughout each session for ongoing security.</a:t>
            </a:r>
          </a:p>
        </p:txBody>
      </p:sp>
      <p:sp>
        <p:nvSpPr>
          <p:cNvPr id="31" name="Rounded Rectangle 30"/>
          <p:cNvSpPr/>
          <p:nvPr/>
        </p:nvSpPr>
        <p:spPr>
          <a:xfrm>
            <a:off x="11036300" y="8305800"/>
            <a:ext cx="4711700" cy="1600200"/>
          </a:xfrm>
          <a:prstGeom prst="roundRect">
            <a:avLst>
              <a:gd name="adj" fmla="val 15873"/>
            </a:avLst>
          </a:prstGeom>
          <a:solidFill>
            <a:srgbClr val="082654"/>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Rounded Rectangle 31"/>
          <p:cNvSpPr/>
          <p:nvPr/>
        </p:nvSpPr>
        <p:spPr>
          <a:xfrm>
            <a:off x="11341100" y="8610600"/>
            <a:ext cx="457200" cy="457200"/>
          </a:xfrm>
          <a:prstGeom prst="roundRect">
            <a:avLst>
              <a:gd name="adj" fmla="val 50000"/>
            </a:avLst>
          </a:prstGeom>
          <a:solidFill>
            <a:srgbClr val="FFFFFF">
              <a:alpha val="2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TextBox 32"/>
          <p:cNvSpPr txBox="1"/>
          <p:nvPr/>
        </p:nvSpPr>
        <p:spPr>
          <a:xfrm>
            <a:off x="12001500" y="8610600"/>
            <a:ext cx="3467100" cy="3302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ITDR Integration</a:t>
            </a:r>
          </a:p>
        </p:txBody>
      </p:sp>
      <p:sp>
        <p:nvSpPr>
          <p:cNvPr id="34" name="TextBox 33"/>
          <p:cNvSpPr txBox="1"/>
          <p:nvPr/>
        </p:nvSpPr>
        <p:spPr>
          <a:xfrm>
            <a:off x="12001500" y="9042400"/>
            <a:ext cx="3467100" cy="558800"/>
          </a:xfrm>
          <a:prstGeom prst="rect">
            <a:avLst/>
          </a:prstGeom>
          <a:noFill/>
        </p:spPr>
        <p:txBody>
          <a:bodyPr wrap="square" lIns="0" rIns="0" tIns="0" bIns="0">
            <a:spAutoFit/>
          </a:bodyPr>
          <a:lstStyle/>
          <a:p>
            <a:pPr algn="l">
              <a:defRPr i="0" sz="1500" b="0">
                <a:solidFill>
                  <a:srgbClr val="FFFFFF"/>
                </a:solidFill>
                <a:latin typeface="Calibri"/>
              </a:defRPr>
            </a:pPr>
            <a:r>
              <a:rPr i="0" sz="1500" b="0">
                <a:solidFill>
                  <a:srgbClr val="FFFFFF"/>
                </a:solidFill>
                <a:latin typeface="Calibri"/>
              </a:rPr>
              <a:t>Links identity with threat detection for faster incident response.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406400"/>
            <a:ext cx="10045700" cy="2755900"/>
          </a:xfrm>
          <a:prstGeom prst="rect">
            <a:avLst/>
          </a:prstGeom>
          <a:noFill/>
        </p:spPr>
        <p:txBody>
          <a:bodyPr wrap="square" lIns="0" rIns="0" tIns="0" bIns="0">
            <a:spAutoFit/>
          </a:bodyPr>
          <a:lstStyle/>
          <a:p>
            <a:pPr algn="l">
              <a:lnSpc>
                <a:spcPct val="65000"/>
              </a:lnSpc>
              <a:defRPr i="0" sz="7600" b="1">
                <a:solidFill>
                  <a:srgbClr val="0B2A48"/>
                </a:solidFill>
                <a:latin typeface="Inter"/>
              </a:defRPr>
            </a:pPr>
            <a:r>
              <a:rPr i="0" sz="7600" b="1">
                <a:solidFill>
                  <a:srgbClr val="0B2A48"/>
                </a:solidFill>
                <a:latin typeface="Inter"/>
              </a:rPr>
              <a:t>Zero Trust: Securing Third-Party &amp; BYOD Access</a:t>
            </a:r>
          </a:p>
        </p:txBody>
      </p:sp>
      <p:sp>
        <p:nvSpPr>
          <p:cNvPr id="3" name="TextBox 2"/>
          <p:cNvSpPr txBox="1"/>
          <p:nvPr/>
        </p:nvSpPr>
        <p:spPr>
          <a:xfrm>
            <a:off x="508000" y="3314700"/>
            <a:ext cx="10045700" cy="660400"/>
          </a:xfrm>
          <a:prstGeom prst="rect">
            <a:avLst/>
          </a:prstGeom>
          <a:noFill/>
        </p:spPr>
        <p:txBody>
          <a:bodyPr wrap="square" lIns="0" rIns="0" tIns="0" bIns="0">
            <a:spAutoFit/>
          </a:bodyPr>
          <a:lstStyle/>
          <a:p>
            <a:pPr algn="l">
              <a:defRPr i="0" sz="1800" b="0">
                <a:solidFill>
                  <a:srgbClr val="334155"/>
                </a:solidFill>
                <a:latin typeface="Calibri"/>
              </a:defRPr>
            </a:pPr>
            <a:r>
              <a:rPr i="0" sz="1800" b="0">
                <a:solidFill>
                  <a:srgbClr val="334155"/>
                </a:solidFill>
                <a:latin typeface="Calibri"/>
              </a:rPr>
              <a:t>With rising threats from unmanaged access points, adopting Zero Trust approaches mitigates growing risks linked to third-party and BYOD connections.</a:t>
            </a:r>
          </a:p>
        </p:txBody>
      </p:sp>
      <p:pic>
        <p:nvPicPr>
          <p:cNvPr id="4" name="Picture 3" descr="eebcba4e-9027-4561-88a2-0470e871f917.png"/>
          <p:cNvPicPr>
            <a:picLocks noChangeAspect="1"/>
          </p:cNvPicPr>
          <p:nvPr/>
        </p:nvPicPr>
        <p:blipFill>
          <a:blip r:embed="rId3"/>
          <a:stretch>
            <a:fillRect/>
          </a:stretch>
        </p:blipFill>
        <p:spPr>
          <a:xfrm>
            <a:off x="508000" y="4381500"/>
            <a:ext cx="10414000" cy="5461000"/>
          </a:xfrm>
          <a:prstGeom prst="rect">
            <a:avLst/>
          </a:prstGeom>
        </p:spPr>
      </p:pic>
      <p:sp>
        <p:nvSpPr>
          <p:cNvPr id="5" name="TextBox 4"/>
          <p:cNvSpPr txBox="1"/>
          <p:nvPr/>
        </p:nvSpPr>
        <p:spPr>
          <a:xfrm>
            <a:off x="3187700" y="8661400"/>
            <a:ext cx="16637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2024 Third-Party Breaches</a:t>
            </a:r>
          </a:p>
        </p:txBody>
      </p:sp>
      <p:sp>
        <p:nvSpPr>
          <p:cNvPr id="6" name="TextBox 5"/>
          <p:cNvSpPr txBox="1"/>
          <p:nvPr/>
        </p:nvSpPr>
        <p:spPr>
          <a:xfrm>
            <a:off x="7632700" y="8661400"/>
            <a:ext cx="16637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2025 Third-Party Breaches</a:t>
            </a:r>
          </a:p>
        </p:txBody>
      </p:sp>
      <p:sp>
        <p:nvSpPr>
          <p:cNvPr id="7" name="TextBox 6"/>
          <p:cNvSpPr txBox="1"/>
          <p:nvPr/>
        </p:nvSpPr>
        <p:spPr>
          <a:xfrm>
            <a:off x="1600200" y="8509000"/>
            <a:ext cx="1016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0</a:t>
            </a:r>
          </a:p>
        </p:txBody>
      </p:sp>
      <p:sp>
        <p:nvSpPr>
          <p:cNvPr id="8" name="TextBox 7"/>
          <p:cNvSpPr txBox="1"/>
          <p:nvPr/>
        </p:nvSpPr>
        <p:spPr>
          <a:xfrm>
            <a:off x="1524000" y="7518400"/>
            <a:ext cx="1778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10</a:t>
            </a:r>
          </a:p>
        </p:txBody>
      </p:sp>
      <p:sp>
        <p:nvSpPr>
          <p:cNvPr id="9" name="TextBox 8"/>
          <p:cNvSpPr txBox="1"/>
          <p:nvPr/>
        </p:nvSpPr>
        <p:spPr>
          <a:xfrm>
            <a:off x="1524000" y="6540500"/>
            <a:ext cx="1778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20</a:t>
            </a:r>
          </a:p>
        </p:txBody>
      </p:sp>
      <p:sp>
        <p:nvSpPr>
          <p:cNvPr id="10" name="TextBox 9"/>
          <p:cNvSpPr txBox="1"/>
          <p:nvPr/>
        </p:nvSpPr>
        <p:spPr>
          <a:xfrm>
            <a:off x="1524000" y="5549900"/>
            <a:ext cx="177800" cy="152400"/>
          </a:xfrm>
          <a:prstGeom prst="rect">
            <a:avLst/>
          </a:prstGeom>
          <a:noFill/>
        </p:spPr>
        <p:txBody>
          <a:bodyPr wrap="none" lIns="0" rIns="0" tIns="0" bIns="0">
            <a:spAutoFit/>
          </a:bodyPr>
          <a:lstStyle/>
          <a:p>
            <a:pPr algn="l">
              <a:defRPr i="0" sz="1200" b="0">
                <a:solidFill>
                  <a:srgbClr val="09090B"/>
                </a:solidFill>
                <a:latin typeface="Calibri"/>
              </a:defRPr>
            </a:pPr>
            <a:r>
              <a:rPr i="0" sz="1200" b="0">
                <a:solidFill>
                  <a:srgbClr val="09090B"/>
                </a:solidFill>
                <a:latin typeface="Calibri"/>
              </a:rPr>
              <a:t>30</a:t>
            </a:r>
          </a:p>
        </p:txBody>
      </p:sp>
      <p:sp>
        <p:nvSpPr>
          <p:cNvPr id="11" name="Rounded Rectangle 10"/>
          <p:cNvSpPr/>
          <p:nvPr/>
        </p:nvSpPr>
        <p:spPr>
          <a:xfrm>
            <a:off x="1778000" y="4635500"/>
            <a:ext cx="279400" cy="279400"/>
          </a:xfrm>
          <a:prstGeom prst="roundRect">
            <a:avLst>
              <a:gd name="adj" fmla="val 9090"/>
            </a:avLst>
          </a:prstGeom>
          <a:solidFill>
            <a:srgbClr val="FFFFFF"/>
          </a:solidFill>
          <a:ln w="12700">
            <a:solidFill>
              <a:srgbClr val="CCCCCC"/>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2" name="Rounded Rectangle 11"/>
          <p:cNvSpPr/>
          <p:nvPr/>
        </p:nvSpPr>
        <p:spPr>
          <a:xfrm>
            <a:off x="11036300" y="406400"/>
            <a:ext cx="4711700" cy="1600200"/>
          </a:xfrm>
          <a:prstGeom prst="roundRect">
            <a:avLst>
              <a:gd name="adj" fmla="val 15873"/>
            </a:avLst>
          </a:prstGeom>
          <a:solidFill>
            <a:srgbClr val="082654"/>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ounded Rectangle 12"/>
          <p:cNvSpPr/>
          <p:nvPr/>
        </p:nvSpPr>
        <p:spPr>
          <a:xfrm>
            <a:off x="11341100" y="711200"/>
            <a:ext cx="457200" cy="457200"/>
          </a:xfrm>
          <a:prstGeom prst="roundRect">
            <a:avLst>
              <a:gd name="adj" fmla="val 50000"/>
            </a:avLst>
          </a:prstGeom>
          <a:solidFill>
            <a:srgbClr val="FFFFFF">
              <a:alpha val="2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12001500" y="711200"/>
            <a:ext cx="3467100" cy="3302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Endpoint Interrogation</a:t>
            </a:r>
          </a:p>
        </p:txBody>
      </p:sp>
      <p:sp>
        <p:nvSpPr>
          <p:cNvPr id="15" name="TextBox 14"/>
          <p:cNvSpPr txBox="1"/>
          <p:nvPr/>
        </p:nvSpPr>
        <p:spPr>
          <a:xfrm>
            <a:off x="12001500" y="1143000"/>
            <a:ext cx="3467100" cy="558800"/>
          </a:xfrm>
          <a:prstGeom prst="rect">
            <a:avLst/>
          </a:prstGeom>
          <a:noFill/>
        </p:spPr>
        <p:txBody>
          <a:bodyPr wrap="square" lIns="0" rIns="0" tIns="0" bIns="0">
            <a:spAutoFit/>
          </a:bodyPr>
          <a:lstStyle/>
          <a:p>
            <a:pPr algn="l">
              <a:defRPr i="0" sz="1500" b="0">
                <a:solidFill>
                  <a:srgbClr val="FFFFFF"/>
                </a:solidFill>
                <a:latin typeface="Calibri"/>
              </a:defRPr>
            </a:pPr>
            <a:r>
              <a:rPr i="0" sz="1500" b="0">
                <a:solidFill>
                  <a:srgbClr val="FFFFFF"/>
                </a:solidFill>
                <a:latin typeface="Calibri"/>
              </a:rPr>
              <a:t>VPNs verify endpoint security posture before granting network access.</a:t>
            </a:r>
          </a:p>
        </p:txBody>
      </p:sp>
      <p:sp>
        <p:nvSpPr>
          <p:cNvPr id="16" name="Rounded Rectangle 15"/>
          <p:cNvSpPr/>
          <p:nvPr/>
        </p:nvSpPr>
        <p:spPr>
          <a:xfrm>
            <a:off x="11036300" y="2311400"/>
            <a:ext cx="4711700" cy="1600200"/>
          </a:xfrm>
          <a:prstGeom prst="roundRect">
            <a:avLst>
              <a:gd name="adj" fmla="val 15873"/>
            </a:avLst>
          </a:prstGeom>
          <a:solidFill>
            <a:srgbClr val="082654"/>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Rounded Rectangle 16"/>
          <p:cNvSpPr/>
          <p:nvPr/>
        </p:nvSpPr>
        <p:spPr>
          <a:xfrm>
            <a:off x="11341100" y="2616200"/>
            <a:ext cx="457200" cy="457200"/>
          </a:xfrm>
          <a:prstGeom prst="roundRect">
            <a:avLst>
              <a:gd name="adj" fmla="val 50000"/>
            </a:avLst>
          </a:prstGeom>
          <a:solidFill>
            <a:srgbClr val="FFFFFF">
              <a:alpha val="2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12001500" y="2616200"/>
            <a:ext cx="3467100" cy="3302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Agentless Options</a:t>
            </a:r>
          </a:p>
        </p:txBody>
      </p:sp>
      <p:sp>
        <p:nvSpPr>
          <p:cNvPr id="19" name="TextBox 18"/>
          <p:cNvSpPr txBox="1"/>
          <p:nvPr/>
        </p:nvSpPr>
        <p:spPr>
          <a:xfrm>
            <a:off x="12001500" y="3048000"/>
            <a:ext cx="3467100" cy="558800"/>
          </a:xfrm>
          <a:prstGeom prst="rect">
            <a:avLst/>
          </a:prstGeom>
          <a:noFill/>
        </p:spPr>
        <p:txBody>
          <a:bodyPr wrap="square" lIns="0" rIns="0" tIns="0" bIns="0">
            <a:spAutoFit/>
          </a:bodyPr>
          <a:lstStyle/>
          <a:p>
            <a:pPr algn="l">
              <a:defRPr i="0" sz="1500" b="0">
                <a:solidFill>
                  <a:srgbClr val="FFFFFF"/>
                </a:solidFill>
                <a:latin typeface="Calibri"/>
              </a:defRPr>
            </a:pPr>
            <a:r>
              <a:rPr i="0" sz="1500" b="0">
                <a:solidFill>
                  <a:srgbClr val="FFFFFF"/>
                </a:solidFill>
                <a:latin typeface="Calibri"/>
              </a:rPr>
              <a:t>Agentless and lightweight solutions enhance visibility for unmanaged devices.</a:t>
            </a:r>
          </a:p>
        </p:txBody>
      </p:sp>
      <p:sp>
        <p:nvSpPr>
          <p:cNvPr id="20" name="Rounded Rectangle 19"/>
          <p:cNvSpPr/>
          <p:nvPr/>
        </p:nvSpPr>
        <p:spPr>
          <a:xfrm>
            <a:off x="11036300" y="4216400"/>
            <a:ext cx="4711700" cy="1600200"/>
          </a:xfrm>
          <a:prstGeom prst="roundRect">
            <a:avLst>
              <a:gd name="adj" fmla="val 15873"/>
            </a:avLst>
          </a:prstGeom>
          <a:solidFill>
            <a:srgbClr val="082654"/>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ounded Rectangle 20"/>
          <p:cNvSpPr/>
          <p:nvPr/>
        </p:nvSpPr>
        <p:spPr>
          <a:xfrm>
            <a:off x="11341100" y="4521200"/>
            <a:ext cx="457200" cy="457200"/>
          </a:xfrm>
          <a:prstGeom prst="roundRect">
            <a:avLst>
              <a:gd name="adj" fmla="val 50000"/>
            </a:avLst>
          </a:prstGeom>
          <a:solidFill>
            <a:srgbClr val="FFFFFF">
              <a:alpha val="2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12001500" y="4521200"/>
            <a:ext cx="3467100" cy="330200"/>
          </a:xfrm>
          <a:prstGeom prst="rect">
            <a:avLst/>
          </a:prstGeom>
          <a:noFill/>
        </p:spPr>
        <p:txBody>
          <a:bodyPr wrap="square" lIns="0" rIns="0" tIns="0" bIns="0">
            <a:spAutoFit/>
          </a:bodyPr>
          <a:lstStyle/>
          <a:p>
            <a:pPr algn="l">
              <a:defRPr i="0" sz="2200" b="1">
                <a:solidFill>
                  <a:srgbClr val="FFFFFF"/>
                </a:solidFill>
                <a:latin typeface="Inter"/>
              </a:defRPr>
            </a:pPr>
            <a:r>
              <a:rPr i="0" sz="2200" b="1">
                <a:solidFill>
                  <a:srgbClr val="FFFFFF"/>
                </a:solidFill>
                <a:latin typeface="Inter"/>
              </a:rPr>
              <a:t>Notable Breaches</a:t>
            </a:r>
          </a:p>
        </p:txBody>
      </p:sp>
      <p:sp>
        <p:nvSpPr>
          <p:cNvPr id="23" name="TextBox 22"/>
          <p:cNvSpPr txBox="1"/>
          <p:nvPr/>
        </p:nvSpPr>
        <p:spPr>
          <a:xfrm>
            <a:off x="12001500" y="4953000"/>
            <a:ext cx="3467100" cy="558800"/>
          </a:xfrm>
          <a:prstGeom prst="rect">
            <a:avLst/>
          </a:prstGeom>
          <a:noFill/>
        </p:spPr>
        <p:txBody>
          <a:bodyPr wrap="square" lIns="0" rIns="0" tIns="0" bIns="0">
            <a:spAutoFit/>
          </a:bodyPr>
          <a:lstStyle/>
          <a:p>
            <a:pPr algn="l">
              <a:defRPr i="0" sz="1500" b="0">
                <a:solidFill>
                  <a:srgbClr val="FFFFFF"/>
                </a:solidFill>
                <a:latin typeface="Calibri"/>
              </a:defRPr>
            </a:pPr>
            <a:r>
              <a:rPr i="0" sz="1500" b="0">
                <a:solidFill>
                  <a:srgbClr val="FFFFFF"/>
                </a:solidFill>
                <a:latin typeface="Calibri"/>
              </a:rPr>
              <a:t>High-profile cases, like Uber 2022, highlight the risks of insufficient controls.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17600" y="711200"/>
            <a:ext cx="14046200" cy="787400"/>
          </a:xfrm>
          <a:prstGeom prst="rect">
            <a:avLst/>
          </a:prstGeom>
          <a:noFill/>
        </p:spPr>
        <p:txBody>
          <a:bodyPr wrap="square" lIns="0" rIns="0" tIns="0" bIns="0">
            <a:spAutoFit/>
          </a:bodyPr>
          <a:lstStyle/>
          <a:p>
            <a:pPr algn="l">
              <a:lnSpc>
                <a:spcPct val="80000"/>
              </a:lnSpc>
              <a:defRPr i="0" sz="5600" b="1">
                <a:solidFill>
                  <a:srgbClr val="0A2A66"/>
                </a:solidFill>
                <a:latin typeface="Open Sans"/>
              </a:defRPr>
            </a:pPr>
            <a:r>
              <a:rPr i="0" sz="5600" b="1">
                <a:solidFill>
                  <a:srgbClr val="0A2A66"/>
                </a:solidFill>
                <a:latin typeface="Open Sans"/>
              </a:rPr>
              <a:t>Zero Trust in Threat Detection</a:t>
            </a:r>
          </a:p>
        </p:txBody>
      </p:sp>
      <p:sp>
        <p:nvSpPr>
          <p:cNvPr id="3" name="TextBox 2"/>
          <p:cNvSpPr txBox="1"/>
          <p:nvPr/>
        </p:nvSpPr>
        <p:spPr>
          <a:xfrm>
            <a:off x="11176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1</a:t>
            </a:r>
          </a:p>
        </p:txBody>
      </p:sp>
      <p:sp>
        <p:nvSpPr>
          <p:cNvPr id="4" name="TextBox 3"/>
          <p:cNvSpPr txBox="1"/>
          <p:nvPr/>
        </p:nvSpPr>
        <p:spPr>
          <a:xfrm>
            <a:off x="18923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Risk-Based Dynamic Access</a:t>
            </a:r>
          </a:p>
        </p:txBody>
      </p:sp>
      <p:sp>
        <p:nvSpPr>
          <p:cNvPr id="5" name="TextBox 4"/>
          <p:cNvSpPr txBox="1"/>
          <p:nvPr/>
        </p:nvSpPr>
        <p:spPr>
          <a:xfrm>
            <a:off x="18923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Access decisions adapt in real time to user behavior and live threats, minimizing risks.</a:t>
            </a:r>
          </a:p>
        </p:txBody>
      </p:sp>
      <p:sp>
        <p:nvSpPr>
          <p:cNvPr id="6" name="TextBox 5"/>
          <p:cNvSpPr txBox="1"/>
          <p:nvPr/>
        </p:nvSpPr>
        <p:spPr>
          <a:xfrm>
            <a:off x="8940800" y="18034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2</a:t>
            </a:r>
          </a:p>
        </p:txBody>
      </p:sp>
      <p:sp>
        <p:nvSpPr>
          <p:cNvPr id="7" name="TextBox 6"/>
          <p:cNvSpPr txBox="1"/>
          <p:nvPr/>
        </p:nvSpPr>
        <p:spPr>
          <a:xfrm>
            <a:off x="9715500" y="18034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Automated Threat Response</a:t>
            </a:r>
          </a:p>
        </p:txBody>
      </p:sp>
      <p:sp>
        <p:nvSpPr>
          <p:cNvPr id="8" name="TextBox 7"/>
          <p:cNvSpPr txBox="1"/>
          <p:nvPr/>
        </p:nvSpPr>
        <p:spPr>
          <a:xfrm>
            <a:off x="9715500" y="23368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System rapidly identifies and mitigates threats using automation for swift containment.</a:t>
            </a:r>
          </a:p>
        </p:txBody>
      </p:sp>
      <p:sp>
        <p:nvSpPr>
          <p:cNvPr id="9" name="TextBox 8"/>
          <p:cNvSpPr txBox="1"/>
          <p:nvPr/>
        </p:nvSpPr>
        <p:spPr>
          <a:xfrm>
            <a:off x="1117600" y="3797300"/>
            <a:ext cx="342900" cy="558800"/>
          </a:xfrm>
          <a:prstGeom prst="rect">
            <a:avLst/>
          </a:prstGeom>
          <a:noFill/>
        </p:spPr>
        <p:txBody>
          <a:bodyPr wrap="square" lIns="0" rIns="0" tIns="0" bIns="0">
            <a:spAutoFit/>
          </a:bodyPr>
          <a:lstStyle/>
          <a:p>
            <a:pPr algn="l">
              <a:lnSpc>
                <a:spcPct val="70000"/>
              </a:lnSpc>
              <a:defRPr i="0" sz="4400" b="1">
                <a:solidFill>
                  <a:srgbClr val="0A2A66"/>
                </a:solidFill>
                <a:latin typeface="Open Sans"/>
              </a:defRPr>
            </a:pPr>
            <a:r>
              <a:rPr i="0" sz="4400" b="1">
                <a:solidFill>
                  <a:srgbClr val="0A2A66"/>
                </a:solidFill>
                <a:latin typeface="Open Sans"/>
              </a:rPr>
              <a:t>3</a:t>
            </a:r>
          </a:p>
        </p:txBody>
      </p:sp>
      <p:sp>
        <p:nvSpPr>
          <p:cNvPr id="10" name="TextBox 9"/>
          <p:cNvSpPr txBox="1"/>
          <p:nvPr/>
        </p:nvSpPr>
        <p:spPr>
          <a:xfrm>
            <a:off x="1892300" y="3797300"/>
            <a:ext cx="5448300" cy="381000"/>
          </a:xfrm>
          <a:prstGeom prst="rect">
            <a:avLst/>
          </a:prstGeom>
          <a:noFill/>
        </p:spPr>
        <p:txBody>
          <a:bodyPr wrap="square" lIns="0" rIns="0" tIns="0" bIns="0">
            <a:spAutoFit/>
          </a:bodyPr>
          <a:lstStyle/>
          <a:p>
            <a:pPr algn="l">
              <a:lnSpc>
                <a:spcPct val="95000"/>
              </a:lnSpc>
              <a:defRPr i="0" sz="2400" b="1">
                <a:solidFill>
                  <a:srgbClr val="0A2A66"/>
                </a:solidFill>
                <a:latin typeface="Open Sans"/>
              </a:defRPr>
            </a:pPr>
            <a:r>
              <a:rPr i="0" sz="2400" b="1">
                <a:solidFill>
                  <a:srgbClr val="0A2A66"/>
                </a:solidFill>
                <a:latin typeface="Open Sans"/>
              </a:rPr>
              <a:t>Threat Intel Integration</a:t>
            </a:r>
          </a:p>
        </p:txBody>
      </p:sp>
      <p:sp>
        <p:nvSpPr>
          <p:cNvPr id="11" name="TextBox 10"/>
          <p:cNvSpPr txBox="1"/>
          <p:nvPr/>
        </p:nvSpPr>
        <p:spPr>
          <a:xfrm>
            <a:off x="1892300" y="4330700"/>
            <a:ext cx="5448300" cy="647700"/>
          </a:xfrm>
          <a:prstGeom prst="rect">
            <a:avLst/>
          </a:prstGeom>
          <a:noFill/>
        </p:spPr>
        <p:txBody>
          <a:bodyPr wrap="square" lIns="0" rIns="0" tIns="0" bIns="0">
            <a:spAutoFit/>
          </a:bodyPr>
          <a:lstStyle/>
          <a:p>
            <a:pPr algn="l">
              <a:defRPr i="0" sz="1600" b="0">
                <a:solidFill>
                  <a:srgbClr val="25344A"/>
                </a:solidFill>
                <a:latin typeface="Open Sans"/>
              </a:defRPr>
            </a:pPr>
            <a:r>
              <a:rPr i="0" sz="1600" b="0">
                <a:solidFill>
                  <a:srgbClr val="25344A"/>
                </a:solidFill>
                <a:latin typeface="Open Sans"/>
              </a:rPr>
              <a:t>Enforcement points leverage intelligence feeds to proactively shrink the attack surface.</a:t>
            </a:r>
          </a:p>
        </p:txBody>
      </p:sp>
      <p:sp>
        <p:nvSpPr>
          <p:cNvPr id="12" name="Rounded Rectangle 11"/>
          <p:cNvSpPr/>
          <p:nvPr/>
        </p:nvSpPr>
        <p:spPr>
          <a:xfrm>
            <a:off x="1117600" y="5689600"/>
            <a:ext cx="14020800" cy="609600"/>
          </a:xfrm>
          <a:prstGeom prst="roundRect">
            <a:avLst>
              <a:gd name="adj" fmla="val 125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1270000" y="5842000"/>
            <a:ext cx="13741400" cy="304800"/>
          </a:xfrm>
          <a:prstGeom prst="rect">
            <a:avLst/>
          </a:prstGeom>
          <a:noFill/>
        </p:spPr>
        <p:txBody>
          <a:bodyPr wrap="square" lIns="0" rIns="0" tIns="0" bIns="0">
            <a:spAutoFit/>
          </a:bodyPr>
          <a:lstStyle/>
          <a:p>
            <a:pPr algn="l">
              <a:defRPr i="0" sz="1600" b="0">
                <a:solidFill>
                  <a:srgbClr val="09090B"/>
                </a:solidFill>
                <a:latin typeface="Open Sans"/>
              </a:defRPr>
            </a:pPr>
            <a:r>
              <a:rPr i="0" sz="1600" b="0">
                <a:solidFill>
                  <a:srgbClr val="09090B"/>
                </a:solidFill>
                <a:latin typeface="Open Sans"/>
              </a:rPr>
              <a:t>graph TD; A[Start]--&gt;B{Choice}; B--&gt;C[Path 1]; B--&gt;D[Path 2];</a:t>
            </a:r>
          </a:p>
        </p:txBody>
      </p:sp>
      <p:pic>
        <p:nvPicPr>
          <p:cNvPr id="14" name="Picture 13" descr="ee063fcf-5228-4c99-8efb-114b8592ae8b.png"/>
          <p:cNvPicPr>
            <a:picLocks noChangeAspect="1"/>
          </p:cNvPicPr>
          <p:nvPr/>
        </p:nvPicPr>
        <p:blipFill>
          <a:blip r:embed="rId3"/>
          <a:stretch>
            <a:fillRect/>
          </a:stretch>
        </p:blipFill>
        <p:spPr>
          <a:xfrm>
            <a:off x="0" y="6858000"/>
            <a:ext cx="16256000" cy="2286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dd2baae8-d529-45d1-ba2b-8bb17e214497.png"/>
          <p:cNvPicPr>
            <a:picLocks noChangeAspect="1"/>
          </p:cNvPicPr>
          <p:nvPr/>
        </p:nvPicPr>
        <p:blipFill>
          <a:blip r:embed="rId3"/>
          <a:stretch>
            <a:fillRect/>
          </a:stretch>
        </p:blipFill>
        <p:spPr>
          <a:xfrm>
            <a:off x="0" y="0"/>
            <a:ext cx="3556000" cy="9144000"/>
          </a:xfrm>
          <a:prstGeom prst="rect">
            <a:avLst/>
          </a:prstGeom>
        </p:spPr>
      </p:pic>
      <p:sp>
        <p:nvSpPr>
          <p:cNvPr id="3" name="Rounded Rectangle 2"/>
          <p:cNvSpPr/>
          <p:nvPr/>
        </p:nvSpPr>
        <p:spPr>
          <a:xfrm>
            <a:off x="0" y="0"/>
            <a:ext cx="3556000" cy="9144000"/>
          </a:xfrm>
          <a:prstGeom prst="roundRect">
            <a:avLst>
              <a:gd name="adj" fmla="val 714"/>
            </a:avLst>
          </a:prstGeom>
          <a:solidFill>
            <a:srgbClr val="FFFFFF">
              <a:alpha val="5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4" name="Picture 3" descr="886cf8aa-87cc-4f85-9614-40b1ffb6f4e6.png"/>
          <p:cNvPicPr>
            <a:picLocks noChangeAspect="1"/>
          </p:cNvPicPr>
          <p:nvPr/>
        </p:nvPicPr>
        <p:blipFill>
          <a:blip r:embed="rId4"/>
          <a:stretch>
            <a:fillRect/>
          </a:stretch>
        </p:blipFill>
        <p:spPr>
          <a:xfrm>
            <a:off x="13208000" y="0"/>
            <a:ext cx="3048000" cy="9144000"/>
          </a:xfrm>
          <a:prstGeom prst="rect">
            <a:avLst/>
          </a:prstGeom>
        </p:spPr>
      </p:pic>
      <p:sp>
        <p:nvSpPr>
          <p:cNvPr id="5" name="Rounded Rectangle 4"/>
          <p:cNvSpPr/>
          <p:nvPr/>
        </p:nvSpPr>
        <p:spPr>
          <a:xfrm>
            <a:off x="13208000" y="0"/>
            <a:ext cx="3048000" cy="9144000"/>
          </a:xfrm>
          <a:prstGeom prst="roundRect">
            <a:avLst>
              <a:gd name="adj" fmla="val 833"/>
            </a:avLst>
          </a:prstGeom>
          <a:solidFill>
            <a:srgbClr val="FFFFFF">
              <a:alpha val="50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1524000" y="812800"/>
            <a:ext cx="13233400" cy="1625600"/>
          </a:xfrm>
          <a:prstGeom prst="rect">
            <a:avLst/>
          </a:prstGeom>
          <a:noFill/>
        </p:spPr>
        <p:txBody>
          <a:bodyPr wrap="square" lIns="0" rIns="0" tIns="0" bIns="0">
            <a:spAutoFit/>
          </a:bodyPr>
          <a:lstStyle/>
          <a:p>
            <a:pPr algn="ctr">
              <a:lnSpc>
                <a:spcPct val="84000"/>
              </a:lnSpc>
              <a:defRPr i="0" sz="5600" b="1">
                <a:solidFill>
                  <a:srgbClr val="0B2B66"/>
                </a:solidFill>
                <a:latin typeface="__inter_fd044d"/>
              </a:defRPr>
            </a:pPr>
            <a:r>
              <a:rPr i="0" sz="5600" b="1">
                <a:solidFill>
                  <a:srgbClr val="0B2B66"/>
                </a:solidFill>
                <a:latin typeface="__inter_fd044d"/>
              </a:rPr>
              <a:t>Zero Trust Use Case: Application &amp; Network Visibility</a:t>
            </a:r>
          </a:p>
        </p:txBody>
      </p:sp>
      <p:sp>
        <p:nvSpPr>
          <p:cNvPr id="7" name="TextBox 6"/>
          <p:cNvSpPr txBox="1"/>
          <p:nvPr/>
        </p:nvSpPr>
        <p:spPr>
          <a:xfrm>
            <a:off x="2984500" y="2946400"/>
            <a:ext cx="1511300" cy="342900"/>
          </a:xfrm>
          <a:prstGeom prst="rect">
            <a:avLst/>
          </a:prstGeom>
          <a:noFill/>
        </p:spPr>
        <p:txBody>
          <a:bodyPr wrap="square" lIns="0" rIns="0" tIns="0" bIns="0">
            <a:spAutoFit/>
          </a:bodyPr>
          <a:lstStyle/>
          <a:p>
            <a:pPr algn="l">
              <a:defRPr i="0" sz="1800" b="1">
                <a:solidFill>
                  <a:srgbClr val="0B2B66"/>
                </a:solidFill>
                <a:latin typeface="__inter_fd044d"/>
              </a:defRPr>
            </a:pPr>
            <a:r>
              <a:rPr i="0" sz="1800" b="1">
                <a:solidFill>
                  <a:srgbClr val="0B2B66"/>
                </a:solidFill>
                <a:latin typeface="__inter_fd044d"/>
              </a:rPr>
              <a:t>App Coverage</a:t>
            </a:r>
          </a:p>
        </p:txBody>
      </p:sp>
      <p:sp>
        <p:nvSpPr>
          <p:cNvPr id="8" name="TextBox 7"/>
          <p:cNvSpPr txBox="1"/>
          <p:nvPr/>
        </p:nvSpPr>
        <p:spPr>
          <a:xfrm>
            <a:off x="2870200" y="3390900"/>
            <a:ext cx="1739900" cy="812800"/>
          </a:xfrm>
          <a:prstGeom prst="rect">
            <a:avLst/>
          </a:prstGeom>
          <a:noFill/>
        </p:spPr>
        <p:txBody>
          <a:bodyPr wrap="none" lIns="0" rIns="0" tIns="0" bIns="0">
            <a:spAutoFit/>
          </a:bodyPr>
          <a:lstStyle/>
          <a:p>
            <a:pPr algn="l">
              <a:lnSpc>
                <a:spcPct val="70000"/>
              </a:lnSpc>
              <a:defRPr i="0" sz="6400" b="1">
                <a:solidFill>
                  <a:srgbClr val="0B2B66"/>
                </a:solidFill>
                <a:latin typeface="__inter_fd044d"/>
              </a:defRPr>
            </a:pPr>
            <a:r>
              <a:rPr i="0" sz="6400" b="1">
                <a:solidFill>
                  <a:srgbClr val="0B2B66"/>
                </a:solidFill>
                <a:latin typeface="__inter_fd044d"/>
              </a:rPr>
              <a:t>99%</a:t>
            </a:r>
          </a:p>
        </p:txBody>
      </p:sp>
      <p:sp>
        <p:nvSpPr>
          <p:cNvPr id="9" name="TextBox 8"/>
          <p:cNvSpPr txBox="1"/>
          <p:nvPr/>
        </p:nvSpPr>
        <p:spPr>
          <a:xfrm>
            <a:off x="7099300" y="2946400"/>
            <a:ext cx="2082800" cy="342900"/>
          </a:xfrm>
          <a:prstGeom prst="rect">
            <a:avLst/>
          </a:prstGeom>
          <a:noFill/>
        </p:spPr>
        <p:txBody>
          <a:bodyPr wrap="square" lIns="0" rIns="0" tIns="0" bIns="0">
            <a:spAutoFit/>
          </a:bodyPr>
          <a:lstStyle/>
          <a:p>
            <a:pPr algn="l">
              <a:defRPr i="0" sz="1800" b="1">
                <a:solidFill>
                  <a:srgbClr val="0B2B66"/>
                </a:solidFill>
                <a:latin typeface="__inter_fd044d"/>
              </a:defRPr>
            </a:pPr>
            <a:r>
              <a:rPr i="0" sz="1800" b="1">
                <a:solidFill>
                  <a:srgbClr val="0B2B66"/>
                </a:solidFill>
                <a:latin typeface="__inter_fd044d"/>
              </a:rPr>
              <a:t>Net Issues Reduced</a:t>
            </a:r>
          </a:p>
        </p:txBody>
      </p:sp>
      <p:sp>
        <p:nvSpPr>
          <p:cNvPr id="10" name="TextBox 9"/>
          <p:cNvSpPr txBox="1"/>
          <p:nvPr/>
        </p:nvSpPr>
        <p:spPr>
          <a:xfrm>
            <a:off x="7302500" y="3390900"/>
            <a:ext cx="1663700" cy="812800"/>
          </a:xfrm>
          <a:prstGeom prst="rect">
            <a:avLst/>
          </a:prstGeom>
          <a:noFill/>
        </p:spPr>
        <p:txBody>
          <a:bodyPr wrap="none" lIns="0" rIns="0" tIns="0" bIns="0">
            <a:spAutoFit/>
          </a:bodyPr>
          <a:lstStyle/>
          <a:p>
            <a:pPr algn="l">
              <a:lnSpc>
                <a:spcPct val="70000"/>
              </a:lnSpc>
              <a:defRPr i="0" sz="6400" b="1">
                <a:solidFill>
                  <a:srgbClr val="0B2B66"/>
                </a:solidFill>
                <a:latin typeface="__inter_fd044d"/>
              </a:defRPr>
            </a:pPr>
            <a:r>
              <a:rPr i="0" sz="6400" b="1">
                <a:solidFill>
                  <a:srgbClr val="0B2B66"/>
                </a:solidFill>
                <a:latin typeface="__inter_fd044d"/>
              </a:rPr>
              <a:t>75%</a:t>
            </a:r>
          </a:p>
        </p:txBody>
      </p:sp>
      <p:sp>
        <p:nvSpPr>
          <p:cNvPr id="11" name="TextBox 10"/>
          <p:cNvSpPr txBox="1"/>
          <p:nvPr/>
        </p:nvSpPr>
        <p:spPr>
          <a:xfrm>
            <a:off x="11938000" y="2946400"/>
            <a:ext cx="1206500" cy="342900"/>
          </a:xfrm>
          <a:prstGeom prst="rect">
            <a:avLst/>
          </a:prstGeom>
          <a:noFill/>
        </p:spPr>
        <p:txBody>
          <a:bodyPr wrap="square" lIns="0" rIns="0" tIns="0" bIns="0">
            <a:spAutoFit/>
          </a:bodyPr>
          <a:lstStyle/>
          <a:p>
            <a:pPr algn="l">
              <a:defRPr i="0" sz="1800" b="1">
                <a:solidFill>
                  <a:srgbClr val="0B2B66"/>
                </a:solidFill>
                <a:latin typeface="__inter_fd044d"/>
              </a:defRPr>
            </a:pPr>
            <a:r>
              <a:rPr i="0" sz="1800" b="1">
                <a:solidFill>
                  <a:srgbClr val="0B2B66"/>
                </a:solidFill>
                <a:latin typeface="__inter_fd044d"/>
              </a:rPr>
              <a:t>Cloud Sites</a:t>
            </a:r>
          </a:p>
        </p:txBody>
      </p:sp>
      <p:sp>
        <p:nvSpPr>
          <p:cNvPr id="12" name="TextBox 11"/>
          <p:cNvSpPr txBox="1"/>
          <p:nvPr/>
        </p:nvSpPr>
        <p:spPr>
          <a:xfrm>
            <a:off x="11607800" y="3390900"/>
            <a:ext cx="1879600" cy="812800"/>
          </a:xfrm>
          <a:prstGeom prst="rect">
            <a:avLst/>
          </a:prstGeom>
          <a:noFill/>
        </p:spPr>
        <p:txBody>
          <a:bodyPr wrap="none" lIns="0" rIns="0" tIns="0" bIns="0">
            <a:spAutoFit/>
          </a:bodyPr>
          <a:lstStyle/>
          <a:p>
            <a:pPr algn="l">
              <a:lnSpc>
                <a:spcPct val="70000"/>
              </a:lnSpc>
              <a:defRPr i="0" sz="6400" b="1">
                <a:solidFill>
                  <a:srgbClr val="0B2B66"/>
                </a:solidFill>
                <a:latin typeface="__inter_fd044d"/>
              </a:defRPr>
            </a:pPr>
            <a:r>
              <a:rPr i="0" sz="6400" b="1">
                <a:solidFill>
                  <a:srgbClr val="0B2B66"/>
                </a:solidFill>
                <a:latin typeface="__inter_fd044d"/>
              </a:rPr>
              <a:t>140+</a:t>
            </a:r>
          </a:p>
        </p:txBody>
      </p:sp>
      <p:pic>
        <p:nvPicPr>
          <p:cNvPr id="13" name="Picture 12" descr="e366d07e-bda8-4109-ab4e-5f747348abe4.png"/>
          <p:cNvPicPr>
            <a:picLocks noChangeAspect="1"/>
          </p:cNvPicPr>
          <p:nvPr/>
        </p:nvPicPr>
        <p:blipFill>
          <a:blip r:embed="rId5"/>
          <a:stretch>
            <a:fillRect/>
          </a:stretch>
        </p:blipFill>
        <p:spPr>
          <a:xfrm>
            <a:off x="1828800" y="4508500"/>
            <a:ext cx="3797300" cy="1219200"/>
          </a:xfrm>
          <a:prstGeom prst="rect">
            <a:avLst/>
          </a:prstGeom>
        </p:spPr>
      </p:pic>
      <p:sp>
        <p:nvSpPr>
          <p:cNvPr id="14" name="TextBox 13"/>
          <p:cNvSpPr txBox="1"/>
          <p:nvPr/>
        </p:nvSpPr>
        <p:spPr>
          <a:xfrm>
            <a:off x="2133600" y="4699000"/>
            <a:ext cx="3213100" cy="838200"/>
          </a:xfrm>
          <a:prstGeom prst="rect">
            <a:avLst/>
          </a:prstGeom>
          <a:noFill/>
        </p:spPr>
        <p:txBody>
          <a:bodyPr wrap="square" lIns="0" rIns="0" tIns="0" bIns="0">
            <a:spAutoFit/>
          </a:bodyPr>
          <a:lstStyle/>
          <a:p>
            <a:pPr algn="ctr">
              <a:lnSpc>
                <a:spcPct val="108000"/>
              </a:lnSpc>
              <a:defRPr i="0" sz="1600" b="0">
                <a:solidFill>
                  <a:srgbClr val="FFFFFF"/>
                </a:solidFill>
                <a:latin typeface="Calibri"/>
              </a:defRPr>
            </a:pPr>
            <a:r>
              <a:rPr i="0" sz="1600" b="0">
                <a:solidFill>
                  <a:srgbClr val="FFFFFF"/>
                </a:solidFill>
                <a:latin typeface="Calibri"/>
              </a:rPr>
              <a:t>End-to-end monitoring across network, app, and cloud environments</a:t>
            </a:r>
          </a:p>
        </p:txBody>
      </p:sp>
      <p:pic>
        <p:nvPicPr>
          <p:cNvPr id="15" name="Picture 14" descr="e366d07e-bda8-4109-ab4e-5f747348abe4.png"/>
          <p:cNvPicPr>
            <a:picLocks noChangeAspect="1"/>
          </p:cNvPicPr>
          <p:nvPr/>
        </p:nvPicPr>
        <p:blipFill>
          <a:blip r:embed="rId5"/>
          <a:stretch>
            <a:fillRect/>
          </a:stretch>
        </p:blipFill>
        <p:spPr>
          <a:xfrm>
            <a:off x="6235700" y="4508500"/>
            <a:ext cx="3797300" cy="1219200"/>
          </a:xfrm>
          <a:prstGeom prst="rect">
            <a:avLst/>
          </a:prstGeom>
        </p:spPr>
      </p:pic>
      <p:sp>
        <p:nvSpPr>
          <p:cNvPr id="16" name="TextBox 15"/>
          <p:cNvSpPr txBox="1"/>
          <p:nvPr/>
        </p:nvSpPr>
        <p:spPr>
          <a:xfrm>
            <a:off x="6540500" y="4838700"/>
            <a:ext cx="3213100" cy="558800"/>
          </a:xfrm>
          <a:prstGeom prst="rect">
            <a:avLst/>
          </a:prstGeom>
          <a:noFill/>
        </p:spPr>
        <p:txBody>
          <a:bodyPr wrap="square" lIns="0" rIns="0" tIns="0" bIns="0">
            <a:spAutoFit/>
          </a:bodyPr>
          <a:lstStyle/>
          <a:p>
            <a:pPr algn="ctr">
              <a:defRPr i="0" sz="1600" b="0">
                <a:solidFill>
                  <a:srgbClr val="FFFFFF"/>
                </a:solidFill>
                <a:latin typeface="Calibri"/>
              </a:defRPr>
            </a:pPr>
            <a:r>
              <a:rPr i="0" sz="1600" b="0">
                <a:solidFill>
                  <a:srgbClr val="FFFFFF"/>
                </a:solidFill>
                <a:latin typeface="Calibri"/>
              </a:rPr>
              <a:t>Enhanced visibility for hybrid and multi-cloud architectures</a:t>
            </a:r>
          </a:p>
        </p:txBody>
      </p:sp>
      <p:pic>
        <p:nvPicPr>
          <p:cNvPr id="17" name="Picture 16" descr="e366d07e-bda8-4109-ab4e-5f747348abe4.png"/>
          <p:cNvPicPr>
            <a:picLocks noChangeAspect="1"/>
          </p:cNvPicPr>
          <p:nvPr/>
        </p:nvPicPr>
        <p:blipFill>
          <a:blip r:embed="rId5"/>
          <a:stretch>
            <a:fillRect/>
          </a:stretch>
        </p:blipFill>
        <p:spPr>
          <a:xfrm>
            <a:off x="10629900" y="4508500"/>
            <a:ext cx="3797300" cy="1219200"/>
          </a:xfrm>
          <a:prstGeom prst="rect">
            <a:avLst/>
          </a:prstGeom>
        </p:spPr>
      </p:pic>
      <p:sp>
        <p:nvSpPr>
          <p:cNvPr id="18" name="TextBox 17"/>
          <p:cNvSpPr txBox="1"/>
          <p:nvPr/>
        </p:nvSpPr>
        <p:spPr>
          <a:xfrm>
            <a:off x="10934700" y="4838700"/>
            <a:ext cx="3213100" cy="558800"/>
          </a:xfrm>
          <a:prstGeom prst="rect">
            <a:avLst/>
          </a:prstGeom>
          <a:noFill/>
        </p:spPr>
        <p:txBody>
          <a:bodyPr wrap="square" lIns="0" rIns="0" tIns="0" bIns="0">
            <a:spAutoFit/>
          </a:bodyPr>
          <a:lstStyle/>
          <a:p>
            <a:pPr algn="ctr">
              <a:defRPr i="0" sz="1600" b="0">
                <a:solidFill>
                  <a:srgbClr val="FFFFFF"/>
                </a:solidFill>
                <a:latin typeface="Calibri"/>
              </a:defRPr>
            </a:pPr>
            <a:r>
              <a:rPr i="0" sz="1600" b="0">
                <a:solidFill>
                  <a:srgbClr val="FFFFFF"/>
                </a:solidFill>
                <a:latin typeface="Calibri"/>
              </a:rPr>
              <a:t>Actionable insights to quickly identify and resolve issues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09600" y="508000"/>
            <a:ext cx="15062200" cy="787400"/>
          </a:xfrm>
          <a:prstGeom prst="rect">
            <a:avLst/>
          </a:prstGeom>
          <a:noFill/>
        </p:spPr>
        <p:txBody>
          <a:bodyPr wrap="square" lIns="0" rIns="0" tIns="0" bIns="0">
            <a:spAutoFit/>
          </a:bodyPr>
          <a:lstStyle/>
          <a:p>
            <a:pPr algn="l">
              <a:lnSpc>
                <a:spcPct val="80000"/>
              </a:lnSpc>
              <a:defRPr i="0" sz="5600" b="1">
                <a:solidFill>
                  <a:srgbClr val="082B69"/>
                </a:solidFill>
                <a:latin typeface="__inter_fd044d"/>
              </a:defRPr>
            </a:pPr>
            <a:r>
              <a:rPr i="0" sz="5600" b="1">
                <a:solidFill>
                  <a:srgbClr val="082B69"/>
                </a:solidFill>
                <a:latin typeface="__inter_fd044d"/>
              </a:rPr>
              <a:t>Authentication Methods in Zero Trust</a:t>
            </a:r>
          </a:p>
        </p:txBody>
      </p:sp>
      <p:sp>
        <p:nvSpPr>
          <p:cNvPr id="3" name="Rounded Rectangle 2"/>
          <p:cNvSpPr/>
          <p:nvPr/>
        </p:nvSpPr>
        <p:spPr>
          <a:xfrm>
            <a:off x="609600" y="1803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1</a:t>
            </a:r>
          </a:p>
        </p:txBody>
      </p:sp>
      <p:sp>
        <p:nvSpPr>
          <p:cNvPr id="4" name="TextBox 3"/>
          <p:cNvSpPr txBox="1"/>
          <p:nvPr/>
        </p:nvSpPr>
        <p:spPr>
          <a:xfrm>
            <a:off x="1625600" y="1841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Passwords, PINs, security questions for identification</a:t>
            </a:r>
          </a:p>
        </p:txBody>
      </p:sp>
      <p:sp>
        <p:nvSpPr>
          <p:cNvPr id="5" name="Rounded Rectangle 4"/>
          <p:cNvSpPr/>
          <p:nvPr/>
        </p:nvSpPr>
        <p:spPr>
          <a:xfrm>
            <a:off x="609600" y="2819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2</a:t>
            </a:r>
          </a:p>
        </p:txBody>
      </p:sp>
      <p:sp>
        <p:nvSpPr>
          <p:cNvPr id="6" name="TextBox 5"/>
          <p:cNvSpPr txBox="1"/>
          <p:nvPr/>
        </p:nvSpPr>
        <p:spPr>
          <a:xfrm>
            <a:off x="1625600" y="3009900"/>
            <a:ext cx="5245100" cy="317500"/>
          </a:xfrm>
          <a:prstGeom prst="rect">
            <a:avLst/>
          </a:prstGeom>
          <a:noFill/>
        </p:spPr>
        <p:txBody>
          <a:bodyPr wrap="square" lIns="0" rIns="0" tIns="0" bIns="0">
            <a:spAutoFit/>
          </a:bodyPr>
          <a:lstStyle/>
          <a:p>
            <a:pPr algn="l">
              <a:defRPr i="0" sz="1800" b="0">
                <a:solidFill>
                  <a:srgbClr val="082B69"/>
                </a:solidFill>
                <a:latin typeface="__inter_fd044d"/>
              </a:defRPr>
            </a:pPr>
            <a:r>
              <a:rPr i="0" sz="1800" b="0">
                <a:solidFill>
                  <a:srgbClr val="082B69"/>
                </a:solidFill>
                <a:latin typeface="__inter_fd044d"/>
              </a:rPr>
              <a:t>Devices like mobile phones, tokens, or smart cards</a:t>
            </a:r>
          </a:p>
        </p:txBody>
      </p:sp>
      <p:sp>
        <p:nvSpPr>
          <p:cNvPr id="7" name="Rounded Rectangle 6"/>
          <p:cNvSpPr/>
          <p:nvPr/>
        </p:nvSpPr>
        <p:spPr>
          <a:xfrm>
            <a:off x="609600" y="3835400"/>
            <a:ext cx="711200" cy="711200"/>
          </a:xfrm>
          <a:prstGeom prst="roundRect">
            <a:avLst>
              <a:gd name="adj" fmla="val 25000"/>
            </a:avLst>
          </a:prstGeom>
          <a:solidFill>
            <a:srgbClr val="062A63"/>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l">
              <a:defRPr i="0" sz="2000" b="1">
                <a:solidFill>
                  <a:srgbClr val="FFFFFF"/>
                </a:solidFill>
                <a:latin typeface="__inter_fd044d"/>
              </a:defRPr>
            </a:pPr>
            <a:r>
              <a:rPr i="0" sz="2000" b="1">
                <a:solidFill>
                  <a:srgbClr val="FFFFFF"/>
                </a:solidFill>
                <a:latin typeface="__inter_fd044d"/>
              </a:rPr>
              <a:t>3</a:t>
            </a:r>
          </a:p>
        </p:txBody>
      </p:sp>
      <p:sp>
        <p:nvSpPr>
          <p:cNvPr id="8" name="TextBox 7"/>
          <p:cNvSpPr txBox="1"/>
          <p:nvPr/>
        </p:nvSpPr>
        <p:spPr>
          <a:xfrm>
            <a:off x="1625600" y="3873500"/>
            <a:ext cx="5359400" cy="635000"/>
          </a:xfrm>
          <a:prstGeom prst="rect">
            <a:avLst/>
          </a:prstGeom>
          <a:noFill/>
        </p:spPr>
        <p:txBody>
          <a:bodyPr wrap="square" lIns="0" rIns="0" tIns="0" bIns="0">
            <a:spAutoFit/>
          </a:bodyPr>
          <a:lstStyle/>
          <a:p>
            <a:pPr algn="l">
              <a:lnSpc>
                <a:spcPct val="108000"/>
              </a:lnSpc>
              <a:defRPr i="0" sz="1800" b="0">
                <a:solidFill>
                  <a:srgbClr val="082B69"/>
                </a:solidFill>
                <a:latin typeface="__inter_fd044d"/>
              </a:defRPr>
            </a:pPr>
            <a:r>
              <a:rPr i="0" sz="1800" b="0">
                <a:solidFill>
                  <a:srgbClr val="082B69"/>
                </a:solidFill>
                <a:latin typeface="__inter_fd044d"/>
              </a:rPr>
              <a:t>Biometric data such as fingerprints and facial recognition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286000" y="3683000"/>
            <a:ext cx="11963400" cy="1168400"/>
          </a:xfrm>
          <a:prstGeom prst="rect">
            <a:avLst/>
          </a:prstGeom>
          <a:noFill/>
        </p:spPr>
        <p:txBody>
          <a:bodyPr wrap="square" lIns="0" rIns="0" tIns="0" bIns="0">
            <a:spAutoFit/>
          </a:bodyPr>
          <a:lstStyle/>
          <a:p>
            <a:pPr algn="l">
              <a:lnSpc>
                <a:spcPct val="75000"/>
              </a:lnSpc>
              <a:defRPr i="0" sz="8800" b="1">
                <a:solidFill>
                  <a:srgbClr val="0B2D6B"/>
                </a:solidFill>
                <a:latin typeface="Open Sans"/>
              </a:defRPr>
            </a:pPr>
            <a:r>
              <a:rPr i="0" sz="8800" b="1">
                <a:solidFill>
                  <a:srgbClr val="0B2D6B"/>
                </a:solidFill>
                <a:latin typeface="Open Sans"/>
              </a:rPr>
              <a:t>Overcoming Challenges</a:t>
            </a:r>
          </a:p>
        </p:txBody>
      </p:sp>
      <p:sp>
        <p:nvSpPr>
          <p:cNvPr id="3" name="TextBox 2"/>
          <p:cNvSpPr txBox="1"/>
          <p:nvPr/>
        </p:nvSpPr>
        <p:spPr>
          <a:xfrm>
            <a:off x="2286000" y="5918200"/>
            <a:ext cx="11963400" cy="342900"/>
          </a:xfrm>
          <a:prstGeom prst="rect">
            <a:avLst/>
          </a:prstGeom>
          <a:noFill/>
        </p:spPr>
        <p:txBody>
          <a:bodyPr wrap="square" lIns="0" rIns="0" tIns="0" bIns="0">
            <a:spAutoFit/>
          </a:bodyPr>
          <a:lstStyle/>
          <a:p>
            <a:pPr algn="l">
              <a:defRPr i="0" sz="1800" b="1">
                <a:solidFill>
                  <a:srgbClr val="0B2D6B"/>
                </a:solidFill>
                <a:latin typeface="Open Sans"/>
              </a:defRPr>
            </a:pPr>
            <a:r>
              <a:rPr i="0" sz="1800" b="1">
                <a:solidFill>
                  <a:srgbClr val="0B2D6B"/>
                </a:solidFill>
                <a:latin typeface="Open Sans"/>
              </a:rPr>
              <a:t>Access Security</a:t>
            </a:r>
          </a:p>
        </p:txBody>
      </p:sp>
      <p:sp>
        <p:nvSpPr>
          <p:cNvPr id="4" name="TextBox 3"/>
          <p:cNvSpPr txBox="1"/>
          <p:nvPr/>
        </p:nvSpPr>
        <p:spPr>
          <a:xfrm>
            <a:off x="2286000" y="6388100"/>
            <a:ext cx="11709400" cy="368300"/>
          </a:xfrm>
          <a:prstGeom prst="rect">
            <a:avLst/>
          </a:prstGeom>
          <a:noFill/>
        </p:spPr>
        <p:txBody>
          <a:bodyPr wrap="square" lIns="0" rIns="0" tIns="0" bIns="0">
            <a:spAutoFit/>
          </a:bodyPr>
          <a:lstStyle/>
          <a:p>
            <a:pPr algn="l">
              <a:defRPr i="0" sz="1600" b="0">
                <a:solidFill>
                  <a:srgbClr val="0B2D6B"/>
                </a:solidFill>
                <a:latin typeface="Open Sans"/>
              </a:defRPr>
            </a:pPr>
            <a:r>
              <a:rPr i="0" sz="1600" b="0">
                <a:solidFill>
                  <a:srgbClr val="0B2D6B"/>
                </a:solidFill>
                <a:latin typeface="Open Sans"/>
              </a:rPr>
              <a:t>Cisco’s unified strategy reduces access complexity and minimizes device fragmentation for BYOD and external users.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