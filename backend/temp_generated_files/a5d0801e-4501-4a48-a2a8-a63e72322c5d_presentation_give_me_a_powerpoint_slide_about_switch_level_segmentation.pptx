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6256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Smart Switch Hypershield, which delivers Level 4 segmentation at the switch layer. Emphasize its role in improving network security and simplifying scalable segmentation for data centers. This sets the context for a technical deep dive into the solution.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Switch-level segmentation increases network defense by dividing the local environment into secure segments, which limits attacker movements, enforces clear communication rules, and aids in threat containment. This approach is vital for compliance and scalable security.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Switch-level segmentation uses advanced switch features to separate and secure network segments. This approach is central to Hypershield, enabling better protection, efficient traffic flow, and access control throughout the network.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level segmentation is essential in preventing attackers from moving laterally across the network, helping to contain incidents and minimize financial losses from breaches. These strategies are proven by both rising breach costs and common lateral movement tactics.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4 segmentation provides control using IPs and ports, allowing for policies based on actual traffic patterns. This empowers teams to optimize access and security tailored to application needs.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Smart Switch Hypershield offers dynamic and automated policy enforcement. It can detect changes in user roles, emerging threats, or new applications, and immediately applies the appropriate security policies to ensure continuous protection and compliance.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Highlighting easy integration with current infrastructure, support for multiple deployment scenarios, and compatibility with management platforms simplifies both adoption and ongoing network operations.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Segmenting network areas significantly limits attacker movement within the organization. Separating sensitive functions like HR, Finance, and R&amp;D protects critical information. The 72% breach rate in 2025 emphasizes the necessity of effective segmentation strategies.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covers strategies for access control, emphasizing least-privilege principles, adaptability through flexible mapping, and reduced risks from access misconfigurations.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highlights practical examples of network segmentation: separating departments with unique policies, isolating sensitive medical devices from core systems, and restricting guests to protect essential resources.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4 segmentation aligns with major security standards while enabling zero trust networking. It leads to marked reductions in audit efforts and simplifies policy management with strong versioning features.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how the solution offers precise traffic control and automation, resulting in improved security and a notable reduction in lateral movement risks.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2200" y="1879600"/>
            <a:ext cx="8153400" cy="4483100"/>
          </a:xfrm>
          <a:prstGeom prst="rect">
            <a:avLst/>
          </a:prstGeom>
          <a:noFill/>
        </p:spPr>
        <p:txBody>
          <a:bodyPr wrap="square" lIns="0" rIns="0" tIns="0" bIns="0">
            <a:spAutoFit/>
          </a:bodyPr>
          <a:lstStyle/>
          <a:p>
            <a:pPr algn="l">
              <a:lnSpc>
                <a:spcPct val="75000"/>
              </a:lnSpc>
              <a:defRPr i="0" sz="8400" b="1">
                <a:solidFill>
                  <a:srgbClr val="0B2A5C"/>
                </a:solidFill>
                <a:latin typeface="Source Sans Pro"/>
              </a:defRPr>
            </a:pPr>
            <a:r>
              <a:rPr i="0" sz="8400" b="1">
                <a:solidFill>
                  <a:srgbClr val="0B2A5C"/>
                </a:solidFill>
                <a:latin typeface="Source Sans Pro"/>
              </a:rPr>
              <a:t>Switch Level Segmentation: Hypershield L4 Approach</a:t>
            </a:r>
          </a:p>
        </p:txBody>
      </p:sp>
      <p:sp>
        <p:nvSpPr>
          <p:cNvPr id="3" name="TextBox 2"/>
          <p:cNvSpPr txBox="1"/>
          <p:nvPr/>
        </p:nvSpPr>
        <p:spPr>
          <a:xfrm>
            <a:off x="1092200" y="6769100"/>
            <a:ext cx="8153400" cy="711200"/>
          </a:xfrm>
          <a:prstGeom prst="rect">
            <a:avLst/>
          </a:prstGeom>
          <a:noFill/>
        </p:spPr>
        <p:txBody>
          <a:bodyPr wrap="square" lIns="0" rIns="0" tIns="0" bIns="0">
            <a:spAutoFit/>
          </a:bodyPr>
          <a:lstStyle/>
          <a:p>
            <a:pPr algn="l">
              <a:defRPr i="0" sz="1800" b="0">
                <a:solidFill>
                  <a:srgbClr val="475569"/>
                </a:solidFill>
                <a:latin typeface="Source Sans Pro"/>
              </a:defRPr>
            </a:pPr>
            <a:r>
              <a:rPr i="0" sz="1800" b="0">
                <a:solidFill>
                  <a:srgbClr val="475569"/>
                </a:solidFill>
                <a:latin typeface="Source Sans Pro"/>
              </a:rPr>
              <a:t>Smart Switch Hypershield enables precise, scalable L4 network segmentation for enhanced security and performance.</a:t>
            </a:r>
          </a:p>
        </p:txBody>
      </p:sp>
      <p:sp>
        <p:nvSpPr>
          <p:cNvPr id="4" name="Rounded Rectangle 3"/>
          <p:cNvSpPr/>
          <p:nvPr/>
        </p:nvSpPr>
        <p:spPr>
          <a:xfrm>
            <a:off x="1092200" y="7924800"/>
            <a:ext cx="711200" cy="711200"/>
          </a:xfrm>
          <a:prstGeom prst="roundRect">
            <a:avLst>
              <a:gd name="adj" fmla="val 50000"/>
            </a:avLst>
          </a:prstGeom>
          <a:solidFill>
            <a:srgbClr val="0B2A5C"/>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20000"/>
              </a:lnSpc>
              <a:defRPr i="0" sz="1800" b="1">
                <a:solidFill>
                  <a:srgbClr val="FFFFFF"/>
                </a:solidFill>
                <a:latin typeface="Source Sans Pro"/>
              </a:defRPr>
            </a:pPr>
            <a:r>
              <a:rPr i="0" sz="1800" b="1">
                <a:solidFill>
                  <a:srgbClr val="FFFFFF"/>
                </a:solidFill>
                <a:latin typeface="Source Sans Pro"/>
              </a:rPr>
              <a:t>YN</a:t>
            </a:r>
          </a:p>
        </p:txBody>
      </p:sp>
      <p:sp>
        <p:nvSpPr>
          <p:cNvPr id="5" name="TextBox 4"/>
          <p:cNvSpPr txBox="1"/>
          <p:nvPr/>
        </p:nvSpPr>
        <p:spPr>
          <a:xfrm>
            <a:off x="2057400" y="8026400"/>
            <a:ext cx="1066800" cy="292100"/>
          </a:xfrm>
          <a:prstGeom prst="rect">
            <a:avLst/>
          </a:prstGeom>
          <a:noFill/>
        </p:spPr>
        <p:txBody>
          <a:bodyPr wrap="square" lIns="0" rIns="0" tIns="0" bIns="0">
            <a:spAutoFit/>
          </a:bodyPr>
          <a:lstStyle/>
          <a:p>
            <a:pPr algn="l">
              <a:defRPr i="0" sz="1800" b="1">
                <a:solidFill>
                  <a:srgbClr val="0B2A5C"/>
                </a:solidFill>
                <a:latin typeface="Source Sans Pro"/>
              </a:defRPr>
            </a:pPr>
            <a:r>
              <a:rPr i="0" sz="1800" b="1">
                <a:solidFill>
                  <a:srgbClr val="0B2A5C"/>
                </a:solidFill>
                <a:latin typeface="Source Sans Pro"/>
              </a:rPr>
              <a:t>Your Name</a:t>
            </a:r>
          </a:p>
        </p:txBody>
      </p:sp>
      <p:sp>
        <p:nvSpPr>
          <p:cNvPr id="6" name="TextBox 5"/>
          <p:cNvSpPr txBox="1"/>
          <p:nvPr/>
        </p:nvSpPr>
        <p:spPr>
          <a:xfrm>
            <a:off x="2057400" y="8318500"/>
            <a:ext cx="1066800" cy="228600"/>
          </a:xfrm>
          <a:prstGeom prst="rect">
            <a:avLst/>
          </a:prstGeom>
          <a:noFill/>
        </p:spPr>
        <p:txBody>
          <a:bodyPr wrap="square" lIns="0" rIns="0" tIns="0" bIns="0">
            <a:spAutoFit/>
          </a:bodyPr>
          <a:lstStyle/>
          <a:p>
            <a:pPr algn="l">
              <a:defRPr i="0" sz="1400" b="0">
                <a:solidFill>
                  <a:srgbClr val="334155"/>
                </a:solidFill>
                <a:latin typeface="Source Sans Pro"/>
              </a:defRPr>
            </a:pPr>
            <a:r>
              <a:rPr i="0" sz="1400" b="0">
                <a:solidFill>
                  <a:srgbClr val="334155"/>
                </a:solidFill>
                <a:latin typeface="Source Sans Pro"/>
              </a:rPr>
              <a:t>2026-01-12</a:t>
            </a:r>
          </a:p>
        </p:txBody>
      </p:sp>
      <p:pic>
        <p:nvPicPr>
          <p:cNvPr id="7" name="Picture 6" descr="dc0c6768-05d8-4c5e-a8b1-88db32fa85b9.png"/>
          <p:cNvPicPr>
            <a:picLocks noChangeAspect="1"/>
          </p:cNvPicPr>
          <p:nvPr/>
        </p:nvPicPr>
        <p:blipFill>
          <a:blip r:embed="rId3"/>
          <a:stretch>
            <a:fillRect/>
          </a:stretch>
        </p:blipFill>
        <p:spPr>
          <a:xfrm>
            <a:off x="10160000" y="0"/>
            <a:ext cx="6096000" cy="9144000"/>
          </a:xfrm>
          <a:prstGeom prst="rect">
            <a:avLst/>
          </a:prstGeom>
        </p:spPr>
      </p:pic>
      <p:sp>
        <p:nvSpPr>
          <p:cNvPr id="8" name="Rounded Rectangle 7"/>
          <p:cNvSpPr/>
          <p:nvPr/>
        </p:nvSpPr>
        <p:spPr>
          <a:xfrm>
            <a:off x="10160000" y="0"/>
            <a:ext cx="6096000" cy="9144000"/>
          </a:xfrm>
          <a:prstGeom prst="roundRect">
            <a:avLst>
              <a:gd name="adj" fmla="val 416"/>
            </a:avLst>
          </a:prstGeom>
          <a:solidFill>
            <a:srgbClr val="0B2A5C">
              <a:alpha val="65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508000"/>
            <a:ext cx="15062200" cy="787400"/>
          </a:xfrm>
          <a:prstGeom prst="rect">
            <a:avLst/>
          </a:prstGeom>
          <a:noFill/>
        </p:spPr>
        <p:txBody>
          <a:bodyPr wrap="square" lIns="0" rIns="0" tIns="0" bIns="0">
            <a:spAutoFit/>
          </a:bodyPr>
          <a:lstStyle/>
          <a:p>
            <a:pPr algn="l">
              <a:lnSpc>
                <a:spcPct val="80000"/>
              </a:lnSpc>
              <a:defRPr i="0" sz="5600" b="1">
                <a:solidFill>
                  <a:srgbClr val="082B69"/>
                </a:solidFill>
                <a:latin typeface="__inter_fd044d"/>
              </a:defRPr>
            </a:pPr>
            <a:r>
              <a:rPr i="0" sz="5600" b="1">
                <a:solidFill>
                  <a:srgbClr val="082B69"/>
                </a:solidFill>
                <a:latin typeface="__inter_fd044d"/>
              </a:rPr>
              <a:t>Overview of Switch Level Segmentation</a:t>
            </a:r>
          </a:p>
        </p:txBody>
      </p:sp>
      <p:sp>
        <p:nvSpPr>
          <p:cNvPr id="3" name="Rounded Rectangle 2"/>
          <p:cNvSpPr/>
          <p:nvPr/>
        </p:nvSpPr>
        <p:spPr>
          <a:xfrm>
            <a:off x="609600" y="1803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1</a:t>
            </a:r>
          </a:p>
        </p:txBody>
      </p:sp>
      <p:sp>
        <p:nvSpPr>
          <p:cNvPr id="4" name="TextBox 3"/>
          <p:cNvSpPr txBox="1"/>
          <p:nvPr/>
        </p:nvSpPr>
        <p:spPr>
          <a:xfrm>
            <a:off x="1625600" y="1841500"/>
            <a:ext cx="5359400" cy="635000"/>
          </a:xfrm>
          <a:prstGeom prst="rect">
            <a:avLst/>
          </a:prstGeom>
          <a:noFill/>
        </p:spPr>
        <p:txBody>
          <a:bodyPr wrap="square" lIns="0" rIns="0" tIns="0" bIns="0">
            <a:spAutoFit/>
          </a:bodyPr>
          <a:lstStyle/>
          <a:p>
            <a:pPr algn="l">
              <a:lnSpc>
                <a:spcPct val="108000"/>
              </a:lnSpc>
              <a:defRPr i="0" sz="1800" b="0">
                <a:solidFill>
                  <a:srgbClr val="082B69"/>
                </a:solidFill>
                <a:latin typeface="__inter_fd044d"/>
              </a:defRPr>
            </a:pPr>
            <a:r>
              <a:rPr i="0" sz="1800" b="0">
                <a:solidFill>
                  <a:srgbClr val="082B69"/>
                </a:solidFill>
                <a:latin typeface="__inter_fd044d"/>
              </a:rPr>
              <a:t>Strengthens security via Layer 2 switch segmentation</a:t>
            </a:r>
          </a:p>
        </p:txBody>
      </p:sp>
      <p:sp>
        <p:nvSpPr>
          <p:cNvPr id="5" name="Rounded Rectangle 4"/>
          <p:cNvSpPr/>
          <p:nvPr/>
        </p:nvSpPr>
        <p:spPr>
          <a:xfrm>
            <a:off x="609600" y="2819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2</a:t>
            </a:r>
          </a:p>
        </p:txBody>
      </p:sp>
      <p:sp>
        <p:nvSpPr>
          <p:cNvPr id="6" name="TextBox 5"/>
          <p:cNvSpPr txBox="1"/>
          <p:nvPr/>
        </p:nvSpPr>
        <p:spPr>
          <a:xfrm>
            <a:off x="1625600" y="3009900"/>
            <a:ext cx="51562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Limits lateral attacker movement in local networks</a:t>
            </a:r>
          </a:p>
        </p:txBody>
      </p:sp>
      <p:sp>
        <p:nvSpPr>
          <p:cNvPr id="7" name="Rounded Rectangle 6"/>
          <p:cNvSpPr/>
          <p:nvPr/>
        </p:nvSpPr>
        <p:spPr>
          <a:xfrm>
            <a:off x="609600" y="3835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3</a:t>
            </a:r>
          </a:p>
        </p:txBody>
      </p:sp>
      <p:sp>
        <p:nvSpPr>
          <p:cNvPr id="8" name="TextBox 7"/>
          <p:cNvSpPr txBox="1"/>
          <p:nvPr/>
        </p:nvSpPr>
        <p:spPr>
          <a:xfrm>
            <a:off x="1625600" y="3873500"/>
            <a:ext cx="5359400" cy="635000"/>
          </a:xfrm>
          <a:prstGeom prst="rect">
            <a:avLst/>
          </a:prstGeom>
          <a:noFill/>
        </p:spPr>
        <p:txBody>
          <a:bodyPr wrap="square" lIns="0" rIns="0" tIns="0" bIns="0">
            <a:spAutoFit/>
          </a:bodyPr>
          <a:lstStyle/>
          <a:p>
            <a:pPr algn="l">
              <a:lnSpc>
                <a:spcPct val="108000"/>
              </a:lnSpc>
              <a:defRPr i="0" sz="1800" b="0">
                <a:solidFill>
                  <a:srgbClr val="082B69"/>
                </a:solidFill>
                <a:latin typeface="__inter_fd044d"/>
              </a:defRPr>
            </a:pPr>
            <a:r>
              <a:rPr i="0" sz="1800" b="0">
                <a:solidFill>
                  <a:srgbClr val="082B69"/>
                </a:solidFill>
                <a:latin typeface="__inter_fd044d"/>
              </a:rPr>
              <a:t>Enables granular control over device communication</a:t>
            </a:r>
          </a:p>
        </p:txBody>
      </p:sp>
      <p:sp>
        <p:nvSpPr>
          <p:cNvPr id="9" name="Rounded Rectangle 8"/>
          <p:cNvSpPr/>
          <p:nvPr/>
        </p:nvSpPr>
        <p:spPr>
          <a:xfrm>
            <a:off x="8839200" y="1803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4</a:t>
            </a:r>
          </a:p>
        </p:txBody>
      </p:sp>
      <p:sp>
        <p:nvSpPr>
          <p:cNvPr id="10" name="TextBox 9"/>
          <p:cNvSpPr txBox="1"/>
          <p:nvPr/>
        </p:nvSpPr>
        <p:spPr>
          <a:xfrm>
            <a:off x="9855200" y="1993900"/>
            <a:ext cx="53086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Reduces spread of threats within segmented zones</a:t>
            </a:r>
          </a:p>
        </p:txBody>
      </p:sp>
      <p:sp>
        <p:nvSpPr>
          <p:cNvPr id="11" name="Rounded Rectangle 10"/>
          <p:cNvSpPr/>
          <p:nvPr/>
        </p:nvSpPr>
        <p:spPr>
          <a:xfrm>
            <a:off x="8839200" y="2819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5</a:t>
            </a:r>
          </a:p>
        </p:txBody>
      </p:sp>
      <p:sp>
        <p:nvSpPr>
          <p:cNvPr id="12" name="TextBox 11"/>
          <p:cNvSpPr txBox="1"/>
          <p:nvPr/>
        </p:nvSpPr>
        <p:spPr>
          <a:xfrm>
            <a:off x="9855200" y="2857500"/>
            <a:ext cx="5359400" cy="635000"/>
          </a:xfrm>
          <a:prstGeom prst="rect">
            <a:avLst/>
          </a:prstGeom>
          <a:noFill/>
        </p:spPr>
        <p:txBody>
          <a:bodyPr wrap="square" lIns="0" rIns="0" tIns="0" bIns="0">
            <a:spAutoFit/>
          </a:bodyPr>
          <a:lstStyle/>
          <a:p>
            <a:pPr algn="l">
              <a:lnSpc>
                <a:spcPct val="108000"/>
              </a:lnSpc>
              <a:defRPr i="0" sz="1800" b="0">
                <a:solidFill>
                  <a:srgbClr val="082B69"/>
                </a:solidFill>
                <a:latin typeface="__inter_fd044d"/>
              </a:defRPr>
            </a:pPr>
            <a:r>
              <a:rPr i="0" sz="1800" b="0">
                <a:solidFill>
                  <a:srgbClr val="082B69"/>
                </a:solidFill>
                <a:latin typeface="__inter_fd044d"/>
              </a:rPr>
              <a:t>Simplifies compliance audits for network boundaries</a:t>
            </a:r>
          </a:p>
        </p:txBody>
      </p:sp>
      <p:sp>
        <p:nvSpPr>
          <p:cNvPr id="13" name="Rounded Rectangle 12"/>
          <p:cNvSpPr/>
          <p:nvPr/>
        </p:nvSpPr>
        <p:spPr>
          <a:xfrm>
            <a:off x="8839200" y="3835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6</a:t>
            </a:r>
          </a:p>
        </p:txBody>
      </p:sp>
      <p:sp>
        <p:nvSpPr>
          <p:cNvPr id="14" name="TextBox 13"/>
          <p:cNvSpPr txBox="1"/>
          <p:nvPr/>
        </p:nvSpPr>
        <p:spPr>
          <a:xfrm>
            <a:off x="9855200" y="4025900"/>
            <a:ext cx="41656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Supports scalable security architectures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508000"/>
            <a:ext cx="14452600" cy="812800"/>
          </a:xfrm>
          <a:prstGeom prst="rect">
            <a:avLst/>
          </a:prstGeom>
          <a:noFill/>
        </p:spPr>
        <p:txBody>
          <a:bodyPr wrap="square" lIns="0" rIns="0" tIns="0" bIns="0">
            <a:spAutoFit/>
          </a:bodyPr>
          <a:lstStyle/>
          <a:p>
            <a:pPr algn="l">
              <a:lnSpc>
                <a:spcPct val="84000"/>
              </a:lnSpc>
              <a:defRPr i="0" sz="5600" b="1">
                <a:solidFill>
                  <a:srgbClr val="0A2A73"/>
                </a:solidFill>
                <a:latin typeface="Open Sans"/>
              </a:defRPr>
            </a:pPr>
            <a:r>
              <a:rPr i="0" sz="5600" b="1">
                <a:solidFill>
                  <a:srgbClr val="0A2A73"/>
                </a:solidFill>
                <a:latin typeface="Open Sans"/>
              </a:rPr>
              <a:t>Switch Level Segmentation Overview</a:t>
            </a:r>
          </a:p>
        </p:txBody>
      </p:sp>
      <p:pic>
        <p:nvPicPr>
          <p:cNvPr id="3" name="Picture 2" descr="2b6d4e3a-52e3-4aa5-9490-d622aa79a034.png"/>
          <p:cNvPicPr>
            <a:picLocks noChangeAspect="1"/>
          </p:cNvPicPr>
          <p:nvPr/>
        </p:nvPicPr>
        <p:blipFill>
          <a:blip r:embed="rId3"/>
          <a:stretch>
            <a:fillRect/>
          </a:stretch>
        </p:blipFill>
        <p:spPr>
          <a:xfrm>
            <a:off x="914400" y="1625600"/>
            <a:ext cx="6604000" cy="6604000"/>
          </a:xfrm>
          <a:prstGeom prst="rect">
            <a:avLst/>
          </a:prstGeom>
        </p:spPr>
      </p:pic>
      <p:sp>
        <p:nvSpPr>
          <p:cNvPr id="4" name="TextBox 3"/>
          <p:cNvSpPr txBox="1"/>
          <p:nvPr/>
        </p:nvSpPr>
        <p:spPr>
          <a:xfrm>
            <a:off x="8432800" y="1625600"/>
            <a:ext cx="6934200" cy="711200"/>
          </a:xfrm>
          <a:prstGeom prst="rect">
            <a:avLst/>
          </a:prstGeom>
          <a:noFill/>
        </p:spPr>
        <p:txBody>
          <a:bodyPr wrap="square" lIns="0" rIns="0" tIns="0" bIns="0">
            <a:spAutoFit/>
          </a:bodyPr>
          <a:lstStyle/>
          <a:p>
            <a:pPr algn="l">
              <a:defRPr i="0" sz="1600" b="0">
                <a:solidFill>
                  <a:srgbClr val="334155"/>
                </a:solidFill>
                <a:latin typeface="Open Sans"/>
              </a:defRPr>
            </a:pPr>
            <a:r>
              <a:rPr i="0" sz="1600" b="0">
                <a:solidFill>
                  <a:srgbClr val="334155"/>
                </a:solidFill>
                <a:latin typeface="Open Sans"/>
              </a:rPr>
              <a:t>Switch-level segmentation leverages L4 features in smart switches to boost network security, streamline traffic control, and restrict access.</a:t>
            </a:r>
          </a:p>
        </p:txBody>
      </p:sp>
      <p:sp>
        <p:nvSpPr>
          <p:cNvPr id="5" name="Rounded Rectangle 4"/>
          <p:cNvSpPr/>
          <p:nvPr/>
        </p:nvSpPr>
        <p:spPr>
          <a:xfrm>
            <a:off x="8432800" y="26924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9499600" y="26924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Enhanced Security</a:t>
            </a:r>
          </a:p>
        </p:txBody>
      </p:sp>
      <p:sp>
        <p:nvSpPr>
          <p:cNvPr id="7" name="Rounded Rectangle 6"/>
          <p:cNvSpPr/>
          <p:nvPr/>
        </p:nvSpPr>
        <p:spPr>
          <a:xfrm>
            <a:off x="9499600" y="30988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9499600" y="32385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Utilizes L4 capabilities to safeguard network segments, limiting risks from lateral movements and unauthorized access.</a:t>
            </a:r>
          </a:p>
        </p:txBody>
      </p:sp>
      <p:sp>
        <p:nvSpPr>
          <p:cNvPr id="9" name="Rounded Rectangle 8"/>
          <p:cNvSpPr/>
          <p:nvPr/>
        </p:nvSpPr>
        <p:spPr>
          <a:xfrm>
            <a:off x="8432800" y="44577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499600" y="44577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Optimized Traffic</a:t>
            </a:r>
          </a:p>
        </p:txBody>
      </p:sp>
      <p:sp>
        <p:nvSpPr>
          <p:cNvPr id="11" name="Rounded Rectangle 10"/>
          <p:cNvSpPr/>
          <p:nvPr/>
        </p:nvSpPr>
        <p:spPr>
          <a:xfrm>
            <a:off x="9499600" y="48641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9499600" y="50038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Intelligent segmentation enables precise traffic management, reducing congestion and improving overall network performance.</a:t>
            </a:r>
          </a:p>
        </p:txBody>
      </p:sp>
      <p:sp>
        <p:nvSpPr>
          <p:cNvPr id="13" name="Rounded Rectangle 12"/>
          <p:cNvSpPr/>
          <p:nvPr/>
        </p:nvSpPr>
        <p:spPr>
          <a:xfrm>
            <a:off x="8432800" y="62230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9499600" y="62230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Access Regulation</a:t>
            </a:r>
          </a:p>
        </p:txBody>
      </p:sp>
      <p:sp>
        <p:nvSpPr>
          <p:cNvPr id="15" name="Rounded Rectangle 14"/>
          <p:cNvSpPr/>
          <p:nvPr/>
        </p:nvSpPr>
        <p:spPr>
          <a:xfrm>
            <a:off x="9499600" y="66294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9499600" y="67691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Implements strict controls to define which assets and users can interact, aligning with advanced Hypershield principles.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508000"/>
            <a:ext cx="8585200" cy="3111500"/>
          </a:xfrm>
          <a:prstGeom prst="rect">
            <a:avLst/>
          </a:prstGeom>
          <a:noFill/>
        </p:spPr>
        <p:txBody>
          <a:bodyPr wrap="square" lIns="0" rIns="0" tIns="0" bIns="0">
            <a:spAutoFit/>
          </a:bodyPr>
          <a:lstStyle/>
          <a:p>
            <a:pPr algn="l">
              <a:lnSpc>
                <a:spcPct val="65000"/>
              </a:lnSpc>
              <a:defRPr i="0" sz="8600" b="0">
                <a:solidFill>
                  <a:srgbClr val="0B1F36"/>
                </a:solidFill>
                <a:latin typeface="Inter"/>
              </a:defRPr>
            </a:pPr>
            <a:r>
              <a:rPr i="0" sz="8600" b="0">
                <a:solidFill>
                  <a:srgbClr val="0B1F36"/>
                </a:solidFill>
                <a:latin typeface="Inter"/>
              </a:rPr>
              <a:t>Importance of Switch Level Segmentation</a:t>
            </a:r>
          </a:p>
        </p:txBody>
      </p:sp>
      <p:sp>
        <p:nvSpPr>
          <p:cNvPr id="3" name="Rounded Rectangle 2"/>
          <p:cNvSpPr/>
          <p:nvPr/>
        </p:nvSpPr>
        <p:spPr>
          <a:xfrm>
            <a:off x="9677400" y="4025900"/>
            <a:ext cx="5969000" cy="6096000"/>
          </a:xfrm>
          <a:prstGeom prst="roundRect">
            <a:avLst>
              <a:gd name="adj" fmla="val 5106"/>
            </a:avLst>
          </a:prstGeom>
          <a:solidFill>
            <a:srgbClr val="F5F7F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4" name="Picture 3" descr="966590b7-cee3-4dbf-84d0-98f6b2f19be5.png"/>
          <p:cNvPicPr>
            <a:picLocks noChangeAspect="1"/>
          </p:cNvPicPr>
          <p:nvPr/>
        </p:nvPicPr>
        <p:blipFill>
          <a:blip r:embed="rId3"/>
          <a:stretch>
            <a:fillRect/>
          </a:stretch>
        </p:blipFill>
        <p:spPr>
          <a:xfrm>
            <a:off x="9982200" y="4787900"/>
            <a:ext cx="5359400" cy="4572000"/>
          </a:xfrm>
          <a:prstGeom prst="rect">
            <a:avLst/>
          </a:prstGeom>
        </p:spPr>
      </p:pic>
      <p:sp>
        <p:nvSpPr>
          <p:cNvPr id="5" name="TextBox 4"/>
          <p:cNvSpPr txBox="1"/>
          <p:nvPr/>
        </p:nvSpPr>
        <p:spPr>
          <a:xfrm>
            <a:off x="11861800" y="8597900"/>
            <a:ext cx="3492500" cy="203200"/>
          </a:xfrm>
          <a:prstGeom prst="rect">
            <a:avLst/>
          </a:prstGeom>
          <a:noFill/>
        </p:spPr>
        <p:txBody>
          <a:bodyPr wrap="none" lIns="0" rIns="0" tIns="0" bIns="0">
            <a:spAutoFit/>
          </a:bodyPr>
          <a:lstStyle/>
          <a:p>
            <a:pPr algn="l">
              <a:defRPr i="0" sz="1600" b="0">
                <a:solidFill>
                  <a:srgbClr val="09090B"/>
                </a:solidFill>
                <a:latin typeface="__inter_fd044d"/>
              </a:defRPr>
            </a:pPr>
            <a:r>
              <a:rPr i="0" sz="1600" b="0">
                <a:solidFill>
                  <a:srgbClr val="09090B"/>
                </a:solidFill>
                <a:latin typeface="__inter_fd044d"/>
              </a:rPr>
              <a:t>Organizations Reporting Lateral Movement (%)</a:t>
            </a:r>
          </a:p>
        </p:txBody>
      </p:sp>
      <p:sp>
        <p:nvSpPr>
          <p:cNvPr id="6" name="TextBox 5"/>
          <p:cNvSpPr txBox="1"/>
          <p:nvPr/>
        </p:nvSpPr>
        <p:spPr>
          <a:xfrm>
            <a:off x="10464800" y="8458200"/>
            <a:ext cx="127000" cy="203200"/>
          </a:xfrm>
          <a:prstGeom prst="rect">
            <a:avLst/>
          </a:prstGeom>
          <a:noFill/>
        </p:spPr>
        <p:txBody>
          <a:bodyPr wrap="none" lIns="0" rIns="0" tIns="0" bIns="0">
            <a:spAutoFit/>
          </a:bodyPr>
          <a:lstStyle/>
          <a:p>
            <a:pPr algn="l">
              <a:defRPr i="0" sz="1600" b="0">
                <a:solidFill>
                  <a:srgbClr val="09090B"/>
                </a:solidFill>
                <a:latin typeface="__inter_fd044d"/>
              </a:defRPr>
            </a:pPr>
            <a:r>
              <a:rPr i="0" sz="1600" b="0">
                <a:solidFill>
                  <a:srgbClr val="09090B"/>
                </a:solidFill>
                <a:latin typeface="__inter_fd044d"/>
              </a:rPr>
              <a:t>0</a:t>
            </a:r>
          </a:p>
        </p:txBody>
      </p:sp>
      <p:sp>
        <p:nvSpPr>
          <p:cNvPr id="7" name="TextBox 6"/>
          <p:cNvSpPr txBox="1"/>
          <p:nvPr/>
        </p:nvSpPr>
        <p:spPr>
          <a:xfrm>
            <a:off x="10464800" y="7632700"/>
            <a:ext cx="127000" cy="203200"/>
          </a:xfrm>
          <a:prstGeom prst="rect">
            <a:avLst/>
          </a:prstGeom>
          <a:noFill/>
        </p:spPr>
        <p:txBody>
          <a:bodyPr wrap="none" lIns="0" rIns="0" tIns="0" bIns="0">
            <a:spAutoFit/>
          </a:bodyPr>
          <a:lstStyle/>
          <a:p>
            <a:pPr algn="l">
              <a:defRPr i="0" sz="1600" b="0">
                <a:solidFill>
                  <a:srgbClr val="09090B"/>
                </a:solidFill>
                <a:latin typeface="__inter_fd044d"/>
              </a:defRPr>
            </a:pPr>
            <a:r>
              <a:rPr i="0" sz="1600" b="0">
                <a:solidFill>
                  <a:srgbClr val="09090B"/>
                </a:solidFill>
                <a:latin typeface="__inter_fd044d"/>
              </a:rPr>
              <a:t>8</a:t>
            </a:r>
          </a:p>
        </p:txBody>
      </p:sp>
      <p:sp>
        <p:nvSpPr>
          <p:cNvPr id="8" name="TextBox 7"/>
          <p:cNvSpPr txBox="1"/>
          <p:nvPr/>
        </p:nvSpPr>
        <p:spPr>
          <a:xfrm>
            <a:off x="10414000" y="6807200"/>
            <a:ext cx="190500" cy="203200"/>
          </a:xfrm>
          <a:prstGeom prst="rect">
            <a:avLst/>
          </a:prstGeom>
          <a:noFill/>
        </p:spPr>
        <p:txBody>
          <a:bodyPr wrap="none" lIns="0" rIns="0" tIns="0" bIns="0">
            <a:spAutoFit/>
          </a:bodyPr>
          <a:lstStyle/>
          <a:p>
            <a:pPr algn="l">
              <a:defRPr i="0" sz="1600" b="0">
                <a:solidFill>
                  <a:srgbClr val="09090B"/>
                </a:solidFill>
                <a:latin typeface="__inter_fd044d"/>
              </a:defRPr>
            </a:pPr>
            <a:r>
              <a:rPr i="0" sz="1600" b="0">
                <a:solidFill>
                  <a:srgbClr val="09090B"/>
                </a:solidFill>
                <a:latin typeface="__inter_fd044d"/>
              </a:rPr>
              <a:t>16</a:t>
            </a:r>
          </a:p>
        </p:txBody>
      </p:sp>
      <p:sp>
        <p:nvSpPr>
          <p:cNvPr id="9" name="TextBox 8"/>
          <p:cNvSpPr txBox="1"/>
          <p:nvPr/>
        </p:nvSpPr>
        <p:spPr>
          <a:xfrm>
            <a:off x="10375900" y="5994400"/>
            <a:ext cx="228600" cy="203200"/>
          </a:xfrm>
          <a:prstGeom prst="rect">
            <a:avLst/>
          </a:prstGeom>
          <a:noFill/>
        </p:spPr>
        <p:txBody>
          <a:bodyPr wrap="none" lIns="0" rIns="0" tIns="0" bIns="0">
            <a:spAutoFit/>
          </a:bodyPr>
          <a:lstStyle/>
          <a:p>
            <a:pPr algn="l">
              <a:defRPr i="0" sz="1600" b="0">
                <a:solidFill>
                  <a:srgbClr val="09090B"/>
                </a:solidFill>
                <a:latin typeface="__inter_fd044d"/>
              </a:defRPr>
            </a:pPr>
            <a:r>
              <a:rPr i="0" sz="1600" b="0">
                <a:solidFill>
                  <a:srgbClr val="09090B"/>
                </a:solidFill>
                <a:latin typeface="__inter_fd044d"/>
              </a:rPr>
              <a:t>24</a:t>
            </a:r>
          </a:p>
        </p:txBody>
      </p:sp>
      <p:sp>
        <p:nvSpPr>
          <p:cNvPr id="10" name="TextBox 9"/>
          <p:cNvSpPr txBox="1"/>
          <p:nvPr/>
        </p:nvSpPr>
        <p:spPr>
          <a:xfrm>
            <a:off x="10375900" y="5232400"/>
            <a:ext cx="215900" cy="203200"/>
          </a:xfrm>
          <a:prstGeom prst="rect">
            <a:avLst/>
          </a:prstGeom>
          <a:noFill/>
        </p:spPr>
        <p:txBody>
          <a:bodyPr wrap="none" lIns="0" rIns="0" tIns="0" bIns="0">
            <a:spAutoFit/>
          </a:bodyPr>
          <a:lstStyle/>
          <a:p>
            <a:pPr algn="l">
              <a:defRPr i="0" sz="1600" b="0">
                <a:solidFill>
                  <a:srgbClr val="09090B"/>
                </a:solidFill>
                <a:latin typeface="__inter_fd044d"/>
              </a:defRPr>
            </a:pPr>
            <a:r>
              <a:rPr i="0" sz="1600" b="0">
                <a:solidFill>
                  <a:srgbClr val="09090B"/>
                </a:solidFill>
                <a:latin typeface="__inter_fd044d"/>
              </a:rPr>
              <a:t>32</a:t>
            </a:r>
          </a:p>
        </p:txBody>
      </p:sp>
      <p:sp>
        <p:nvSpPr>
          <p:cNvPr id="11" name="Rounded Rectangle 10"/>
          <p:cNvSpPr/>
          <p:nvPr/>
        </p:nvSpPr>
        <p:spPr>
          <a:xfrm>
            <a:off x="10807700" y="4914900"/>
            <a:ext cx="279400" cy="279400"/>
          </a:xfrm>
          <a:prstGeom prst="roundRect">
            <a:avLst>
              <a:gd name="adj" fmla="val 109090"/>
            </a:avLst>
          </a:prstGeom>
          <a:solidFill>
            <a:srgbClr val="FFFFFF"/>
          </a:solidFill>
          <a:ln w="12700">
            <a:solidFill>
              <a:srgbClr val="CCCCCC"/>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2" name="Rounded Rectangle 11"/>
          <p:cNvSpPr/>
          <p:nvPr/>
        </p:nvSpPr>
        <p:spPr>
          <a:xfrm>
            <a:off x="609600" y="4025900"/>
            <a:ext cx="711200" cy="711200"/>
          </a:xfrm>
          <a:prstGeom prst="roundRect">
            <a:avLst>
              <a:gd name="adj" fmla="val 50000"/>
            </a:avLst>
          </a:prstGeom>
          <a:solidFill>
            <a:srgbClr val="0A2A5D"/>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TextBox 12"/>
          <p:cNvSpPr txBox="1"/>
          <p:nvPr/>
        </p:nvSpPr>
        <p:spPr>
          <a:xfrm>
            <a:off x="1524000" y="4025900"/>
            <a:ext cx="1625600" cy="1282700"/>
          </a:xfrm>
          <a:prstGeom prst="rect">
            <a:avLst/>
          </a:prstGeom>
          <a:noFill/>
        </p:spPr>
        <p:txBody>
          <a:bodyPr wrap="square" lIns="0" rIns="0" tIns="0" bIns="0">
            <a:spAutoFit/>
          </a:bodyPr>
          <a:lstStyle/>
          <a:p>
            <a:pPr algn="l">
              <a:lnSpc>
                <a:spcPct val="85000"/>
              </a:lnSpc>
              <a:defRPr i="0" sz="2200" b="1">
                <a:solidFill>
                  <a:srgbClr val="0B1F36"/>
                </a:solidFill>
                <a:latin typeface="Inter"/>
              </a:defRPr>
            </a:pPr>
            <a:r>
              <a:rPr i="0" sz="2200" b="1">
                <a:solidFill>
                  <a:srgbClr val="0B1F36"/>
                </a:solidFill>
                <a:latin typeface="Inter"/>
              </a:rPr>
              <a:t>Mitigates Lateral Threat Movement</a:t>
            </a:r>
          </a:p>
        </p:txBody>
      </p:sp>
      <p:sp>
        <p:nvSpPr>
          <p:cNvPr id="14" name="TextBox 13"/>
          <p:cNvSpPr txBox="1"/>
          <p:nvPr/>
        </p:nvSpPr>
        <p:spPr>
          <a:xfrm>
            <a:off x="1524000" y="5410200"/>
            <a:ext cx="1625600" cy="2057400"/>
          </a:xfrm>
          <a:prstGeom prst="rect">
            <a:avLst/>
          </a:prstGeom>
          <a:noFill/>
        </p:spPr>
        <p:txBody>
          <a:bodyPr wrap="square" lIns="0" rIns="0" tIns="0" bIns="0">
            <a:spAutoFit/>
          </a:bodyPr>
          <a:lstStyle/>
          <a:p>
            <a:pPr algn="l">
              <a:lnSpc>
                <a:spcPct val="115000"/>
              </a:lnSpc>
              <a:defRPr i="0" sz="1600" b="0">
                <a:solidFill>
                  <a:srgbClr val="4A5A6D"/>
                </a:solidFill>
                <a:latin typeface="Calibri"/>
              </a:defRPr>
            </a:pPr>
            <a:r>
              <a:rPr i="0" sz="1600" b="0">
                <a:solidFill>
                  <a:srgbClr val="4A5A6D"/>
                </a:solidFill>
                <a:latin typeface="Calibri"/>
              </a:rPr>
              <a:t>Reducing lateral traversal limits attack spread, containing breaches effectively within segments.</a:t>
            </a:r>
          </a:p>
        </p:txBody>
      </p:sp>
      <p:sp>
        <p:nvSpPr>
          <p:cNvPr id="15" name="Rounded Rectangle 14"/>
          <p:cNvSpPr/>
          <p:nvPr/>
        </p:nvSpPr>
        <p:spPr>
          <a:xfrm>
            <a:off x="3632200" y="4025900"/>
            <a:ext cx="711200" cy="711200"/>
          </a:xfrm>
          <a:prstGeom prst="roundRect">
            <a:avLst>
              <a:gd name="adj" fmla="val 50000"/>
            </a:avLst>
          </a:prstGeom>
          <a:solidFill>
            <a:srgbClr val="0A2A5D"/>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4546600" y="4025900"/>
            <a:ext cx="1625600" cy="1282700"/>
          </a:xfrm>
          <a:prstGeom prst="rect">
            <a:avLst/>
          </a:prstGeom>
          <a:noFill/>
        </p:spPr>
        <p:txBody>
          <a:bodyPr wrap="square" lIns="0" rIns="0" tIns="0" bIns="0">
            <a:spAutoFit/>
          </a:bodyPr>
          <a:lstStyle/>
          <a:p>
            <a:pPr algn="l">
              <a:lnSpc>
                <a:spcPct val="85000"/>
              </a:lnSpc>
              <a:defRPr i="0" sz="2200" b="1">
                <a:solidFill>
                  <a:srgbClr val="0B1F36"/>
                </a:solidFill>
                <a:latin typeface="Inter"/>
              </a:defRPr>
            </a:pPr>
            <a:r>
              <a:rPr i="0" sz="2200" b="1">
                <a:solidFill>
                  <a:srgbClr val="0B1F36"/>
                </a:solidFill>
                <a:latin typeface="Inter"/>
              </a:rPr>
              <a:t>Reduces Breach Financial Impact</a:t>
            </a:r>
          </a:p>
        </p:txBody>
      </p:sp>
      <p:sp>
        <p:nvSpPr>
          <p:cNvPr id="17" name="TextBox 16"/>
          <p:cNvSpPr txBox="1"/>
          <p:nvPr/>
        </p:nvSpPr>
        <p:spPr>
          <a:xfrm>
            <a:off x="4546600" y="5410200"/>
            <a:ext cx="1625600" cy="2057400"/>
          </a:xfrm>
          <a:prstGeom prst="rect">
            <a:avLst/>
          </a:prstGeom>
          <a:noFill/>
        </p:spPr>
        <p:txBody>
          <a:bodyPr wrap="square" lIns="0" rIns="0" tIns="0" bIns="0">
            <a:spAutoFit/>
          </a:bodyPr>
          <a:lstStyle/>
          <a:p>
            <a:pPr algn="l">
              <a:lnSpc>
                <a:spcPct val="115000"/>
              </a:lnSpc>
              <a:defRPr i="0" sz="1600" b="0">
                <a:solidFill>
                  <a:srgbClr val="4A5A6D"/>
                </a:solidFill>
                <a:latin typeface="Calibri"/>
              </a:defRPr>
            </a:pPr>
            <a:r>
              <a:rPr i="0" sz="1600" b="0">
                <a:solidFill>
                  <a:srgbClr val="4A5A6D"/>
                </a:solidFill>
                <a:latin typeface="Calibri"/>
              </a:rPr>
              <a:t>Lower exposure and risk through segmentation help decrease average data breach costs, protecting business assets.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508000"/>
            <a:ext cx="8585200" cy="3111500"/>
          </a:xfrm>
          <a:prstGeom prst="rect">
            <a:avLst/>
          </a:prstGeom>
          <a:noFill/>
        </p:spPr>
        <p:txBody>
          <a:bodyPr wrap="square" lIns="0" rIns="0" tIns="0" bIns="0">
            <a:spAutoFit/>
          </a:bodyPr>
          <a:lstStyle/>
          <a:p>
            <a:pPr algn="l">
              <a:lnSpc>
                <a:spcPct val="65000"/>
              </a:lnSpc>
              <a:defRPr i="0" sz="8600" b="0">
                <a:solidFill>
                  <a:srgbClr val="0B1F36"/>
                </a:solidFill>
                <a:latin typeface="Inter"/>
              </a:defRPr>
            </a:pPr>
            <a:r>
              <a:rPr i="0" sz="8600" b="0">
                <a:solidFill>
                  <a:srgbClr val="0B1F36"/>
                </a:solidFill>
                <a:latin typeface="Inter"/>
              </a:rPr>
              <a:t>Advanced Layer 4 Segmentation</a:t>
            </a:r>
          </a:p>
        </p:txBody>
      </p:sp>
      <p:pic>
        <p:nvPicPr>
          <p:cNvPr id="3" name="Picture 2" descr="6e128f47-4b5f-413a-a647-2e7f74760ece.png"/>
          <p:cNvPicPr>
            <a:picLocks noChangeAspect="1"/>
          </p:cNvPicPr>
          <p:nvPr/>
        </p:nvPicPr>
        <p:blipFill>
          <a:blip r:embed="rId3"/>
          <a:stretch>
            <a:fillRect/>
          </a:stretch>
        </p:blipFill>
        <p:spPr>
          <a:xfrm>
            <a:off x="9677400" y="4025900"/>
            <a:ext cx="5969000" cy="6096000"/>
          </a:xfrm>
          <a:prstGeom prst="rect">
            <a:avLst/>
          </a:prstGeom>
        </p:spPr>
      </p:pic>
      <p:sp>
        <p:nvSpPr>
          <p:cNvPr id="4" name="Rounded Rectangle 3"/>
          <p:cNvSpPr/>
          <p:nvPr/>
        </p:nvSpPr>
        <p:spPr>
          <a:xfrm>
            <a:off x="609600" y="4025900"/>
            <a:ext cx="711200" cy="711200"/>
          </a:xfrm>
          <a:prstGeom prst="roundRect">
            <a:avLst>
              <a:gd name="adj" fmla="val 50000"/>
            </a:avLst>
          </a:prstGeom>
          <a:solidFill>
            <a:srgbClr val="0A2A5D"/>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4"/>
          <p:cNvSpPr txBox="1"/>
          <p:nvPr/>
        </p:nvSpPr>
        <p:spPr>
          <a:xfrm>
            <a:off x="1524000" y="4025900"/>
            <a:ext cx="1714500" cy="965200"/>
          </a:xfrm>
          <a:prstGeom prst="rect">
            <a:avLst/>
          </a:prstGeom>
          <a:noFill/>
        </p:spPr>
        <p:txBody>
          <a:bodyPr wrap="square" lIns="0" rIns="0" tIns="0" bIns="0">
            <a:spAutoFit/>
          </a:bodyPr>
          <a:lstStyle/>
          <a:p>
            <a:pPr algn="l">
              <a:lnSpc>
                <a:spcPct val="85000"/>
              </a:lnSpc>
              <a:defRPr i="0" sz="2200" b="1">
                <a:solidFill>
                  <a:srgbClr val="0B1F36"/>
                </a:solidFill>
                <a:latin typeface="Inter"/>
              </a:defRPr>
            </a:pPr>
            <a:r>
              <a:rPr i="0" sz="2200" b="1">
                <a:solidFill>
                  <a:srgbClr val="0B1F36"/>
                </a:solidFill>
                <a:latin typeface="Inter"/>
              </a:rPr>
              <a:t>Detailed Policy Enforcement</a:t>
            </a:r>
          </a:p>
        </p:txBody>
      </p:sp>
      <p:sp>
        <p:nvSpPr>
          <p:cNvPr id="6" name="TextBox 5"/>
          <p:cNvSpPr txBox="1"/>
          <p:nvPr/>
        </p:nvSpPr>
        <p:spPr>
          <a:xfrm>
            <a:off x="1524000" y="5092700"/>
            <a:ext cx="1714500" cy="1765300"/>
          </a:xfrm>
          <a:prstGeom prst="rect">
            <a:avLst/>
          </a:prstGeom>
          <a:noFill/>
        </p:spPr>
        <p:txBody>
          <a:bodyPr wrap="square" lIns="0" rIns="0" tIns="0" bIns="0">
            <a:spAutoFit/>
          </a:bodyPr>
          <a:lstStyle/>
          <a:p>
            <a:pPr algn="l">
              <a:lnSpc>
                <a:spcPct val="115000"/>
              </a:lnSpc>
              <a:defRPr i="0" sz="1600" b="0">
                <a:solidFill>
                  <a:srgbClr val="4A5A6D"/>
                </a:solidFill>
                <a:latin typeface="Calibri"/>
              </a:defRPr>
            </a:pPr>
            <a:r>
              <a:rPr i="0" sz="1600" b="0">
                <a:solidFill>
                  <a:srgbClr val="4A5A6D"/>
                </a:solidFill>
                <a:latin typeface="Calibri"/>
              </a:rPr>
              <a:t>Apply precise rules using source/destination IPs and ports to improve network control.</a:t>
            </a:r>
          </a:p>
        </p:txBody>
      </p:sp>
      <p:sp>
        <p:nvSpPr>
          <p:cNvPr id="7" name="Rounded Rectangle 6"/>
          <p:cNvSpPr/>
          <p:nvPr/>
        </p:nvSpPr>
        <p:spPr>
          <a:xfrm>
            <a:off x="3632200" y="4025900"/>
            <a:ext cx="711200" cy="711200"/>
          </a:xfrm>
          <a:prstGeom prst="roundRect">
            <a:avLst>
              <a:gd name="adj" fmla="val 50000"/>
            </a:avLst>
          </a:prstGeom>
          <a:solidFill>
            <a:srgbClr val="0A2A5D"/>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4546600" y="4025900"/>
            <a:ext cx="1854200" cy="965200"/>
          </a:xfrm>
          <a:prstGeom prst="rect">
            <a:avLst/>
          </a:prstGeom>
          <a:noFill/>
        </p:spPr>
        <p:txBody>
          <a:bodyPr wrap="square" lIns="0" rIns="0" tIns="0" bIns="0">
            <a:spAutoFit/>
          </a:bodyPr>
          <a:lstStyle/>
          <a:p>
            <a:pPr algn="l">
              <a:lnSpc>
                <a:spcPct val="85000"/>
              </a:lnSpc>
              <a:defRPr i="0" sz="2200" b="1">
                <a:solidFill>
                  <a:srgbClr val="0B1F36"/>
                </a:solidFill>
                <a:latin typeface="Inter"/>
              </a:defRPr>
            </a:pPr>
            <a:r>
              <a:rPr i="0" sz="2200" b="1">
                <a:solidFill>
                  <a:srgbClr val="0B1F36"/>
                </a:solidFill>
                <a:latin typeface="Inter"/>
              </a:rPr>
              <a:t>Application-Level Segmentation</a:t>
            </a:r>
          </a:p>
        </p:txBody>
      </p:sp>
      <p:sp>
        <p:nvSpPr>
          <p:cNvPr id="9" name="TextBox 8"/>
          <p:cNvSpPr txBox="1"/>
          <p:nvPr/>
        </p:nvSpPr>
        <p:spPr>
          <a:xfrm>
            <a:off x="4546600" y="5092700"/>
            <a:ext cx="1854200" cy="1473200"/>
          </a:xfrm>
          <a:prstGeom prst="rect">
            <a:avLst/>
          </a:prstGeom>
          <a:noFill/>
        </p:spPr>
        <p:txBody>
          <a:bodyPr wrap="square" lIns="0" rIns="0" tIns="0" bIns="0">
            <a:spAutoFit/>
          </a:bodyPr>
          <a:lstStyle/>
          <a:p>
            <a:pPr algn="l">
              <a:lnSpc>
                <a:spcPct val="115000"/>
              </a:lnSpc>
              <a:defRPr i="0" sz="1600" b="0">
                <a:solidFill>
                  <a:srgbClr val="4A5A6D"/>
                </a:solidFill>
                <a:latin typeface="Calibri"/>
              </a:defRPr>
            </a:pPr>
            <a:r>
              <a:rPr i="0" sz="1600" b="0">
                <a:solidFill>
                  <a:srgbClr val="4A5A6D"/>
                </a:solidFill>
                <a:latin typeface="Calibri"/>
              </a:rPr>
              <a:t>Segment traffic patterns at the application layer for more granular network security.</a:t>
            </a:r>
          </a:p>
        </p:txBody>
      </p:sp>
      <p:sp>
        <p:nvSpPr>
          <p:cNvPr id="10" name="Rounded Rectangle 9"/>
          <p:cNvSpPr/>
          <p:nvPr/>
        </p:nvSpPr>
        <p:spPr>
          <a:xfrm>
            <a:off x="6654800" y="4025900"/>
            <a:ext cx="711200" cy="711200"/>
          </a:xfrm>
          <a:prstGeom prst="roundRect">
            <a:avLst>
              <a:gd name="adj" fmla="val 50000"/>
            </a:avLst>
          </a:prstGeom>
          <a:solidFill>
            <a:srgbClr val="0A2A5D"/>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TextBox 10"/>
          <p:cNvSpPr txBox="1"/>
          <p:nvPr/>
        </p:nvSpPr>
        <p:spPr>
          <a:xfrm>
            <a:off x="7569200" y="4025900"/>
            <a:ext cx="1625600" cy="965200"/>
          </a:xfrm>
          <a:prstGeom prst="rect">
            <a:avLst/>
          </a:prstGeom>
          <a:noFill/>
        </p:spPr>
        <p:txBody>
          <a:bodyPr wrap="square" lIns="0" rIns="0" tIns="0" bIns="0">
            <a:spAutoFit/>
          </a:bodyPr>
          <a:lstStyle/>
          <a:p>
            <a:pPr algn="l">
              <a:lnSpc>
                <a:spcPct val="85000"/>
              </a:lnSpc>
              <a:defRPr i="0" sz="2200" b="1">
                <a:solidFill>
                  <a:srgbClr val="0B1F36"/>
                </a:solidFill>
                <a:latin typeface="Inter"/>
              </a:defRPr>
            </a:pPr>
            <a:r>
              <a:rPr i="0" sz="2200" b="1">
                <a:solidFill>
                  <a:srgbClr val="0B1F36"/>
                </a:solidFill>
                <a:latin typeface="Inter"/>
              </a:rPr>
              <a:t>Empower Network Teams</a:t>
            </a:r>
          </a:p>
        </p:txBody>
      </p:sp>
      <p:sp>
        <p:nvSpPr>
          <p:cNvPr id="12" name="TextBox 11"/>
          <p:cNvSpPr txBox="1"/>
          <p:nvPr/>
        </p:nvSpPr>
        <p:spPr>
          <a:xfrm>
            <a:off x="7569200" y="5092700"/>
            <a:ext cx="1625600" cy="1765300"/>
          </a:xfrm>
          <a:prstGeom prst="rect">
            <a:avLst/>
          </a:prstGeom>
          <a:noFill/>
        </p:spPr>
        <p:txBody>
          <a:bodyPr wrap="square" lIns="0" rIns="0" tIns="0" bIns="0">
            <a:spAutoFit/>
          </a:bodyPr>
          <a:lstStyle/>
          <a:p>
            <a:pPr algn="l">
              <a:lnSpc>
                <a:spcPct val="115000"/>
              </a:lnSpc>
              <a:defRPr i="0" sz="1600" b="0">
                <a:solidFill>
                  <a:srgbClr val="4A5A6D"/>
                </a:solidFill>
                <a:latin typeface="Calibri"/>
              </a:defRPr>
            </a:pPr>
            <a:r>
              <a:rPr i="0" sz="1600" b="0">
                <a:solidFill>
                  <a:srgbClr val="4A5A6D"/>
                </a:solidFill>
                <a:latin typeface="Calibri"/>
              </a:rPr>
              <a:t>Enable teams to define access rules with greater precision and flexibility based on L4 attributes.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508000"/>
            <a:ext cx="8585200" cy="2070100"/>
          </a:xfrm>
          <a:prstGeom prst="rect">
            <a:avLst/>
          </a:prstGeom>
          <a:noFill/>
        </p:spPr>
        <p:txBody>
          <a:bodyPr wrap="square" lIns="0" rIns="0" tIns="0" bIns="0">
            <a:spAutoFit/>
          </a:bodyPr>
          <a:lstStyle/>
          <a:p>
            <a:pPr algn="l">
              <a:lnSpc>
                <a:spcPct val="65000"/>
              </a:lnSpc>
              <a:defRPr i="0" sz="8600" b="0">
                <a:solidFill>
                  <a:srgbClr val="0B1F36"/>
                </a:solidFill>
                <a:latin typeface="Inter"/>
              </a:defRPr>
            </a:pPr>
            <a:r>
              <a:rPr i="0" sz="8600" b="0">
                <a:solidFill>
                  <a:srgbClr val="0B1F36"/>
                </a:solidFill>
                <a:latin typeface="Inter"/>
              </a:rPr>
              <a:t>Dynamic Policy Enforcement</a:t>
            </a:r>
          </a:p>
        </p:txBody>
      </p:sp>
      <p:pic>
        <p:nvPicPr>
          <p:cNvPr id="3" name="Picture 2" descr="928fe655-b851-401f-9987-14c240323100.png"/>
          <p:cNvPicPr>
            <a:picLocks noChangeAspect="1"/>
          </p:cNvPicPr>
          <p:nvPr/>
        </p:nvPicPr>
        <p:blipFill>
          <a:blip r:embed="rId3"/>
          <a:stretch>
            <a:fillRect/>
          </a:stretch>
        </p:blipFill>
        <p:spPr>
          <a:xfrm>
            <a:off x="9677400" y="2984500"/>
            <a:ext cx="5969000" cy="6096000"/>
          </a:xfrm>
          <a:prstGeom prst="rect">
            <a:avLst/>
          </a:prstGeom>
        </p:spPr>
      </p:pic>
      <p:sp>
        <p:nvSpPr>
          <p:cNvPr id="4" name="Rounded Rectangle 3"/>
          <p:cNvSpPr/>
          <p:nvPr/>
        </p:nvSpPr>
        <p:spPr>
          <a:xfrm>
            <a:off x="609600" y="2984500"/>
            <a:ext cx="711200" cy="711200"/>
          </a:xfrm>
          <a:prstGeom prst="roundRect">
            <a:avLst>
              <a:gd name="adj" fmla="val 50000"/>
            </a:avLst>
          </a:prstGeom>
          <a:solidFill>
            <a:srgbClr val="0A2A5D"/>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4"/>
          <p:cNvSpPr txBox="1"/>
          <p:nvPr/>
        </p:nvSpPr>
        <p:spPr>
          <a:xfrm>
            <a:off x="1524000" y="2984500"/>
            <a:ext cx="1625600" cy="965200"/>
          </a:xfrm>
          <a:prstGeom prst="rect">
            <a:avLst/>
          </a:prstGeom>
          <a:noFill/>
        </p:spPr>
        <p:txBody>
          <a:bodyPr wrap="square" lIns="0" rIns="0" tIns="0" bIns="0">
            <a:spAutoFit/>
          </a:bodyPr>
          <a:lstStyle/>
          <a:p>
            <a:pPr algn="l">
              <a:lnSpc>
                <a:spcPct val="85000"/>
              </a:lnSpc>
              <a:defRPr i="0" sz="2200" b="1">
                <a:solidFill>
                  <a:srgbClr val="0B1F36"/>
                </a:solidFill>
                <a:latin typeface="Inter"/>
              </a:defRPr>
            </a:pPr>
            <a:r>
              <a:rPr i="0" sz="2200" b="1">
                <a:solidFill>
                  <a:srgbClr val="0B1F36"/>
                </a:solidFill>
                <a:latin typeface="Inter"/>
              </a:rPr>
              <a:t>Automated, Adaptive Policies</a:t>
            </a:r>
          </a:p>
        </p:txBody>
      </p:sp>
      <p:sp>
        <p:nvSpPr>
          <p:cNvPr id="6" name="TextBox 5"/>
          <p:cNvSpPr txBox="1"/>
          <p:nvPr/>
        </p:nvSpPr>
        <p:spPr>
          <a:xfrm>
            <a:off x="1524000" y="4051300"/>
            <a:ext cx="1625600" cy="2057400"/>
          </a:xfrm>
          <a:prstGeom prst="rect">
            <a:avLst/>
          </a:prstGeom>
          <a:noFill/>
        </p:spPr>
        <p:txBody>
          <a:bodyPr wrap="square" lIns="0" rIns="0" tIns="0" bIns="0">
            <a:spAutoFit/>
          </a:bodyPr>
          <a:lstStyle/>
          <a:p>
            <a:pPr algn="l">
              <a:lnSpc>
                <a:spcPct val="115000"/>
              </a:lnSpc>
              <a:defRPr i="0" sz="1600" b="0">
                <a:solidFill>
                  <a:srgbClr val="4A5A6D"/>
                </a:solidFill>
                <a:latin typeface="Calibri"/>
              </a:defRPr>
            </a:pPr>
            <a:r>
              <a:rPr i="0" sz="1600" b="0">
                <a:solidFill>
                  <a:srgbClr val="4A5A6D"/>
                </a:solidFill>
                <a:latin typeface="Calibri"/>
              </a:rPr>
              <a:t>Smart Switch Hypershield adjusts policies automatically to match network needs and potential threats.</a:t>
            </a:r>
          </a:p>
        </p:txBody>
      </p:sp>
      <p:sp>
        <p:nvSpPr>
          <p:cNvPr id="7" name="Rounded Rectangle 6"/>
          <p:cNvSpPr/>
          <p:nvPr/>
        </p:nvSpPr>
        <p:spPr>
          <a:xfrm>
            <a:off x="3632200" y="2984500"/>
            <a:ext cx="711200" cy="711200"/>
          </a:xfrm>
          <a:prstGeom prst="roundRect">
            <a:avLst>
              <a:gd name="adj" fmla="val 50000"/>
            </a:avLst>
          </a:prstGeom>
          <a:solidFill>
            <a:srgbClr val="0A2A5D"/>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4546600" y="2984500"/>
            <a:ext cx="1625600" cy="965200"/>
          </a:xfrm>
          <a:prstGeom prst="rect">
            <a:avLst/>
          </a:prstGeom>
          <a:noFill/>
        </p:spPr>
        <p:txBody>
          <a:bodyPr wrap="square" lIns="0" rIns="0" tIns="0" bIns="0">
            <a:spAutoFit/>
          </a:bodyPr>
          <a:lstStyle/>
          <a:p>
            <a:pPr algn="l">
              <a:lnSpc>
                <a:spcPct val="85000"/>
              </a:lnSpc>
              <a:defRPr i="0" sz="2200" b="1">
                <a:solidFill>
                  <a:srgbClr val="0B1F36"/>
                </a:solidFill>
                <a:latin typeface="Inter"/>
              </a:defRPr>
            </a:pPr>
            <a:r>
              <a:rPr i="0" sz="2200" b="1">
                <a:solidFill>
                  <a:srgbClr val="0B1F36"/>
                </a:solidFill>
                <a:latin typeface="Inter"/>
              </a:rPr>
              <a:t>Immediate Policy Updates</a:t>
            </a:r>
          </a:p>
        </p:txBody>
      </p:sp>
      <p:sp>
        <p:nvSpPr>
          <p:cNvPr id="9" name="TextBox 8"/>
          <p:cNvSpPr txBox="1"/>
          <p:nvPr/>
        </p:nvSpPr>
        <p:spPr>
          <a:xfrm>
            <a:off x="4546600" y="4051300"/>
            <a:ext cx="1625600" cy="2057400"/>
          </a:xfrm>
          <a:prstGeom prst="rect">
            <a:avLst/>
          </a:prstGeom>
          <a:noFill/>
        </p:spPr>
        <p:txBody>
          <a:bodyPr wrap="square" lIns="0" rIns="0" tIns="0" bIns="0">
            <a:spAutoFit/>
          </a:bodyPr>
          <a:lstStyle/>
          <a:p>
            <a:pPr algn="l">
              <a:lnSpc>
                <a:spcPct val="115000"/>
              </a:lnSpc>
              <a:defRPr i="0" sz="1600" b="0">
                <a:solidFill>
                  <a:srgbClr val="4A5A6D"/>
                </a:solidFill>
                <a:latin typeface="Calibri"/>
              </a:defRPr>
            </a:pPr>
            <a:r>
              <a:rPr i="0" sz="1600" b="0">
                <a:solidFill>
                  <a:srgbClr val="4A5A6D"/>
                </a:solidFill>
                <a:latin typeface="Calibri"/>
              </a:rPr>
              <a:t>Continuous monitoring allows prompt changes based on user roles, threat intelligence, or anomalies.</a:t>
            </a:r>
          </a:p>
        </p:txBody>
      </p:sp>
      <p:sp>
        <p:nvSpPr>
          <p:cNvPr id="10" name="Rounded Rectangle 9"/>
          <p:cNvSpPr/>
          <p:nvPr/>
        </p:nvSpPr>
        <p:spPr>
          <a:xfrm>
            <a:off x="6654800" y="2984500"/>
            <a:ext cx="711200" cy="711200"/>
          </a:xfrm>
          <a:prstGeom prst="roundRect">
            <a:avLst>
              <a:gd name="adj" fmla="val 50000"/>
            </a:avLst>
          </a:prstGeom>
          <a:solidFill>
            <a:srgbClr val="0A2A5D"/>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TextBox 10"/>
          <p:cNvSpPr txBox="1"/>
          <p:nvPr/>
        </p:nvSpPr>
        <p:spPr>
          <a:xfrm>
            <a:off x="7569200" y="2984500"/>
            <a:ext cx="1625600" cy="965200"/>
          </a:xfrm>
          <a:prstGeom prst="rect">
            <a:avLst/>
          </a:prstGeom>
          <a:noFill/>
        </p:spPr>
        <p:txBody>
          <a:bodyPr wrap="square" lIns="0" rIns="0" tIns="0" bIns="0">
            <a:spAutoFit/>
          </a:bodyPr>
          <a:lstStyle/>
          <a:p>
            <a:pPr algn="l">
              <a:lnSpc>
                <a:spcPct val="85000"/>
              </a:lnSpc>
              <a:defRPr i="0" sz="2200" b="1">
                <a:solidFill>
                  <a:srgbClr val="0B1F36"/>
                </a:solidFill>
                <a:latin typeface="Inter"/>
              </a:defRPr>
            </a:pPr>
            <a:r>
              <a:rPr i="0" sz="2200" b="1">
                <a:solidFill>
                  <a:srgbClr val="0B1F36"/>
                </a:solidFill>
                <a:latin typeface="Inter"/>
              </a:rPr>
              <a:t>Application Discovery Response</a:t>
            </a:r>
          </a:p>
        </p:txBody>
      </p:sp>
      <p:sp>
        <p:nvSpPr>
          <p:cNvPr id="12" name="TextBox 11"/>
          <p:cNvSpPr txBox="1"/>
          <p:nvPr/>
        </p:nvSpPr>
        <p:spPr>
          <a:xfrm>
            <a:off x="7569200" y="4051300"/>
            <a:ext cx="1625600" cy="1473200"/>
          </a:xfrm>
          <a:prstGeom prst="rect">
            <a:avLst/>
          </a:prstGeom>
          <a:noFill/>
        </p:spPr>
        <p:txBody>
          <a:bodyPr wrap="square" lIns="0" rIns="0" tIns="0" bIns="0">
            <a:spAutoFit/>
          </a:bodyPr>
          <a:lstStyle/>
          <a:p>
            <a:pPr algn="l">
              <a:lnSpc>
                <a:spcPct val="115000"/>
              </a:lnSpc>
              <a:defRPr i="0" sz="1600" b="0">
                <a:solidFill>
                  <a:srgbClr val="4A5A6D"/>
                </a:solidFill>
                <a:latin typeface="Calibri"/>
              </a:defRPr>
            </a:pPr>
            <a:r>
              <a:rPr i="0" sz="1600" b="0">
                <a:solidFill>
                  <a:srgbClr val="4A5A6D"/>
                </a:solidFill>
                <a:latin typeface="Calibri"/>
              </a:rPr>
              <a:t>When a new app is identified, system instantly applies tailored access rules.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508000"/>
            <a:ext cx="14452600" cy="812800"/>
          </a:xfrm>
          <a:prstGeom prst="rect">
            <a:avLst/>
          </a:prstGeom>
          <a:noFill/>
        </p:spPr>
        <p:txBody>
          <a:bodyPr wrap="square" lIns="0" rIns="0" tIns="0" bIns="0">
            <a:spAutoFit/>
          </a:bodyPr>
          <a:lstStyle/>
          <a:p>
            <a:pPr algn="l">
              <a:lnSpc>
                <a:spcPct val="84000"/>
              </a:lnSpc>
              <a:defRPr i="0" sz="5600" b="1">
                <a:solidFill>
                  <a:srgbClr val="0A2A73"/>
                </a:solidFill>
                <a:latin typeface="Open Sans"/>
              </a:defRPr>
            </a:pPr>
            <a:r>
              <a:rPr i="0" sz="5600" b="1">
                <a:solidFill>
                  <a:srgbClr val="0A2A73"/>
                </a:solidFill>
                <a:latin typeface="Open Sans"/>
              </a:rPr>
              <a:t>Seamless Integration and Deployment</a:t>
            </a:r>
          </a:p>
        </p:txBody>
      </p:sp>
      <p:pic>
        <p:nvPicPr>
          <p:cNvPr id="3" name="Picture 2" descr="a6ec71dc-d09e-44c0-9a23-680f7c701418.png"/>
          <p:cNvPicPr>
            <a:picLocks noChangeAspect="1"/>
          </p:cNvPicPr>
          <p:nvPr/>
        </p:nvPicPr>
        <p:blipFill>
          <a:blip r:embed="rId3"/>
          <a:stretch>
            <a:fillRect/>
          </a:stretch>
        </p:blipFill>
        <p:spPr>
          <a:xfrm>
            <a:off x="914400" y="1625600"/>
            <a:ext cx="6604000" cy="6604000"/>
          </a:xfrm>
          <a:prstGeom prst="rect">
            <a:avLst/>
          </a:prstGeom>
        </p:spPr>
      </p:pic>
      <p:sp>
        <p:nvSpPr>
          <p:cNvPr id="4" name="TextBox 3"/>
          <p:cNvSpPr txBox="1"/>
          <p:nvPr/>
        </p:nvSpPr>
        <p:spPr>
          <a:xfrm>
            <a:off x="8432800" y="1625600"/>
            <a:ext cx="6934200" cy="711200"/>
          </a:xfrm>
          <a:prstGeom prst="rect">
            <a:avLst/>
          </a:prstGeom>
          <a:noFill/>
        </p:spPr>
        <p:txBody>
          <a:bodyPr wrap="square" lIns="0" rIns="0" tIns="0" bIns="0">
            <a:spAutoFit/>
          </a:bodyPr>
          <a:lstStyle/>
          <a:p>
            <a:pPr algn="l">
              <a:defRPr i="0" sz="1600" b="0">
                <a:solidFill>
                  <a:srgbClr val="334155"/>
                </a:solidFill>
                <a:latin typeface="Open Sans"/>
              </a:defRPr>
            </a:pPr>
            <a:r>
              <a:rPr i="0" sz="1600" b="0">
                <a:solidFill>
                  <a:srgbClr val="334155"/>
                </a:solidFill>
                <a:latin typeface="Open Sans"/>
              </a:rPr>
              <a:t>Effortlessly integrates with diverse network environments, enabling flexible deployment and broad compatibility.</a:t>
            </a:r>
          </a:p>
        </p:txBody>
      </p:sp>
      <p:sp>
        <p:nvSpPr>
          <p:cNvPr id="5" name="Rounded Rectangle 4"/>
          <p:cNvSpPr/>
          <p:nvPr/>
        </p:nvSpPr>
        <p:spPr>
          <a:xfrm>
            <a:off x="8432800" y="26924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9499600" y="26924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Network Compatibility</a:t>
            </a:r>
          </a:p>
        </p:txBody>
      </p:sp>
      <p:sp>
        <p:nvSpPr>
          <p:cNvPr id="7" name="Rounded Rectangle 6"/>
          <p:cNvSpPr/>
          <p:nvPr/>
        </p:nvSpPr>
        <p:spPr>
          <a:xfrm>
            <a:off x="9499600" y="30988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9499600" y="32385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Supports Ethernet, PoE, and integrates with existing infrastructures for minimal disruption.</a:t>
            </a:r>
          </a:p>
        </p:txBody>
      </p:sp>
      <p:sp>
        <p:nvSpPr>
          <p:cNvPr id="9" name="Rounded Rectangle 8"/>
          <p:cNvSpPr/>
          <p:nvPr/>
        </p:nvSpPr>
        <p:spPr>
          <a:xfrm>
            <a:off x="8432800" y="44577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499600" y="44577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Flexible Deployments</a:t>
            </a:r>
          </a:p>
        </p:txBody>
      </p:sp>
      <p:sp>
        <p:nvSpPr>
          <p:cNvPr id="11" name="Rounded Rectangle 10"/>
          <p:cNvSpPr/>
          <p:nvPr/>
        </p:nvSpPr>
        <p:spPr>
          <a:xfrm>
            <a:off x="9499600" y="48641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9499600" y="50038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Deploy across core, distribution, and edge switches at on-premises, branch, or remote sites.</a:t>
            </a:r>
          </a:p>
        </p:txBody>
      </p:sp>
      <p:sp>
        <p:nvSpPr>
          <p:cNvPr id="13" name="Rounded Rectangle 12"/>
          <p:cNvSpPr/>
          <p:nvPr/>
        </p:nvSpPr>
        <p:spPr>
          <a:xfrm>
            <a:off x="8432800" y="62230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9499600" y="62230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Management Integration</a:t>
            </a:r>
          </a:p>
        </p:txBody>
      </p:sp>
      <p:sp>
        <p:nvSpPr>
          <p:cNvPr id="15" name="Rounded Rectangle 14"/>
          <p:cNvSpPr/>
          <p:nvPr/>
        </p:nvSpPr>
        <p:spPr>
          <a:xfrm>
            <a:off x="9499600" y="66294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9499600" y="67691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Compatible with major infrastructure solutions for unified network control.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508000"/>
            <a:ext cx="8585200" cy="4152900"/>
          </a:xfrm>
          <a:prstGeom prst="rect">
            <a:avLst/>
          </a:prstGeom>
          <a:noFill/>
        </p:spPr>
        <p:txBody>
          <a:bodyPr wrap="square" lIns="0" rIns="0" tIns="0" bIns="0">
            <a:spAutoFit/>
          </a:bodyPr>
          <a:lstStyle/>
          <a:p>
            <a:pPr algn="l">
              <a:lnSpc>
                <a:spcPct val="65000"/>
              </a:lnSpc>
              <a:defRPr i="0" sz="8600" b="0">
                <a:solidFill>
                  <a:srgbClr val="0B1F36"/>
                </a:solidFill>
                <a:latin typeface="Inter"/>
              </a:defRPr>
            </a:pPr>
            <a:r>
              <a:rPr i="0" sz="8600" b="0">
                <a:solidFill>
                  <a:srgbClr val="0B1F36"/>
                </a:solidFill>
                <a:latin typeface="Inter"/>
              </a:rPr>
              <a:t>Enhanced Security Posture with Segmentation</a:t>
            </a:r>
          </a:p>
        </p:txBody>
      </p:sp>
      <p:pic>
        <p:nvPicPr>
          <p:cNvPr id="3" name="Picture 2" descr="d9023dbb-0c52-4800-a51e-3f9741899712.png"/>
          <p:cNvPicPr>
            <a:picLocks noChangeAspect="1"/>
          </p:cNvPicPr>
          <p:nvPr/>
        </p:nvPicPr>
        <p:blipFill>
          <a:blip r:embed="rId3"/>
          <a:stretch>
            <a:fillRect/>
          </a:stretch>
        </p:blipFill>
        <p:spPr>
          <a:xfrm>
            <a:off x="9677400" y="5067300"/>
            <a:ext cx="5969000" cy="6096000"/>
          </a:xfrm>
          <a:prstGeom prst="rect">
            <a:avLst/>
          </a:prstGeom>
        </p:spPr>
      </p:pic>
      <p:sp>
        <p:nvSpPr>
          <p:cNvPr id="4" name="Rounded Rectangle 3"/>
          <p:cNvSpPr/>
          <p:nvPr/>
        </p:nvSpPr>
        <p:spPr>
          <a:xfrm>
            <a:off x="609600" y="5067300"/>
            <a:ext cx="711200" cy="711200"/>
          </a:xfrm>
          <a:prstGeom prst="roundRect">
            <a:avLst>
              <a:gd name="adj" fmla="val 50000"/>
            </a:avLst>
          </a:prstGeom>
          <a:solidFill>
            <a:srgbClr val="0A2A5D"/>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4"/>
          <p:cNvSpPr txBox="1"/>
          <p:nvPr/>
        </p:nvSpPr>
        <p:spPr>
          <a:xfrm>
            <a:off x="1524000" y="5067300"/>
            <a:ext cx="1625600" cy="965200"/>
          </a:xfrm>
          <a:prstGeom prst="rect">
            <a:avLst/>
          </a:prstGeom>
          <a:noFill/>
        </p:spPr>
        <p:txBody>
          <a:bodyPr wrap="square" lIns="0" rIns="0" tIns="0" bIns="0">
            <a:spAutoFit/>
          </a:bodyPr>
          <a:lstStyle/>
          <a:p>
            <a:pPr algn="l">
              <a:lnSpc>
                <a:spcPct val="85000"/>
              </a:lnSpc>
              <a:defRPr i="0" sz="2200" b="1">
                <a:solidFill>
                  <a:srgbClr val="0B1F36"/>
                </a:solidFill>
                <a:latin typeface="Inter"/>
              </a:defRPr>
            </a:pPr>
            <a:r>
              <a:rPr i="0" sz="2200" b="1">
                <a:solidFill>
                  <a:srgbClr val="0B1F36"/>
                </a:solidFill>
                <a:latin typeface="Inter"/>
              </a:rPr>
              <a:t>Reduced Attack Surface</a:t>
            </a:r>
          </a:p>
        </p:txBody>
      </p:sp>
      <p:sp>
        <p:nvSpPr>
          <p:cNvPr id="6" name="TextBox 5"/>
          <p:cNvSpPr txBox="1"/>
          <p:nvPr/>
        </p:nvSpPr>
        <p:spPr>
          <a:xfrm>
            <a:off x="1524000" y="6134100"/>
            <a:ext cx="1625600" cy="1765300"/>
          </a:xfrm>
          <a:prstGeom prst="rect">
            <a:avLst/>
          </a:prstGeom>
          <a:noFill/>
        </p:spPr>
        <p:txBody>
          <a:bodyPr wrap="square" lIns="0" rIns="0" tIns="0" bIns="0">
            <a:spAutoFit/>
          </a:bodyPr>
          <a:lstStyle/>
          <a:p>
            <a:pPr algn="l">
              <a:lnSpc>
                <a:spcPct val="115000"/>
              </a:lnSpc>
              <a:defRPr i="0" sz="1600" b="0">
                <a:solidFill>
                  <a:srgbClr val="4A5A6D"/>
                </a:solidFill>
                <a:latin typeface="Calibri"/>
              </a:defRPr>
            </a:pPr>
            <a:r>
              <a:rPr i="0" sz="1600" b="0">
                <a:solidFill>
                  <a:srgbClr val="4A5A6D"/>
                </a:solidFill>
                <a:latin typeface="Calibri"/>
              </a:rPr>
              <a:t>Network segments are isolated, limiting opportunities for attackers to move laterally.</a:t>
            </a:r>
          </a:p>
        </p:txBody>
      </p:sp>
      <p:sp>
        <p:nvSpPr>
          <p:cNvPr id="7" name="Rounded Rectangle 6"/>
          <p:cNvSpPr/>
          <p:nvPr/>
        </p:nvSpPr>
        <p:spPr>
          <a:xfrm>
            <a:off x="3632200" y="5067300"/>
            <a:ext cx="711200" cy="711200"/>
          </a:xfrm>
          <a:prstGeom prst="roundRect">
            <a:avLst>
              <a:gd name="adj" fmla="val 50000"/>
            </a:avLst>
          </a:prstGeom>
          <a:solidFill>
            <a:srgbClr val="0A2A5D"/>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4546600" y="5067300"/>
            <a:ext cx="1625600" cy="965200"/>
          </a:xfrm>
          <a:prstGeom prst="rect">
            <a:avLst/>
          </a:prstGeom>
          <a:noFill/>
        </p:spPr>
        <p:txBody>
          <a:bodyPr wrap="square" lIns="0" rIns="0" tIns="0" bIns="0">
            <a:spAutoFit/>
          </a:bodyPr>
          <a:lstStyle/>
          <a:p>
            <a:pPr algn="l">
              <a:lnSpc>
                <a:spcPct val="85000"/>
              </a:lnSpc>
              <a:defRPr i="0" sz="2200" b="1">
                <a:solidFill>
                  <a:srgbClr val="0B1F36"/>
                </a:solidFill>
                <a:latin typeface="Inter"/>
              </a:defRPr>
            </a:pPr>
            <a:r>
              <a:rPr i="0" sz="2200" b="1">
                <a:solidFill>
                  <a:srgbClr val="0B1F36"/>
                </a:solidFill>
                <a:latin typeface="Inter"/>
              </a:rPr>
              <a:t>Sensitive Data Protection</a:t>
            </a:r>
          </a:p>
        </p:txBody>
      </p:sp>
      <p:sp>
        <p:nvSpPr>
          <p:cNvPr id="9" name="TextBox 8"/>
          <p:cNvSpPr txBox="1"/>
          <p:nvPr/>
        </p:nvSpPr>
        <p:spPr>
          <a:xfrm>
            <a:off x="4546600" y="6134100"/>
            <a:ext cx="1625600" cy="1765300"/>
          </a:xfrm>
          <a:prstGeom prst="rect">
            <a:avLst/>
          </a:prstGeom>
          <a:noFill/>
        </p:spPr>
        <p:txBody>
          <a:bodyPr wrap="square" lIns="0" rIns="0" tIns="0" bIns="0">
            <a:spAutoFit/>
          </a:bodyPr>
          <a:lstStyle/>
          <a:p>
            <a:pPr algn="l">
              <a:lnSpc>
                <a:spcPct val="115000"/>
              </a:lnSpc>
              <a:defRPr i="0" sz="1600" b="0">
                <a:solidFill>
                  <a:srgbClr val="4A5A6D"/>
                </a:solidFill>
                <a:latin typeface="Calibri"/>
              </a:defRPr>
            </a:pPr>
            <a:r>
              <a:rPr i="0" sz="1600" b="0">
                <a:solidFill>
                  <a:srgbClr val="4A5A6D"/>
                </a:solidFill>
                <a:latin typeface="Calibri"/>
              </a:rPr>
              <a:t>HR, Finance, and R&amp;D data are separated at the switch level for improved confidentiality.</a:t>
            </a:r>
          </a:p>
        </p:txBody>
      </p:sp>
      <p:sp>
        <p:nvSpPr>
          <p:cNvPr id="10" name="Rounded Rectangle 9"/>
          <p:cNvSpPr/>
          <p:nvPr/>
        </p:nvSpPr>
        <p:spPr>
          <a:xfrm>
            <a:off x="6654800" y="5067300"/>
            <a:ext cx="711200" cy="711200"/>
          </a:xfrm>
          <a:prstGeom prst="roundRect">
            <a:avLst>
              <a:gd name="adj" fmla="val 50000"/>
            </a:avLst>
          </a:prstGeom>
          <a:solidFill>
            <a:srgbClr val="0A2A5D"/>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TextBox 10"/>
          <p:cNvSpPr txBox="1"/>
          <p:nvPr/>
        </p:nvSpPr>
        <p:spPr>
          <a:xfrm>
            <a:off x="7569200" y="5067300"/>
            <a:ext cx="1625600" cy="965200"/>
          </a:xfrm>
          <a:prstGeom prst="rect">
            <a:avLst/>
          </a:prstGeom>
          <a:noFill/>
        </p:spPr>
        <p:txBody>
          <a:bodyPr wrap="square" lIns="0" rIns="0" tIns="0" bIns="0">
            <a:spAutoFit/>
          </a:bodyPr>
          <a:lstStyle/>
          <a:p>
            <a:pPr algn="l">
              <a:lnSpc>
                <a:spcPct val="85000"/>
              </a:lnSpc>
              <a:defRPr i="0" sz="2200" b="1">
                <a:solidFill>
                  <a:srgbClr val="0B1F36"/>
                </a:solidFill>
                <a:latin typeface="Inter"/>
              </a:defRPr>
            </a:pPr>
            <a:r>
              <a:rPr i="0" sz="2200" b="1">
                <a:solidFill>
                  <a:srgbClr val="0B1F36"/>
                </a:solidFill>
                <a:latin typeface="Inter"/>
              </a:rPr>
              <a:t>Key Breach Insight, 2025</a:t>
            </a:r>
          </a:p>
        </p:txBody>
      </p:sp>
      <p:sp>
        <p:nvSpPr>
          <p:cNvPr id="12" name="TextBox 11"/>
          <p:cNvSpPr txBox="1"/>
          <p:nvPr/>
        </p:nvSpPr>
        <p:spPr>
          <a:xfrm>
            <a:off x="7569200" y="6134100"/>
            <a:ext cx="1625600" cy="1765300"/>
          </a:xfrm>
          <a:prstGeom prst="rect">
            <a:avLst/>
          </a:prstGeom>
          <a:noFill/>
        </p:spPr>
        <p:txBody>
          <a:bodyPr wrap="square" lIns="0" rIns="0" tIns="0" bIns="0">
            <a:spAutoFit/>
          </a:bodyPr>
          <a:lstStyle/>
          <a:p>
            <a:pPr algn="l">
              <a:lnSpc>
                <a:spcPct val="115000"/>
              </a:lnSpc>
              <a:defRPr i="0" sz="1600" b="0">
                <a:solidFill>
                  <a:srgbClr val="4A5A6D"/>
                </a:solidFill>
                <a:latin typeface="Calibri"/>
              </a:defRPr>
            </a:pPr>
            <a:r>
              <a:rPr i="0" sz="1600" b="0">
                <a:solidFill>
                  <a:srgbClr val="4A5A6D"/>
                </a:solidFill>
                <a:latin typeface="Calibri"/>
              </a:rPr>
              <a:t>72% of breaches involved poor segmentation, highlighting its security importance.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508000"/>
            <a:ext cx="14452600" cy="812800"/>
          </a:xfrm>
          <a:prstGeom prst="rect">
            <a:avLst/>
          </a:prstGeom>
          <a:noFill/>
        </p:spPr>
        <p:txBody>
          <a:bodyPr wrap="square" lIns="0" rIns="0" tIns="0" bIns="0">
            <a:spAutoFit/>
          </a:bodyPr>
          <a:lstStyle/>
          <a:p>
            <a:pPr algn="l">
              <a:lnSpc>
                <a:spcPct val="84000"/>
              </a:lnSpc>
              <a:defRPr i="0" sz="5600" b="1">
                <a:solidFill>
                  <a:srgbClr val="0A2A73"/>
                </a:solidFill>
                <a:latin typeface="Open Sans"/>
              </a:defRPr>
            </a:pPr>
            <a:r>
              <a:rPr i="0" sz="5600" b="1">
                <a:solidFill>
                  <a:srgbClr val="0A2A73"/>
                </a:solidFill>
                <a:latin typeface="Open Sans"/>
              </a:rPr>
              <a:t>Enhanced Access Control Strategies</a:t>
            </a:r>
          </a:p>
        </p:txBody>
      </p:sp>
      <p:pic>
        <p:nvPicPr>
          <p:cNvPr id="3" name="Picture 2" descr="d1ff684c-07a0-431f-af6c-5d1ce7a00564.png"/>
          <p:cNvPicPr>
            <a:picLocks noChangeAspect="1"/>
          </p:cNvPicPr>
          <p:nvPr/>
        </p:nvPicPr>
        <p:blipFill>
          <a:blip r:embed="rId3"/>
          <a:stretch>
            <a:fillRect/>
          </a:stretch>
        </p:blipFill>
        <p:spPr>
          <a:xfrm>
            <a:off x="914400" y="1625600"/>
            <a:ext cx="6604000" cy="6604000"/>
          </a:xfrm>
          <a:prstGeom prst="rect">
            <a:avLst/>
          </a:prstGeom>
        </p:spPr>
      </p:pic>
      <p:sp>
        <p:nvSpPr>
          <p:cNvPr id="4" name="TextBox 3"/>
          <p:cNvSpPr txBox="1"/>
          <p:nvPr/>
        </p:nvSpPr>
        <p:spPr>
          <a:xfrm>
            <a:off x="8432800" y="1625600"/>
            <a:ext cx="6934200" cy="711200"/>
          </a:xfrm>
          <a:prstGeom prst="rect">
            <a:avLst/>
          </a:prstGeom>
          <a:noFill/>
        </p:spPr>
        <p:txBody>
          <a:bodyPr wrap="square" lIns="0" rIns="0" tIns="0" bIns="0">
            <a:spAutoFit/>
          </a:bodyPr>
          <a:lstStyle/>
          <a:p>
            <a:pPr algn="l">
              <a:defRPr i="0" sz="1600" b="0">
                <a:solidFill>
                  <a:srgbClr val="334155"/>
                </a:solidFill>
                <a:latin typeface="Open Sans"/>
              </a:defRPr>
            </a:pPr>
            <a:r>
              <a:rPr i="0" sz="1600" b="0">
                <a:solidFill>
                  <a:srgbClr val="334155"/>
                </a:solidFill>
                <a:latin typeface="Open Sans"/>
              </a:rPr>
              <a:t>Implementing least-privilege access ensures only necessary permissions while adapting to evolving organization needs.</a:t>
            </a:r>
          </a:p>
        </p:txBody>
      </p:sp>
      <p:sp>
        <p:nvSpPr>
          <p:cNvPr id="5" name="Rounded Rectangle 4"/>
          <p:cNvSpPr/>
          <p:nvPr/>
        </p:nvSpPr>
        <p:spPr>
          <a:xfrm>
            <a:off x="8432800" y="26924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9499600" y="26924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Granular Least-Privilege</a:t>
            </a:r>
          </a:p>
        </p:txBody>
      </p:sp>
      <p:sp>
        <p:nvSpPr>
          <p:cNvPr id="7" name="Rounded Rectangle 6"/>
          <p:cNvSpPr/>
          <p:nvPr/>
        </p:nvSpPr>
        <p:spPr>
          <a:xfrm>
            <a:off x="9499600" y="30988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9499600" y="32385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Limits permissions at segment, port, and application levels to minimize exposure.</a:t>
            </a:r>
          </a:p>
        </p:txBody>
      </p:sp>
      <p:sp>
        <p:nvSpPr>
          <p:cNvPr id="9" name="Rounded Rectangle 8"/>
          <p:cNvSpPr/>
          <p:nvPr/>
        </p:nvSpPr>
        <p:spPr>
          <a:xfrm>
            <a:off x="8432800" y="44577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499600" y="44577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Adaptive User Mapping</a:t>
            </a:r>
          </a:p>
        </p:txBody>
      </p:sp>
      <p:sp>
        <p:nvSpPr>
          <p:cNvPr id="11" name="Rounded Rectangle 10"/>
          <p:cNvSpPr/>
          <p:nvPr/>
        </p:nvSpPr>
        <p:spPr>
          <a:xfrm>
            <a:off x="9499600" y="48641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9499600" y="50038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Aligns access rights with dynamic changes in organization structure and roles.</a:t>
            </a:r>
          </a:p>
        </p:txBody>
      </p:sp>
      <p:sp>
        <p:nvSpPr>
          <p:cNvPr id="13" name="Rounded Rectangle 12"/>
          <p:cNvSpPr/>
          <p:nvPr/>
        </p:nvSpPr>
        <p:spPr>
          <a:xfrm>
            <a:off x="8432800" y="62230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9499600" y="62230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Reduces Risk</a:t>
            </a:r>
          </a:p>
        </p:txBody>
      </p:sp>
      <p:sp>
        <p:nvSpPr>
          <p:cNvPr id="15" name="Rounded Rectangle 14"/>
          <p:cNvSpPr/>
          <p:nvPr/>
        </p:nvSpPr>
        <p:spPr>
          <a:xfrm>
            <a:off x="9499600" y="66294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9499600" y="67691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Lowers chance of breaches; misconfigurations account for up to 35% of incidents (Gartner).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17600" y="711200"/>
            <a:ext cx="14046200" cy="787400"/>
          </a:xfrm>
          <a:prstGeom prst="rect">
            <a:avLst/>
          </a:prstGeom>
          <a:noFill/>
        </p:spPr>
        <p:txBody>
          <a:bodyPr wrap="square" lIns="0" rIns="0" tIns="0" bIns="0">
            <a:spAutoFit/>
          </a:bodyPr>
          <a:lstStyle/>
          <a:p>
            <a:pPr algn="l">
              <a:lnSpc>
                <a:spcPct val="80000"/>
              </a:lnSpc>
              <a:defRPr i="0" sz="5600" b="1">
                <a:solidFill>
                  <a:srgbClr val="0A2A66"/>
                </a:solidFill>
                <a:latin typeface="Open Sans"/>
              </a:defRPr>
            </a:pPr>
            <a:r>
              <a:rPr i="0" sz="5600" b="1">
                <a:solidFill>
                  <a:srgbClr val="0A2A66"/>
                </a:solidFill>
                <a:latin typeface="Open Sans"/>
              </a:rPr>
              <a:t>Real-World Segmentation Use Cases</a:t>
            </a:r>
          </a:p>
        </p:txBody>
      </p:sp>
      <p:sp>
        <p:nvSpPr>
          <p:cNvPr id="3" name="TextBox 2"/>
          <p:cNvSpPr txBox="1"/>
          <p:nvPr/>
        </p:nvSpPr>
        <p:spPr>
          <a:xfrm>
            <a:off x="1117600" y="1803400"/>
            <a:ext cx="342900" cy="558800"/>
          </a:xfrm>
          <a:prstGeom prst="rect">
            <a:avLst/>
          </a:prstGeom>
          <a:noFill/>
        </p:spPr>
        <p:txBody>
          <a:bodyPr wrap="square" lIns="0" rIns="0" tIns="0" bIns="0">
            <a:spAutoFit/>
          </a:bodyPr>
          <a:lstStyle/>
          <a:p>
            <a:pPr algn="l">
              <a:lnSpc>
                <a:spcPct val="70000"/>
              </a:lnSpc>
              <a:defRPr i="0" sz="4400" b="1">
                <a:solidFill>
                  <a:srgbClr val="0A2A66"/>
                </a:solidFill>
                <a:latin typeface="Open Sans"/>
              </a:defRPr>
            </a:pPr>
            <a:r>
              <a:rPr i="0" sz="4400" b="1">
                <a:solidFill>
                  <a:srgbClr val="0A2A66"/>
                </a:solidFill>
                <a:latin typeface="Open Sans"/>
              </a:rPr>
              <a:t>1</a:t>
            </a:r>
          </a:p>
        </p:txBody>
      </p:sp>
      <p:sp>
        <p:nvSpPr>
          <p:cNvPr id="4" name="TextBox 3"/>
          <p:cNvSpPr txBox="1"/>
          <p:nvPr/>
        </p:nvSpPr>
        <p:spPr>
          <a:xfrm>
            <a:off x="1892300" y="1803400"/>
            <a:ext cx="5448300" cy="381000"/>
          </a:xfrm>
          <a:prstGeom prst="rect">
            <a:avLst/>
          </a:prstGeom>
          <a:noFill/>
        </p:spPr>
        <p:txBody>
          <a:bodyPr wrap="square" lIns="0" rIns="0" tIns="0" bIns="0">
            <a:spAutoFit/>
          </a:bodyPr>
          <a:lstStyle/>
          <a:p>
            <a:pPr algn="l">
              <a:lnSpc>
                <a:spcPct val="95000"/>
              </a:lnSpc>
              <a:defRPr i="0" sz="2400" b="1">
                <a:solidFill>
                  <a:srgbClr val="0A2A66"/>
                </a:solidFill>
                <a:latin typeface="Open Sans"/>
              </a:defRPr>
            </a:pPr>
            <a:r>
              <a:rPr i="0" sz="2400" b="1">
                <a:solidFill>
                  <a:srgbClr val="0A2A66"/>
                </a:solidFill>
                <a:latin typeface="Open Sans"/>
              </a:rPr>
              <a:t>Departmental Isolation</a:t>
            </a:r>
          </a:p>
        </p:txBody>
      </p:sp>
      <p:sp>
        <p:nvSpPr>
          <p:cNvPr id="5" name="TextBox 4"/>
          <p:cNvSpPr txBox="1"/>
          <p:nvPr/>
        </p:nvSpPr>
        <p:spPr>
          <a:xfrm>
            <a:off x="1892300" y="2336800"/>
            <a:ext cx="5448300" cy="647700"/>
          </a:xfrm>
          <a:prstGeom prst="rect">
            <a:avLst/>
          </a:prstGeom>
          <a:noFill/>
        </p:spPr>
        <p:txBody>
          <a:bodyPr wrap="square" lIns="0" rIns="0" tIns="0" bIns="0">
            <a:spAutoFit/>
          </a:bodyPr>
          <a:lstStyle/>
          <a:p>
            <a:pPr algn="l">
              <a:defRPr i="0" sz="1600" b="0">
                <a:solidFill>
                  <a:srgbClr val="25344A"/>
                </a:solidFill>
                <a:latin typeface="Open Sans"/>
              </a:defRPr>
            </a:pPr>
            <a:r>
              <a:rPr i="0" sz="1600" b="0">
                <a:solidFill>
                  <a:srgbClr val="25344A"/>
                </a:solidFill>
                <a:latin typeface="Open Sans"/>
              </a:rPr>
              <a:t>Finance, HR, and workforce operate in dedicated segments with custom policies for enhanced security.</a:t>
            </a:r>
          </a:p>
        </p:txBody>
      </p:sp>
      <p:sp>
        <p:nvSpPr>
          <p:cNvPr id="6" name="TextBox 5"/>
          <p:cNvSpPr txBox="1"/>
          <p:nvPr/>
        </p:nvSpPr>
        <p:spPr>
          <a:xfrm>
            <a:off x="8940800" y="1803400"/>
            <a:ext cx="342900" cy="558800"/>
          </a:xfrm>
          <a:prstGeom prst="rect">
            <a:avLst/>
          </a:prstGeom>
          <a:noFill/>
        </p:spPr>
        <p:txBody>
          <a:bodyPr wrap="square" lIns="0" rIns="0" tIns="0" bIns="0">
            <a:spAutoFit/>
          </a:bodyPr>
          <a:lstStyle/>
          <a:p>
            <a:pPr algn="l">
              <a:lnSpc>
                <a:spcPct val="70000"/>
              </a:lnSpc>
              <a:defRPr i="0" sz="4400" b="1">
                <a:solidFill>
                  <a:srgbClr val="0A2A66"/>
                </a:solidFill>
                <a:latin typeface="Open Sans"/>
              </a:defRPr>
            </a:pPr>
            <a:r>
              <a:rPr i="0" sz="4400" b="1">
                <a:solidFill>
                  <a:srgbClr val="0A2A66"/>
                </a:solidFill>
                <a:latin typeface="Open Sans"/>
              </a:rPr>
              <a:t>2</a:t>
            </a:r>
          </a:p>
        </p:txBody>
      </p:sp>
      <p:sp>
        <p:nvSpPr>
          <p:cNvPr id="7" name="TextBox 6"/>
          <p:cNvSpPr txBox="1"/>
          <p:nvPr/>
        </p:nvSpPr>
        <p:spPr>
          <a:xfrm>
            <a:off x="9715500" y="1803400"/>
            <a:ext cx="5448300" cy="381000"/>
          </a:xfrm>
          <a:prstGeom prst="rect">
            <a:avLst/>
          </a:prstGeom>
          <a:noFill/>
        </p:spPr>
        <p:txBody>
          <a:bodyPr wrap="square" lIns="0" rIns="0" tIns="0" bIns="0">
            <a:spAutoFit/>
          </a:bodyPr>
          <a:lstStyle/>
          <a:p>
            <a:pPr algn="l">
              <a:lnSpc>
                <a:spcPct val="95000"/>
              </a:lnSpc>
              <a:defRPr i="0" sz="2400" b="1">
                <a:solidFill>
                  <a:srgbClr val="0A2A66"/>
                </a:solidFill>
                <a:latin typeface="Open Sans"/>
              </a:defRPr>
            </a:pPr>
            <a:r>
              <a:rPr i="0" sz="2400" b="1">
                <a:solidFill>
                  <a:srgbClr val="0A2A66"/>
                </a:solidFill>
                <a:latin typeface="Open Sans"/>
              </a:rPr>
              <a:t>IoT Segmentation</a:t>
            </a:r>
          </a:p>
        </p:txBody>
      </p:sp>
      <p:sp>
        <p:nvSpPr>
          <p:cNvPr id="8" name="TextBox 7"/>
          <p:cNvSpPr txBox="1"/>
          <p:nvPr/>
        </p:nvSpPr>
        <p:spPr>
          <a:xfrm>
            <a:off x="9715500" y="2336800"/>
            <a:ext cx="5448300" cy="647700"/>
          </a:xfrm>
          <a:prstGeom prst="rect">
            <a:avLst/>
          </a:prstGeom>
          <a:noFill/>
        </p:spPr>
        <p:txBody>
          <a:bodyPr wrap="square" lIns="0" rIns="0" tIns="0" bIns="0">
            <a:spAutoFit/>
          </a:bodyPr>
          <a:lstStyle/>
          <a:p>
            <a:pPr algn="l">
              <a:defRPr i="0" sz="1600" b="0">
                <a:solidFill>
                  <a:srgbClr val="25344A"/>
                </a:solidFill>
                <a:latin typeface="Open Sans"/>
              </a:defRPr>
            </a:pPr>
            <a:r>
              <a:rPr i="0" sz="1600" b="0">
                <a:solidFill>
                  <a:srgbClr val="25344A"/>
                </a:solidFill>
                <a:latin typeface="Open Sans"/>
              </a:rPr>
              <a:t>Medical devices remain isolated from general hospital systems to minimize risk and contain threats.</a:t>
            </a:r>
          </a:p>
        </p:txBody>
      </p:sp>
      <p:sp>
        <p:nvSpPr>
          <p:cNvPr id="9" name="TextBox 8"/>
          <p:cNvSpPr txBox="1"/>
          <p:nvPr/>
        </p:nvSpPr>
        <p:spPr>
          <a:xfrm>
            <a:off x="1117600" y="3797300"/>
            <a:ext cx="342900" cy="558800"/>
          </a:xfrm>
          <a:prstGeom prst="rect">
            <a:avLst/>
          </a:prstGeom>
          <a:noFill/>
        </p:spPr>
        <p:txBody>
          <a:bodyPr wrap="square" lIns="0" rIns="0" tIns="0" bIns="0">
            <a:spAutoFit/>
          </a:bodyPr>
          <a:lstStyle/>
          <a:p>
            <a:pPr algn="l">
              <a:lnSpc>
                <a:spcPct val="70000"/>
              </a:lnSpc>
              <a:defRPr i="0" sz="4400" b="1">
                <a:solidFill>
                  <a:srgbClr val="0A2A66"/>
                </a:solidFill>
                <a:latin typeface="Open Sans"/>
              </a:defRPr>
            </a:pPr>
            <a:r>
              <a:rPr i="0" sz="4400" b="1">
                <a:solidFill>
                  <a:srgbClr val="0A2A66"/>
                </a:solidFill>
                <a:latin typeface="Open Sans"/>
              </a:rPr>
              <a:t>3</a:t>
            </a:r>
          </a:p>
        </p:txBody>
      </p:sp>
      <p:sp>
        <p:nvSpPr>
          <p:cNvPr id="10" name="TextBox 9"/>
          <p:cNvSpPr txBox="1"/>
          <p:nvPr/>
        </p:nvSpPr>
        <p:spPr>
          <a:xfrm>
            <a:off x="1892300" y="3797300"/>
            <a:ext cx="5448300" cy="381000"/>
          </a:xfrm>
          <a:prstGeom prst="rect">
            <a:avLst/>
          </a:prstGeom>
          <a:noFill/>
        </p:spPr>
        <p:txBody>
          <a:bodyPr wrap="square" lIns="0" rIns="0" tIns="0" bIns="0">
            <a:spAutoFit/>
          </a:bodyPr>
          <a:lstStyle/>
          <a:p>
            <a:pPr algn="l">
              <a:lnSpc>
                <a:spcPct val="95000"/>
              </a:lnSpc>
              <a:defRPr i="0" sz="2400" b="1">
                <a:solidFill>
                  <a:srgbClr val="0A2A66"/>
                </a:solidFill>
                <a:latin typeface="Open Sans"/>
              </a:defRPr>
            </a:pPr>
            <a:r>
              <a:rPr i="0" sz="2400" b="1">
                <a:solidFill>
                  <a:srgbClr val="0A2A66"/>
                </a:solidFill>
                <a:latin typeface="Open Sans"/>
              </a:rPr>
              <a:t>Guest Access Control</a:t>
            </a:r>
          </a:p>
        </p:txBody>
      </p:sp>
      <p:sp>
        <p:nvSpPr>
          <p:cNvPr id="11" name="TextBox 10"/>
          <p:cNvSpPr txBox="1"/>
          <p:nvPr/>
        </p:nvSpPr>
        <p:spPr>
          <a:xfrm>
            <a:off x="1892300" y="4330700"/>
            <a:ext cx="5448300" cy="647700"/>
          </a:xfrm>
          <a:prstGeom prst="rect">
            <a:avLst/>
          </a:prstGeom>
          <a:noFill/>
        </p:spPr>
        <p:txBody>
          <a:bodyPr wrap="square" lIns="0" rIns="0" tIns="0" bIns="0">
            <a:spAutoFit/>
          </a:bodyPr>
          <a:lstStyle/>
          <a:p>
            <a:pPr algn="l">
              <a:defRPr i="0" sz="1600" b="0">
                <a:solidFill>
                  <a:srgbClr val="25344A"/>
                </a:solidFill>
                <a:latin typeface="Open Sans"/>
              </a:defRPr>
            </a:pPr>
            <a:r>
              <a:rPr i="0" sz="1600" b="0">
                <a:solidFill>
                  <a:srgbClr val="25344A"/>
                </a:solidFill>
                <a:latin typeface="Open Sans"/>
              </a:rPr>
              <a:t>Visitors receive limited network access, keeping internal resources secure and protected.</a:t>
            </a:r>
          </a:p>
        </p:txBody>
      </p:sp>
      <p:sp>
        <p:nvSpPr>
          <p:cNvPr id="12" name="Rounded Rectangle 11"/>
          <p:cNvSpPr/>
          <p:nvPr/>
        </p:nvSpPr>
        <p:spPr>
          <a:xfrm>
            <a:off x="1117600" y="5689600"/>
            <a:ext cx="14020800" cy="609600"/>
          </a:xfrm>
          <a:prstGeom prst="roundRect">
            <a:avLst>
              <a:gd name="adj" fmla="val 12500"/>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TextBox 12"/>
          <p:cNvSpPr txBox="1"/>
          <p:nvPr/>
        </p:nvSpPr>
        <p:spPr>
          <a:xfrm>
            <a:off x="1270000" y="5842000"/>
            <a:ext cx="13741400" cy="304800"/>
          </a:xfrm>
          <a:prstGeom prst="rect">
            <a:avLst/>
          </a:prstGeom>
          <a:noFill/>
        </p:spPr>
        <p:txBody>
          <a:bodyPr wrap="square" lIns="0" rIns="0" tIns="0" bIns="0">
            <a:spAutoFit/>
          </a:bodyPr>
          <a:lstStyle/>
          <a:p>
            <a:pPr algn="l">
              <a:defRPr i="0" sz="1600" b="0">
                <a:solidFill>
                  <a:srgbClr val="09090B"/>
                </a:solidFill>
                <a:latin typeface="Open Sans"/>
              </a:defRPr>
            </a:pPr>
            <a:r>
              <a:rPr i="0" sz="1600" b="0">
                <a:solidFill>
                  <a:srgbClr val="09090B"/>
                </a:solidFill>
                <a:latin typeface="Open Sans"/>
              </a:rPr>
              <a:t>graph TD; A[Start]--&gt;B{Choice}; B--&gt;C[Path 1]; B--&gt;D[Path 2];</a:t>
            </a:r>
          </a:p>
        </p:txBody>
      </p:sp>
      <p:pic>
        <p:nvPicPr>
          <p:cNvPr id="14" name="Picture 13" descr="e2bd070d-c7ac-4790-8852-7b610cef74be.png"/>
          <p:cNvPicPr>
            <a:picLocks noChangeAspect="1"/>
          </p:cNvPicPr>
          <p:nvPr/>
        </p:nvPicPr>
        <p:blipFill>
          <a:blip r:embed="rId3"/>
          <a:stretch>
            <a:fillRect/>
          </a:stretch>
        </p:blipFill>
        <p:spPr>
          <a:xfrm>
            <a:off x="0" y="6858000"/>
            <a:ext cx="16256000" cy="2286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508000"/>
            <a:ext cx="14452600" cy="812800"/>
          </a:xfrm>
          <a:prstGeom prst="rect">
            <a:avLst/>
          </a:prstGeom>
          <a:noFill/>
        </p:spPr>
        <p:txBody>
          <a:bodyPr wrap="square" lIns="0" rIns="0" tIns="0" bIns="0">
            <a:spAutoFit/>
          </a:bodyPr>
          <a:lstStyle/>
          <a:p>
            <a:pPr algn="l">
              <a:lnSpc>
                <a:spcPct val="84000"/>
              </a:lnSpc>
              <a:defRPr i="0" sz="5600" b="1">
                <a:solidFill>
                  <a:srgbClr val="0A2A73"/>
                </a:solidFill>
                <a:latin typeface="Open Sans"/>
              </a:defRPr>
            </a:pPr>
            <a:r>
              <a:rPr i="0" sz="5600" b="1">
                <a:solidFill>
                  <a:srgbClr val="0A2A73"/>
                </a:solidFill>
                <a:latin typeface="Open Sans"/>
              </a:rPr>
              <a:t>Security Best Practices: L4 Segmentation</a:t>
            </a:r>
          </a:p>
        </p:txBody>
      </p:sp>
      <p:pic>
        <p:nvPicPr>
          <p:cNvPr id="3" name="Picture 2" descr="3773876a-446c-4b70-bf8e-c9b924206fe4.png"/>
          <p:cNvPicPr>
            <a:picLocks noChangeAspect="1"/>
          </p:cNvPicPr>
          <p:nvPr/>
        </p:nvPicPr>
        <p:blipFill>
          <a:blip r:embed="rId3"/>
          <a:stretch>
            <a:fillRect/>
          </a:stretch>
        </p:blipFill>
        <p:spPr>
          <a:xfrm>
            <a:off x="914400" y="1625600"/>
            <a:ext cx="6604000" cy="6604000"/>
          </a:xfrm>
          <a:prstGeom prst="rect">
            <a:avLst/>
          </a:prstGeom>
        </p:spPr>
      </p:pic>
      <p:sp>
        <p:nvSpPr>
          <p:cNvPr id="4" name="TextBox 3"/>
          <p:cNvSpPr txBox="1"/>
          <p:nvPr/>
        </p:nvSpPr>
        <p:spPr>
          <a:xfrm>
            <a:off x="8432800" y="1625600"/>
            <a:ext cx="6934200" cy="1066800"/>
          </a:xfrm>
          <a:prstGeom prst="rect">
            <a:avLst/>
          </a:prstGeom>
          <a:noFill/>
        </p:spPr>
        <p:txBody>
          <a:bodyPr wrap="square" lIns="0" rIns="0" tIns="0" bIns="0">
            <a:spAutoFit/>
          </a:bodyPr>
          <a:lstStyle/>
          <a:p>
            <a:pPr algn="l">
              <a:lnSpc>
                <a:spcPct val="145000"/>
              </a:lnSpc>
              <a:defRPr i="0" sz="1600" b="0">
                <a:solidFill>
                  <a:srgbClr val="334155"/>
                </a:solidFill>
                <a:latin typeface="Open Sans"/>
              </a:defRPr>
            </a:pPr>
            <a:r>
              <a:rPr i="0" sz="1600" b="0">
                <a:solidFill>
                  <a:srgbClr val="334155"/>
                </a:solidFill>
                <a:latin typeface="Open Sans"/>
              </a:rPr>
              <a:t>Strengthen security posture by applying NIST and ISO 27001-aligned L4 segmentation, enabling zero trust and simplifying compliance management.</a:t>
            </a:r>
          </a:p>
        </p:txBody>
      </p:sp>
      <p:sp>
        <p:nvSpPr>
          <p:cNvPr id="5" name="Rounded Rectangle 4"/>
          <p:cNvSpPr/>
          <p:nvPr/>
        </p:nvSpPr>
        <p:spPr>
          <a:xfrm>
            <a:off x="8432800" y="30480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9499600" y="30480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Aligned with Leading Standards</a:t>
            </a:r>
          </a:p>
        </p:txBody>
      </p:sp>
      <p:sp>
        <p:nvSpPr>
          <p:cNvPr id="7" name="Rounded Rectangle 6"/>
          <p:cNvSpPr/>
          <p:nvPr/>
        </p:nvSpPr>
        <p:spPr>
          <a:xfrm>
            <a:off x="9499600" y="34544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9499600" y="35941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L4 segmentation follows NIST and ISO 27001, ensuring robust and compliant network segmentation.</a:t>
            </a:r>
          </a:p>
        </p:txBody>
      </p:sp>
      <p:sp>
        <p:nvSpPr>
          <p:cNvPr id="9" name="Rounded Rectangle 8"/>
          <p:cNvSpPr/>
          <p:nvPr/>
        </p:nvSpPr>
        <p:spPr>
          <a:xfrm>
            <a:off x="8432800" y="48133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499600" y="48133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Zero Trust Networking</a:t>
            </a:r>
          </a:p>
        </p:txBody>
      </p:sp>
      <p:sp>
        <p:nvSpPr>
          <p:cNvPr id="11" name="Rounded Rectangle 10"/>
          <p:cNvSpPr/>
          <p:nvPr/>
        </p:nvSpPr>
        <p:spPr>
          <a:xfrm>
            <a:off x="9499600" y="52197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9499600" y="53594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Never trust, always verify approach prevents lateral movement and reduces risk of breaches.</a:t>
            </a:r>
          </a:p>
        </p:txBody>
      </p:sp>
      <p:sp>
        <p:nvSpPr>
          <p:cNvPr id="13" name="Rounded Rectangle 12"/>
          <p:cNvSpPr/>
          <p:nvPr/>
        </p:nvSpPr>
        <p:spPr>
          <a:xfrm>
            <a:off x="8432800" y="65786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9499600" y="65786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Streamlined Compliance Reporting</a:t>
            </a:r>
          </a:p>
        </p:txBody>
      </p:sp>
      <p:sp>
        <p:nvSpPr>
          <p:cNvPr id="15" name="Rounded Rectangle 14"/>
          <p:cNvSpPr/>
          <p:nvPr/>
        </p:nvSpPr>
        <p:spPr>
          <a:xfrm>
            <a:off x="9499600" y="69850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9499600" y="71247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Achieve up to 60% reduction in audit effort by automating policy enforcement and evidence collection.</a:t>
            </a:r>
          </a:p>
        </p:txBody>
      </p:sp>
      <p:sp>
        <p:nvSpPr>
          <p:cNvPr id="17" name="Rounded Rectangle 16"/>
          <p:cNvSpPr/>
          <p:nvPr/>
        </p:nvSpPr>
        <p:spPr>
          <a:xfrm>
            <a:off x="8432800" y="83439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TextBox 17"/>
          <p:cNvSpPr txBox="1"/>
          <p:nvPr/>
        </p:nvSpPr>
        <p:spPr>
          <a:xfrm>
            <a:off x="9499600" y="83439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Policy Versioning</a:t>
            </a:r>
          </a:p>
        </p:txBody>
      </p:sp>
      <p:sp>
        <p:nvSpPr>
          <p:cNvPr id="19" name="Rounded Rectangle 18"/>
          <p:cNvSpPr/>
          <p:nvPr/>
        </p:nvSpPr>
        <p:spPr>
          <a:xfrm>
            <a:off x="9499600" y="87503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19"/>
          <p:cNvSpPr txBox="1"/>
          <p:nvPr/>
        </p:nvSpPr>
        <p:spPr>
          <a:xfrm>
            <a:off x="9499600" y="88900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Manage policy changes efficiently with clear audit trails and rollback capabilities.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286000" y="3683000"/>
            <a:ext cx="11963400" cy="2349500"/>
          </a:xfrm>
          <a:prstGeom prst="rect">
            <a:avLst/>
          </a:prstGeom>
          <a:noFill/>
        </p:spPr>
        <p:txBody>
          <a:bodyPr wrap="square" lIns="0" rIns="0" tIns="0" bIns="0">
            <a:spAutoFit/>
          </a:bodyPr>
          <a:lstStyle/>
          <a:p>
            <a:pPr algn="l">
              <a:lnSpc>
                <a:spcPct val="75000"/>
              </a:lnSpc>
              <a:defRPr i="0" sz="8800" b="1">
                <a:solidFill>
                  <a:srgbClr val="0B2D6B"/>
                </a:solidFill>
                <a:latin typeface="Open Sans"/>
              </a:defRPr>
            </a:pPr>
            <a:r>
              <a:rPr i="0" sz="8800" b="1">
                <a:solidFill>
                  <a:srgbClr val="0B2D6B"/>
                </a:solidFill>
                <a:latin typeface="Open Sans"/>
              </a:rPr>
              <a:t>L4-Segmentation Benefits</a:t>
            </a:r>
          </a:p>
        </p:txBody>
      </p:sp>
      <p:sp>
        <p:nvSpPr>
          <p:cNvPr id="3" name="TextBox 2"/>
          <p:cNvSpPr txBox="1"/>
          <p:nvPr/>
        </p:nvSpPr>
        <p:spPr>
          <a:xfrm>
            <a:off x="2286000" y="7099300"/>
            <a:ext cx="11963400" cy="342900"/>
          </a:xfrm>
          <a:prstGeom prst="rect">
            <a:avLst/>
          </a:prstGeom>
          <a:noFill/>
        </p:spPr>
        <p:txBody>
          <a:bodyPr wrap="square" lIns="0" rIns="0" tIns="0" bIns="0">
            <a:spAutoFit/>
          </a:bodyPr>
          <a:lstStyle/>
          <a:p>
            <a:pPr algn="l">
              <a:defRPr i="0" sz="1800" b="1">
                <a:solidFill>
                  <a:srgbClr val="0B2D6B"/>
                </a:solidFill>
                <a:latin typeface="Open Sans"/>
              </a:defRPr>
            </a:pPr>
            <a:r>
              <a:rPr i="0" sz="1800" b="1">
                <a:solidFill>
                  <a:srgbClr val="0B2D6B"/>
                </a:solidFill>
                <a:latin typeface="Open Sans"/>
              </a:rPr>
              <a:t>Smart Switch Hypershield</a:t>
            </a:r>
          </a:p>
        </p:txBody>
      </p:sp>
      <p:sp>
        <p:nvSpPr>
          <p:cNvPr id="4" name="TextBox 3"/>
          <p:cNvSpPr txBox="1"/>
          <p:nvPr/>
        </p:nvSpPr>
        <p:spPr>
          <a:xfrm>
            <a:off x="2286000" y="7569200"/>
            <a:ext cx="11709400" cy="368300"/>
          </a:xfrm>
          <a:prstGeom prst="rect">
            <a:avLst/>
          </a:prstGeom>
          <a:noFill/>
        </p:spPr>
        <p:txBody>
          <a:bodyPr wrap="square" lIns="0" rIns="0" tIns="0" bIns="0">
            <a:spAutoFit/>
          </a:bodyPr>
          <a:lstStyle/>
          <a:p>
            <a:pPr algn="l">
              <a:defRPr i="0" sz="1600" b="0">
                <a:solidFill>
                  <a:srgbClr val="0B2D6B"/>
                </a:solidFill>
                <a:latin typeface="Open Sans"/>
              </a:defRPr>
            </a:pPr>
            <a:r>
              <a:rPr i="0" sz="1600" b="0">
                <a:solidFill>
                  <a:srgbClr val="0B2D6B"/>
                </a:solidFill>
                <a:latin typeface="Open Sans"/>
              </a:rPr>
              <a:t>Advanced traffic control and automation reduce lateral risk by up to 50% while improving security flexibility.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