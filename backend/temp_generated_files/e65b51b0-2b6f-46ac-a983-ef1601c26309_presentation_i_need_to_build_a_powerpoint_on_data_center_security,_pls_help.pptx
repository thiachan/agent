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the key areas involved in securing data centers today: it covers leading practices, managing multicloud environments, ensuring policies are enforced, utilizing visualization and analytics tools, threat monitoring, and licensing best practices.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of contents provides a high-level overview of the security topics covered in this deck, guiding the discussion from data center foundations through cloud security, policy management, monitoring, alerts, and threat detection.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centers host vital business data, so robust security is essential. This safeguards information, ensures compliance with regulations, and supports the consistent operation of business activities.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cloud vendors use unique security models, making it challenging to create unified, enforceable security policies. This fragmentation increases management complexity and the likelihood of vulnerabilities due to inconsistent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discusses the complexities organizations face in managing security policies across hybrid and multicloud environments. Inconsistent enforcement between platforms increases the risk of policy violations, potentially leaving gaps that could be exploited by malicious actors.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by accessing the Policy Analysis tab in your Segmentation Workspace. Once there, initiate the policy analysis, which typically completes in a few minutes. When finished, carefully review which traffic flows are allowed or blocked to guide future policy adjustments.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 violations are immediately visible as orange flows in the graph, making detection easy. More detail is available in the flow table below, supporting fast analysis and mitigation to reduce risk.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workflow emphasizes setting up configurable alerts for effective incident response and stresses routine policy reviews. Using 'Manage Alerts' and timely re-analysis after changes supports ongoing security and compliance across your operations.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key visualization capabilities like circular mapping, real-time insights, and flexible refresh options, providing clear network visibility and supporting efficient micro-segmentation analysis.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monitoring dashboard allows users to select data from the past 15 minutes, hour, or day for analysis. Automatic updates run every 15 minutes. Custom filters help target specific events, with most sessions maintaining consistent activity.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 Threat Confidence enables automated, adjustable threat blocking using severity scoring. In 2025, 98% of detections used automation, blocking over 12,000 high-confidence threats. Blocking thresholds are fully customizable for flexible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Licensing for FTDv starts with an evaluation phase of up to 100 Gateway Hours. After this period, upgrading to a paid subscription is mandatory. The platform provides different performance tiers, allowing resources such as vCPU and memory to align with your organization's required throughput, supporting scalable and cost-effective deployments.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9486900" cy="9144000"/>
          </a:xfrm>
          <a:prstGeom prst="roundRect">
            <a:avLst>
              <a:gd name="adj" fmla="val 277"/>
            </a:avLst>
          </a:prstGeom>
          <a:solidFill>
            <a:srgbClr val="0F1A2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812800" y="1219200"/>
            <a:ext cx="7886700" cy="3505200"/>
          </a:xfrm>
          <a:prstGeom prst="rect">
            <a:avLst/>
          </a:prstGeom>
          <a:noFill/>
        </p:spPr>
        <p:txBody>
          <a:bodyPr wrap="square" lIns="0" rIns="0" tIns="0" bIns="0">
            <a:spAutoFit/>
          </a:bodyPr>
          <a:lstStyle/>
          <a:p>
            <a:pPr algn="l">
              <a:lnSpc>
                <a:spcPct val="85000"/>
              </a:lnSpc>
              <a:defRPr i="0" sz="8000" b="1">
                <a:solidFill>
                  <a:srgbClr val="FFFFFF"/>
                </a:solidFill>
                <a:latin typeface="Open Sans"/>
              </a:defRPr>
            </a:pPr>
            <a:r>
              <a:rPr i="0" sz="8000" b="1">
                <a:solidFill>
                  <a:srgbClr val="FFFFFF"/>
                </a:solidFill>
                <a:latin typeface="Open Sans"/>
              </a:rPr>
              <a:t>Data Center Security Essentials</a:t>
            </a:r>
          </a:p>
        </p:txBody>
      </p:sp>
      <p:pic>
        <p:nvPicPr>
          <p:cNvPr id="4" name="Picture 3" descr="6262226c-7883-4ffb-8a80-70e9d9452361.png"/>
          <p:cNvPicPr>
            <a:picLocks noChangeAspect="1"/>
          </p:cNvPicPr>
          <p:nvPr/>
        </p:nvPicPr>
        <p:blipFill>
          <a:blip r:embed="rId3"/>
          <a:stretch>
            <a:fillRect/>
          </a:stretch>
        </p:blipFill>
        <p:spPr>
          <a:xfrm>
            <a:off x="812800" y="5181600"/>
            <a:ext cx="1117600" cy="76200"/>
          </a:xfrm>
          <a:prstGeom prst="rect">
            <a:avLst/>
          </a:prstGeom>
        </p:spPr>
      </p:pic>
      <p:sp>
        <p:nvSpPr>
          <p:cNvPr id="5" name="TextBox 4"/>
          <p:cNvSpPr txBox="1"/>
          <p:nvPr/>
        </p:nvSpPr>
        <p:spPr>
          <a:xfrm>
            <a:off x="812800" y="5664200"/>
            <a:ext cx="7886700" cy="1143000"/>
          </a:xfrm>
          <a:prstGeom prst="rect">
            <a:avLst/>
          </a:prstGeom>
          <a:noFill/>
        </p:spPr>
        <p:txBody>
          <a:bodyPr wrap="square" lIns="0" rIns="0" tIns="0" bIns="0">
            <a:spAutoFit/>
          </a:bodyPr>
          <a:lstStyle/>
          <a:p>
            <a:pPr algn="l">
              <a:lnSpc>
                <a:spcPct val="137000"/>
              </a:lnSpc>
              <a:defRPr i="0" sz="1800" b="0">
                <a:solidFill>
                  <a:srgbClr val="FFFFFF"/>
                </a:solidFill>
                <a:latin typeface="Open Sans"/>
              </a:defRPr>
            </a:pPr>
            <a:r>
              <a:rPr i="0" sz="1800" b="0">
                <a:solidFill>
                  <a:srgbClr val="FFFFFF"/>
                </a:solidFill>
                <a:latin typeface="Open Sans"/>
              </a:rPr>
              <a:t>Reviewing best practices, multicloud complexities, effective policy controls, advanced visualization, robust threat detection, and streamlined licensing for secure, modern data center operations.</a:t>
            </a:r>
          </a:p>
        </p:txBody>
      </p:sp>
      <p:sp>
        <p:nvSpPr>
          <p:cNvPr id="6" name="Rounded Rectangle 5"/>
          <p:cNvSpPr/>
          <p:nvPr/>
        </p:nvSpPr>
        <p:spPr>
          <a:xfrm>
            <a:off x="812800" y="7213600"/>
            <a:ext cx="7861300" cy="1244600"/>
          </a:xfrm>
          <a:prstGeom prst="roundRect">
            <a:avLst>
              <a:gd name="adj" fmla="val 16326"/>
            </a:avLst>
          </a:prstGeom>
          <a:solidFill>
            <a:srgbClr val="FFFFFF">
              <a:alpha val="5000"/>
            </a:srgbClr>
          </a:solidFill>
          <a:ln w="12700">
            <a:solidFill>
              <a:srgbClr val="FFFFFF">
                <a:alpha val="5000"/>
              </a:srgbClr>
            </a:solidFill>
          </a:ln>
          <a:effectLst>
            <a:outerShdw blurRad="25400" dir="5400000" dist="12700" rotWithShape="0">
              <a:srgbClr val="000000">
                <a:alpha val="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ounded Rectangle 6"/>
          <p:cNvSpPr/>
          <p:nvPr/>
        </p:nvSpPr>
        <p:spPr>
          <a:xfrm>
            <a:off x="1130300" y="7480300"/>
            <a:ext cx="711200" cy="711200"/>
          </a:xfrm>
          <a:prstGeom prst="roundRect">
            <a:avLst>
              <a:gd name="adj" fmla="val 50000"/>
            </a:avLst>
          </a:prstGeom>
          <a:solidFill>
            <a:srgbClr val="2D6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defRPr i="0" sz="1800" b="1">
                <a:solidFill>
                  <a:srgbClr val="FFFFFF"/>
                </a:solidFill>
                <a:latin typeface="Open Sans"/>
              </a:defRPr>
            </a:pPr>
            <a:r>
              <a:rPr i="0" sz="1800" b="1">
                <a:solidFill>
                  <a:srgbClr val="FFFFFF"/>
                </a:solidFill>
                <a:latin typeface="Open Sans"/>
              </a:rPr>
              <a:t>A</a:t>
            </a:r>
          </a:p>
        </p:txBody>
      </p:sp>
      <p:sp>
        <p:nvSpPr>
          <p:cNvPr id="8" name="TextBox 7"/>
          <p:cNvSpPr txBox="1"/>
          <p:nvPr/>
        </p:nvSpPr>
        <p:spPr>
          <a:xfrm>
            <a:off x="2044700" y="7531100"/>
            <a:ext cx="1511300" cy="304800"/>
          </a:xfrm>
          <a:prstGeom prst="rect">
            <a:avLst/>
          </a:prstGeom>
          <a:noFill/>
        </p:spPr>
        <p:txBody>
          <a:bodyPr wrap="square" lIns="0" rIns="0" tIns="0" bIns="0">
            <a:spAutoFit/>
          </a:bodyPr>
          <a:lstStyle/>
          <a:p>
            <a:pPr algn="l">
              <a:lnSpc>
                <a:spcPct val="90000"/>
              </a:lnSpc>
              <a:defRPr i="0" sz="2000" b="1">
                <a:solidFill>
                  <a:srgbClr val="FFFFFF"/>
                </a:solidFill>
                <a:latin typeface="Open Sans"/>
              </a:defRPr>
            </a:pPr>
            <a:r>
              <a:rPr i="0" sz="2000" b="1">
                <a:solidFill>
                  <a:srgbClr val="FFFFFF"/>
                </a:solidFill>
                <a:latin typeface="Open Sans"/>
              </a:rPr>
              <a:t>Alex Morgan</a:t>
            </a:r>
          </a:p>
        </p:txBody>
      </p:sp>
      <p:sp>
        <p:nvSpPr>
          <p:cNvPr id="9" name="TextBox 8"/>
          <p:cNvSpPr txBox="1"/>
          <p:nvPr/>
        </p:nvSpPr>
        <p:spPr>
          <a:xfrm>
            <a:off x="2044700" y="7886700"/>
            <a:ext cx="1511300" cy="254000"/>
          </a:xfrm>
          <a:prstGeom prst="rect">
            <a:avLst/>
          </a:prstGeom>
          <a:noFill/>
        </p:spPr>
        <p:txBody>
          <a:bodyPr wrap="square" lIns="0" rIns="0" tIns="0" bIns="0">
            <a:spAutoFit/>
          </a:bodyPr>
          <a:lstStyle/>
          <a:p>
            <a:pPr algn="l">
              <a:defRPr i="0" sz="1400" b="0">
                <a:solidFill>
                  <a:srgbClr val="FFFFFF"/>
                </a:solidFill>
                <a:latin typeface="Open Sans"/>
              </a:defRPr>
            </a:pPr>
            <a:r>
              <a:rPr i="0" sz="1400" b="0">
                <a:solidFill>
                  <a:srgbClr val="FFFFFF"/>
                </a:solidFill>
                <a:latin typeface="Open Sans"/>
              </a:rPr>
              <a:t>2026-01-09</a:t>
            </a:r>
          </a:p>
        </p:txBody>
      </p:sp>
      <p:pic>
        <p:nvPicPr>
          <p:cNvPr id="10" name="Picture 9" descr="34feeaee-f79a-4fa1-878d-898b0da70c64.png"/>
          <p:cNvPicPr>
            <a:picLocks noChangeAspect="1"/>
          </p:cNvPicPr>
          <p:nvPr/>
        </p:nvPicPr>
        <p:blipFill>
          <a:blip r:embed="rId4"/>
          <a:stretch>
            <a:fillRect/>
          </a:stretch>
        </p:blipFill>
        <p:spPr>
          <a:xfrm>
            <a:off x="9486900" y="0"/>
            <a:ext cx="6769100" cy="9144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1200" y="558800"/>
            <a:ext cx="14859000" cy="787400"/>
          </a:xfrm>
          <a:prstGeom prst="rect">
            <a:avLst/>
          </a:prstGeom>
          <a:noFill/>
        </p:spPr>
        <p:txBody>
          <a:bodyPr wrap="square" lIns="0" rIns="0" tIns="0" bIns="0">
            <a:spAutoFit/>
          </a:bodyPr>
          <a:lstStyle/>
          <a:p>
            <a:pPr algn="l">
              <a:lnSpc>
                <a:spcPct val="80000"/>
              </a:lnSpc>
              <a:defRPr i="0" sz="5600" b="1">
                <a:solidFill>
                  <a:srgbClr val="FFFFFF"/>
                </a:solidFill>
                <a:latin typeface="__inter_fd044d"/>
              </a:defRPr>
            </a:pPr>
            <a:r>
              <a:rPr i="0" sz="5600" b="1">
                <a:solidFill>
                  <a:srgbClr val="FFFFFF"/>
                </a:solidFill>
                <a:latin typeface="__inter_fd044d"/>
              </a:rPr>
              <a:t>Table of Contents</a:t>
            </a:r>
          </a:p>
        </p:txBody>
      </p:sp>
      <p:pic>
        <p:nvPicPr>
          <p:cNvPr id="3" name="Picture 2" descr="130ca6f5-8d01-4078-9610-ff3639b83eb6.png"/>
          <p:cNvPicPr>
            <a:picLocks noChangeAspect="1"/>
          </p:cNvPicPr>
          <p:nvPr/>
        </p:nvPicPr>
        <p:blipFill>
          <a:blip r:embed="rId3"/>
          <a:stretch>
            <a:fillRect/>
          </a:stretch>
        </p:blipFill>
        <p:spPr>
          <a:xfrm>
            <a:off x="711200" y="1803400"/>
            <a:ext cx="711200" cy="711200"/>
          </a:xfrm>
          <a:prstGeom prst="rect">
            <a:avLst/>
          </a:prstGeom>
        </p:spPr>
      </p:pic>
      <p:sp>
        <p:nvSpPr>
          <p:cNvPr id="4" name="TextBox 3"/>
          <p:cNvSpPr txBox="1"/>
          <p:nvPr/>
        </p:nvSpPr>
        <p:spPr>
          <a:xfrm>
            <a:off x="990600" y="1955800"/>
            <a:ext cx="1651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1</a:t>
            </a:r>
          </a:p>
        </p:txBody>
      </p:sp>
      <p:sp>
        <p:nvSpPr>
          <p:cNvPr id="5" name="TextBox 4"/>
          <p:cNvSpPr txBox="1"/>
          <p:nvPr/>
        </p:nvSpPr>
        <p:spPr>
          <a:xfrm>
            <a:off x="1651000" y="1981200"/>
            <a:ext cx="37465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Introduction to Data Center Security</a:t>
            </a:r>
          </a:p>
        </p:txBody>
      </p:sp>
      <p:sp>
        <p:nvSpPr>
          <p:cNvPr id="6" name="TextBox 5"/>
          <p:cNvSpPr txBox="1"/>
          <p:nvPr/>
        </p:nvSpPr>
        <p:spPr>
          <a:xfrm>
            <a:off x="7010400" y="20447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7" name="TextBox 6"/>
          <p:cNvSpPr txBox="1"/>
          <p:nvPr/>
        </p:nvSpPr>
        <p:spPr>
          <a:xfrm>
            <a:off x="7226300" y="2044700"/>
            <a:ext cx="1651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3</a:t>
            </a:r>
          </a:p>
        </p:txBody>
      </p:sp>
      <p:pic>
        <p:nvPicPr>
          <p:cNvPr id="8" name="Picture 7" descr="61a63336-06a0-462f-9d31-d25c3d0c1875.png"/>
          <p:cNvPicPr>
            <a:picLocks noChangeAspect="1"/>
          </p:cNvPicPr>
          <p:nvPr/>
        </p:nvPicPr>
        <p:blipFill>
          <a:blip r:embed="rId4"/>
          <a:stretch>
            <a:fillRect/>
          </a:stretch>
        </p:blipFill>
        <p:spPr>
          <a:xfrm>
            <a:off x="711200" y="2844800"/>
            <a:ext cx="711200" cy="711200"/>
          </a:xfrm>
          <a:prstGeom prst="rect">
            <a:avLst/>
          </a:prstGeom>
        </p:spPr>
      </p:pic>
      <p:sp>
        <p:nvSpPr>
          <p:cNvPr id="9" name="TextBox 8"/>
          <p:cNvSpPr txBox="1"/>
          <p:nvPr/>
        </p:nvSpPr>
        <p:spPr>
          <a:xfrm>
            <a:off x="990600" y="2997200"/>
            <a:ext cx="1651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2</a:t>
            </a:r>
          </a:p>
        </p:txBody>
      </p:sp>
      <p:sp>
        <p:nvSpPr>
          <p:cNvPr id="10" name="TextBox 9"/>
          <p:cNvSpPr txBox="1"/>
          <p:nvPr/>
        </p:nvSpPr>
        <p:spPr>
          <a:xfrm>
            <a:off x="1651000" y="3022600"/>
            <a:ext cx="32258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Multicloud Security Challenges</a:t>
            </a:r>
          </a:p>
        </p:txBody>
      </p:sp>
      <p:sp>
        <p:nvSpPr>
          <p:cNvPr id="11" name="TextBox 10"/>
          <p:cNvSpPr txBox="1"/>
          <p:nvPr/>
        </p:nvSpPr>
        <p:spPr>
          <a:xfrm>
            <a:off x="6997700" y="30861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12" name="TextBox 11"/>
          <p:cNvSpPr txBox="1"/>
          <p:nvPr/>
        </p:nvSpPr>
        <p:spPr>
          <a:xfrm>
            <a:off x="7226300" y="3086100"/>
            <a:ext cx="1651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4</a:t>
            </a:r>
          </a:p>
        </p:txBody>
      </p:sp>
      <p:pic>
        <p:nvPicPr>
          <p:cNvPr id="13" name="Picture 12" descr="514fd8af-2b59-46e6-ab1e-6ecbb8116f99.png"/>
          <p:cNvPicPr>
            <a:picLocks noChangeAspect="1"/>
          </p:cNvPicPr>
          <p:nvPr/>
        </p:nvPicPr>
        <p:blipFill>
          <a:blip r:embed="rId5"/>
          <a:stretch>
            <a:fillRect/>
          </a:stretch>
        </p:blipFill>
        <p:spPr>
          <a:xfrm>
            <a:off x="711200" y="3886200"/>
            <a:ext cx="711200" cy="711200"/>
          </a:xfrm>
          <a:prstGeom prst="rect">
            <a:avLst/>
          </a:prstGeom>
        </p:spPr>
      </p:pic>
      <p:sp>
        <p:nvSpPr>
          <p:cNvPr id="14" name="TextBox 13"/>
          <p:cNvSpPr txBox="1"/>
          <p:nvPr/>
        </p:nvSpPr>
        <p:spPr>
          <a:xfrm>
            <a:off x="990600" y="4038600"/>
            <a:ext cx="1651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3</a:t>
            </a:r>
          </a:p>
        </p:txBody>
      </p:sp>
      <p:sp>
        <p:nvSpPr>
          <p:cNvPr id="15" name="TextBox 14"/>
          <p:cNvSpPr txBox="1"/>
          <p:nvPr/>
        </p:nvSpPr>
        <p:spPr>
          <a:xfrm>
            <a:off x="1651000" y="4064000"/>
            <a:ext cx="31369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Policy Analysis &amp; Enforcement</a:t>
            </a:r>
          </a:p>
        </p:txBody>
      </p:sp>
      <p:sp>
        <p:nvSpPr>
          <p:cNvPr id="16" name="TextBox 15"/>
          <p:cNvSpPr txBox="1"/>
          <p:nvPr/>
        </p:nvSpPr>
        <p:spPr>
          <a:xfrm>
            <a:off x="7010400" y="41275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17" name="TextBox 16"/>
          <p:cNvSpPr txBox="1"/>
          <p:nvPr/>
        </p:nvSpPr>
        <p:spPr>
          <a:xfrm>
            <a:off x="7226300" y="4127500"/>
            <a:ext cx="1651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6</a:t>
            </a:r>
          </a:p>
        </p:txBody>
      </p:sp>
      <p:pic>
        <p:nvPicPr>
          <p:cNvPr id="18" name="Picture 17" descr="6f1bdf2e-7da1-4c51-b209-75dde00a3020.png"/>
          <p:cNvPicPr>
            <a:picLocks noChangeAspect="1"/>
          </p:cNvPicPr>
          <p:nvPr/>
        </p:nvPicPr>
        <p:blipFill>
          <a:blip r:embed="rId6"/>
          <a:stretch>
            <a:fillRect/>
          </a:stretch>
        </p:blipFill>
        <p:spPr>
          <a:xfrm>
            <a:off x="711200" y="4927600"/>
            <a:ext cx="711200" cy="711200"/>
          </a:xfrm>
          <a:prstGeom prst="rect">
            <a:avLst/>
          </a:prstGeom>
        </p:spPr>
      </p:pic>
      <p:sp>
        <p:nvSpPr>
          <p:cNvPr id="19" name="TextBox 18"/>
          <p:cNvSpPr txBox="1"/>
          <p:nvPr/>
        </p:nvSpPr>
        <p:spPr>
          <a:xfrm>
            <a:off x="990600" y="5080000"/>
            <a:ext cx="1778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4</a:t>
            </a:r>
          </a:p>
        </p:txBody>
      </p:sp>
      <p:sp>
        <p:nvSpPr>
          <p:cNvPr id="20" name="TextBox 19"/>
          <p:cNvSpPr txBox="1"/>
          <p:nvPr/>
        </p:nvSpPr>
        <p:spPr>
          <a:xfrm>
            <a:off x="1651000" y="5105400"/>
            <a:ext cx="24257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Alerts &amp; Policy Updates</a:t>
            </a:r>
          </a:p>
        </p:txBody>
      </p:sp>
      <p:sp>
        <p:nvSpPr>
          <p:cNvPr id="21" name="TextBox 20"/>
          <p:cNvSpPr txBox="1"/>
          <p:nvPr/>
        </p:nvSpPr>
        <p:spPr>
          <a:xfrm>
            <a:off x="7010400" y="51689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22" name="TextBox 21"/>
          <p:cNvSpPr txBox="1"/>
          <p:nvPr/>
        </p:nvSpPr>
        <p:spPr>
          <a:xfrm>
            <a:off x="7226300" y="5168900"/>
            <a:ext cx="1651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8</a:t>
            </a:r>
          </a:p>
        </p:txBody>
      </p:sp>
      <p:pic>
        <p:nvPicPr>
          <p:cNvPr id="23" name="Picture 22" descr="3d281534-bd4b-4a7f-bec9-639f38f254ce.png"/>
          <p:cNvPicPr>
            <a:picLocks noChangeAspect="1"/>
          </p:cNvPicPr>
          <p:nvPr/>
        </p:nvPicPr>
        <p:blipFill>
          <a:blip r:embed="rId7"/>
          <a:stretch>
            <a:fillRect/>
          </a:stretch>
        </p:blipFill>
        <p:spPr>
          <a:xfrm>
            <a:off x="711200" y="5969000"/>
            <a:ext cx="711200" cy="711200"/>
          </a:xfrm>
          <a:prstGeom prst="rect">
            <a:avLst/>
          </a:prstGeom>
        </p:spPr>
      </p:pic>
      <p:sp>
        <p:nvSpPr>
          <p:cNvPr id="24" name="TextBox 23"/>
          <p:cNvSpPr txBox="1"/>
          <p:nvPr/>
        </p:nvSpPr>
        <p:spPr>
          <a:xfrm>
            <a:off x="990600" y="6121400"/>
            <a:ext cx="1651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5</a:t>
            </a:r>
          </a:p>
        </p:txBody>
      </p:sp>
      <p:sp>
        <p:nvSpPr>
          <p:cNvPr id="25" name="TextBox 24"/>
          <p:cNvSpPr txBox="1"/>
          <p:nvPr/>
        </p:nvSpPr>
        <p:spPr>
          <a:xfrm>
            <a:off x="1651000" y="6146800"/>
            <a:ext cx="26924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Visualization &amp; Monitoring</a:t>
            </a:r>
          </a:p>
        </p:txBody>
      </p:sp>
      <p:sp>
        <p:nvSpPr>
          <p:cNvPr id="26" name="TextBox 25"/>
          <p:cNvSpPr txBox="1"/>
          <p:nvPr/>
        </p:nvSpPr>
        <p:spPr>
          <a:xfrm>
            <a:off x="7010400" y="62103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27" name="TextBox 26"/>
          <p:cNvSpPr txBox="1"/>
          <p:nvPr/>
        </p:nvSpPr>
        <p:spPr>
          <a:xfrm>
            <a:off x="7226300" y="6210300"/>
            <a:ext cx="1651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9</a:t>
            </a:r>
          </a:p>
        </p:txBody>
      </p:sp>
      <p:pic>
        <p:nvPicPr>
          <p:cNvPr id="28" name="Picture 27" descr="2afa9cc4-9c6f-437b-bdab-55680296f7fd.png"/>
          <p:cNvPicPr>
            <a:picLocks noChangeAspect="1"/>
          </p:cNvPicPr>
          <p:nvPr/>
        </p:nvPicPr>
        <p:blipFill>
          <a:blip r:embed="rId8"/>
          <a:stretch>
            <a:fillRect/>
          </a:stretch>
        </p:blipFill>
        <p:spPr>
          <a:xfrm>
            <a:off x="8890000" y="1803400"/>
            <a:ext cx="711200" cy="711200"/>
          </a:xfrm>
          <a:prstGeom prst="rect">
            <a:avLst/>
          </a:prstGeom>
        </p:spPr>
      </p:pic>
      <p:sp>
        <p:nvSpPr>
          <p:cNvPr id="29" name="TextBox 28"/>
          <p:cNvSpPr txBox="1"/>
          <p:nvPr/>
        </p:nvSpPr>
        <p:spPr>
          <a:xfrm>
            <a:off x="9169400" y="1955800"/>
            <a:ext cx="1651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6</a:t>
            </a:r>
          </a:p>
        </p:txBody>
      </p:sp>
      <p:sp>
        <p:nvSpPr>
          <p:cNvPr id="30" name="TextBox 29"/>
          <p:cNvSpPr txBox="1"/>
          <p:nvPr/>
        </p:nvSpPr>
        <p:spPr>
          <a:xfrm>
            <a:off x="9829800" y="1981200"/>
            <a:ext cx="22225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Data Flow Monitoring</a:t>
            </a:r>
          </a:p>
        </p:txBody>
      </p:sp>
      <p:sp>
        <p:nvSpPr>
          <p:cNvPr id="31" name="TextBox 30"/>
          <p:cNvSpPr txBox="1"/>
          <p:nvPr/>
        </p:nvSpPr>
        <p:spPr>
          <a:xfrm>
            <a:off x="15087600" y="20447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32" name="TextBox 31"/>
          <p:cNvSpPr txBox="1"/>
          <p:nvPr/>
        </p:nvSpPr>
        <p:spPr>
          <a:xfrm>
            <a:off x="15316200" y="2044700"/>
            <a:ext cx="2540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10</a:t>
            </a:r>
          </a:p>
        </p:txBody>
      </p:sp>
      <p:pic>
        <p:nvPicPr>
          <p:cNvPr id="33" name="Picture 32" descr="ee409d2f-5d45-4441-9afd-a919fae73505.png"/>
          <p:cNvPicPr>
            <a:picLocks noChangeAspect="1"/>
          </p:cNvPicPr>
          <p:nvPr/>
        </p:nvPicPr>
        <p:blipFill>
          <a:blip r:embed="rId9"/>
          <a:stretch>
            <a:fillRect/>
          </a:stretch>
        </p:blipFill>
        <p:spPr>
          <a:xfrm>
            <a:off x="8890000" y="2844800"/>
            <a:ext cx="711200" cy="711200"/>
          </a:xfrm>
          <a:prstGeom prst="rect">
            <a:avLst/>
          </a:prstGeom>
        </p:spPr>
      </p:pic>
      <p:sp>
        <p:nvSpPr>
          <p:cNvPr id="34" name="TextBox 33"/>
          <p:cNvSpPr txBox="1"/>
          <p:nvPr/>
        </p:nvSpPr>
        <p:spPr>
          <a:xfrm>
            <a:off x="9169400" y="2997200"/>
            <a:ext cx="1651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7</a:t>
            </a:r>
          </a:p>
        </p:txBody>
      </p:sp>
      <p:sp>
        <p:nvSpPr>
          <p:cNvPr id="35" name="TextBox 34"/>
          <p:cNvSpPr txBox="1"/>
          <p:nvPr/>
        </p:nvSpPr>
        <p:spPr>
          <a:xfrm>
            <a:off x="9829800" y="3022600"/>
            <a:ext cx="29083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Threat Detection &amp; Blocking</a:t>
            </a:r>
          </a:p>
        </p:txBody>
      </p:sp>
      <p:sp>
        <p:nvSpPr>
          <p:cNvPr id="36" name="TextBox 35"/>
          <p:cNvSpPr txBox="1"/>
          <p:nvPr/>
        </p:nvSpPr>
        <p:spPr>
          <a:xfrm>
            <a:off x="15151100" y="30861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37" name="TextBox 36"/>
          <p:cNvSpPr txBox="1"/>
          <p:nvPr/>
        </p:nvSpPr>
        <p:spPr>
          <a:xfrm>
            <a:off x="15367000" y="3086100"/>
            <a:ext cx="2032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1200" y="558800"/>
            <a:ext cx="14859000" cy="787400"/>
          </a:xfrm>
          <a:prstGeom prst="rect">
            <a:avLst/>
          </a:prstGeom>
          <a:noFill/>
        </p:spPr>
        <p:txBody>
          <a:bodyPr wrap="square" lIns="0" rIns="0" tIns="0" bIns="0">
            <a:spAutoFit/>
          </a:bodyPr>
          <a:lstStyle/>
          <a:p>
            <a:pPr algn="l">
              <a:lnSpc>
                <a:spcPct val="80000"/>
              </a:lnSpc>
              <a:defRPr i="0" sz="5600" b="1">
                <a:solidFill>
                  <a:srgbClr val="FFFFFF"/>
                </a:solidFill>
                <a:latin typeface="__inter_fd044d"/>
              </a:defRPr>
            </a:pPr>
            <a:r>
              <a:rPr i="0" sz="5600" b="1">
                <a:solidFill>
                  <a:srgbClr val="FFFFFF"/>
                </a:solidFill>
                <a:latin typeface="__inter_fd044d"/>
              </a:rPr>
              <a:t>Introduction to Data Center Security</a:t>
            </a:r>
          </a:p>
        </p:txBody>
      </p:sp>
      <p:pic>
        <p:nvPicPr>
          <p:cNvPr id="3" name="Picture 2" descr="130ca6f5-8d01-4078-9610-ff3639b83eb6.png"/>
          <p:cNvPicPr>
            <a:picLocks noChangeAspect="1"/>
          </p:cNvPicPr>
          <p:nvPr/>
        </p:nvPicPr>
        <p:blipFill>
          <a:blip r:embed="rId3"/>
          <a:stretch>
            <a:fillRect/>
          </a:stretch>
        </p:blipFill>
        <p:spPr>
          <a:xfrm>
            <a:off x="711200" y="1803400"/>
            <a:ext cx="711200" cy="711200"/>
          </a:xfrm>
          <a:prstGeom prst="rect">
            <a:avLst/>
          </a:prstGeom>
        </p:spPr>
      </p:pic>
      <p:sp>
        <p:nvSpPr>
          <p:cNvPr id="4" name="TextBox 3"/>
          <p:cNvSpPr txBox="1"/>
          <p:nvPr/>
        </p:nvSpPr>
        <p:spPr>
          <a:xfrm>
            <a:off x="990600" y="1955800"/>
            <a:ext cx="1651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1</a:t>
            </a:r>
          </a:p>
        </p:txBody>
      </p:sp>
      <p:sp>
        <p:nvSpPr>
          <p:cNvPr id="5" name="TextBox 4"/>
          <p:cNvSpPr txBox="1"/>
          <p:nvPr/>
        </p:nvSpPr>
        <p:spPr>
          <a:xfrm>
            <a:off x="1651000" y="1981200"/>
            <a:ext cx="40894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Data centers support key business ops.</a:t>
            </a:r>
          </a:p>
        </p:txBody>
      </p:sp>
      <p:sp>
        <p:nvSpPr>
          <p:cNvPr id="6" name="TextBox 5"/>
          <p:cNvSpPr txBox="1"/>
          <p:nvPr/>
        </p:nvSpPr>
        <p:spPr>
          <a:xfrm>
            <a:off x="6870700" y="20447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7" name="TextBox 6"/>
          <p:cNvSpPr txBox="1"/>
          <p:nvPr/>
        </p:nvSpPr>
        <p:spPr>
          <a:xfrm>
            <a:off x="7086600" y="2044700"/>
            <a:ext cx="3048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02</a:t>
            </a:r>
          </a:p>
        </p:txBody>
      </p:sp>
      <p:pic>
        <p:nvPicPr>
          <p:cNvPr id="8" name="Picture 7" descr="61a63336-06a0-462f-9d31-d25c3d0c1875.png"/>
          <p:cNvPicPr>
            <a:picLocks noChangeAspect="1"/>
          </p:cNvPicPr>
          <p:nvPr/>
        </p:nvPicPr>
        <p:blipFill>
          <a:blip r:embed="rId4"/>
          <a:stretch>
            <a:fillRect/>
          </a:stretch>
        </p:blipFill>
        <p:spPr>
          <a:xfrm>
            <a:off x="711200" y="2844800"/>
            <a:ext cx="711200" cy="711200"/>
          </a:xfrm>
          <a:prstGeom prst="rect">
            <a:avLst/>
          </a:prstGeom>
        </p:spPr>
      </p:pic>
      <p:sp>
        <p:nvSpPr>
          <p:cNvPr id="9" name="TextBox 8"/>
          <p:cNvSpPr txBox="1"/>
          <p:nvPr/>
        </p:nvSpPr>
        <p:spPr>
          <a:xfrm>
            <a:off x="990600" y="2997200"/>
            <a:ext cx="1651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2</a:t>
            </a:r>
          </a:p>
        </p:txBody>
      </p:sp>
      <p:sp>
        <p:nvSpPr>
          <p:cNvPr id="10" name="TextBox 9"/>
          <p:cNvSpPr txBox="1"/>
          <p:nvPr/>
        </p:nvSpPr>
        <p:spPr>
          <a:xfrm>
            <a:off x="1651000" y="3022600"/>
            <a:ext cx="50927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Security prevents breaches, ensures compliance.</a:t>
            </a:r>
          </a:p>
        </p:txBody>
      </p:sp>
      <p:sp>
        <p:nvSpPr>
          <p:cNvPr id="11" name="TextBox 10"/>
          <p:cNvSpPr txBox="1"/>
          <p:nvPr/>
        </p:nvSpPr>
        <p:spPr>
          <a:xfrm>
            <a:off x="6858000" y="30861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12" name="TextBox 11"/>
          <p:cNvSpPr txBox="1"/>
          <p:nvPr/>
        </p:nvSpPr>
        <p:spPr>
          <a:xfrm>
            <a:off x="7086600" y="3086100"/>
            <a:ext cx="3048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03</a:t>
            </a:r>
          </a:p>
        </p:txBody>
      </p:sp>
      <p:pic>
        <p:nvPicPr>
          <p:cNvPr id="13" name="Picture 12" descr="514fd8af-2b59-46e6-ab1e-6ecbb8116f99.png"/>
          <p:cNvPicPr>
            <a:picLocks noChangeAspect="1"/>
          </p:cNvPicPr>
          <p:nvPr/>
        </p:nvPicPr>
        <p:blipFill>
          <a:blip r:embed="rId5"/>
          <a:stretch>
            <a:fillRect/>
          </a:stretch>
        </p:blipFill>
        <p:spPr>
          <a:xfrm>
            <a:off x="8890000" y="1803400"/>
            <a:ext cx="711200" cy="711200"/>
          </a:xfrm>
          <a:prstGeom prst="rect">
            <a:avLst/>
          </a:prstGeom>
        </p:spPr>
      </p:pic>
      <p:sp>
        <p:nvSpPr>
          <p:cNvPr id="14" name="TextBox 13"/>
          <p:cNvSpPr txBox="1"/>
          <p:nvPr/>
        </p:nvSpPr>
        <p:spPr>
          <a:xfrm>
            <a:off x="9169400" y="1955800"/>
            <a:ext cx="165100" cy="342900"/>
          </a:xfrm>
          <a:prstGeom prst="rect">
            <a:avLst/>
          </a:prstGeom>
          <a:noFill/>
        </p:spPr>
        <p:txBody>
          <a:bodyPr wrap="none" lIns="0" rIns="0" tIns="0" bIns="0">
            <a:spAutoFit/>
          </a:bodyPr>
          <a:lstStyle/>
          <a:p>
            <a:pPr algn="l">
              <a:defRPr i="0" sz="2000" b="1">
                <a:solidFill>
                  <a:srgbClr val="FFFFFF"/>
                </a:solidFill>
                <a:latin typeface="Open Sans"/>
              </a:defRPr>
            </a:pPr>
            <a:r>
              <a:rPr i="0" sz="2000" b="1">
                <a:solidFill>
                  <a:srgbClr val="FFFFFF"/>
                </a:solidFill>
                <a:latin typeface="Open Sans"/>
              </a:rPr>
              <a:t>3</a:t>
            </a:r>
          </a:p>
        </p:txBody>
      </p:sp>
      <p:sp>
        <p:nvSpPr>
          <p:cNvPr id="15" name="TextBox 14"/>
          <p:cNvSpPr txBox="1"/>
          <p:nvPr/>
        </p:nvSpPr>
        <p:spPr>
          <a:xfrm>
            <a:off x="9829800" y="1981200"/>
            <a:ext cx="3581400" cy="355600"/>
          </a:xfrm>
          <a:prstGeom prst="rect">
            <a:avLst/>
          </a:prstGeom>
          <a:noFill/>
        </p:spPr>
        <p:txBody>
          <a:bodyPr wrap="square" lIns="0" rIns="0" tIns="0" bIns="0">
            <a:spAutoFit/>
          </a:bodyPr>
          <a:lstStyle/>
          <a:p>
            <a:pPr algn="l">
              <a:defRPr i="0" sz="1800" b="0">
                <a:solidFill>
                  <a:srgbClr val="CDD6E3"/>
                </a:solidFill>
                <a:latin typeface="__inter_fd044d"/>
              </a:defRPr>
            </a:pPr>
            <a:r>
              <a:rPr i="0" sz="1800" b="0">
                <a:solidFill>
                  <a:srgbClr val="CDD6E3"/>
                </a:solidFill>
                <a:latin typeface="__inter_fd044d"/>
              </a:rPr>
              <a:t>Protect sensitive data &amp; continuity.</a:t>
            </a:r>
          </a:p>
        </p:txBody>
      </p:sp>
      <p:sp>
        <p:nvSpPr>
          <p:cNvPr id="16" name="TextBox 15"/>
          <p:cNvSpPr txBox="1"/>
          <p:nvPr/>
        </p:nvSpPr>
        <p:spPr>
          <a:xfrm>
            <a:off x="15036800" y="2044700"/>
            <a:ext cx="203200" cy="228600"/>
          </a:xfrm>
          <a:prstGeom prst="rect">
            <a:avLst/>
          </a:prstGeom>
          <a:noFill/>
        </p:spPr>
        <p:txBody>
          <a:bodyPr wrap="square" lIns="0" rIns="0" tIns="0" bIns="0">
            <a:spAutoFit/>
          </a:bodyPr>
          <a:lstStyle/>
          <a:p>
            <a:pPr algn="l">
              <a:lnSpc>
                <a:spcPct val="70000"/>
              </a:lnSpc>
              <a:defRPr i="0" sz="1800" b="0">
                <a:solidFill>
                  <a:srgbClr val="FFFFFF"/>
                </a:solidFill>
                <a:latin typeface="__inter_fd044d"/>
              </a:defRPr>
            </a:pPr>
            <a:r>
              <a:rPr i="0" sz="1800" b="0">
                <a:solidFill>
                  <a:srgbClr val="FFFFFF"/>
                </a:solidFill>
                <a:latin typeface="__inter_fd044d"/>
              </a:rPr>
              <a:t>...</a:t>
            </a:r>
          </a:p>
        </p:txBody>
      </p:sp>
      <p:sp>
        <p:nvSpPr>
          <p:cNvPr id="17" name="TextBox 16"/>
          <p:cNvSpPr txBox="1"/>
          <p:nvPr/>
        </p:nvSpPr>
        <p:spPr>
          <a:xfrm>
            <a:off x="15252700" y="2044700"/>
            <a:ext cx="317500" cy="228600"/>
          </a:xfrm>
          <a:prstGeom prst="rect">
            <a:avLst/>
          </a:prstGeom>
          <a:noFill/>
        </p:spPr>
        <p:txBody>
          <a:bodyPr wrap="square" lIns="0" rIns="0" tIns="0" bIns="0">
            <a:spAutoFit/>
          </a:bodyPr>
          <a:lstStyle/>
          <a:p>
            <a:pPr algn="l">
              <a:lnSpc>
                <a:spcPct val="70000"/>
              </a:lnSpc>
              <a:defRPr i="0" sz="1800" b="0">
                <a:solidFill>
                  <a:srgbClr val="CDD6E3"/>
                </a:solidFill>
                <a:latin typeface="__inter_fd044d"/>
              </a:defRPr>
            </a:pPr>
            <a:r>
              <a:rPr i="0" sz="1800" b="0">
                <a:solidFill>
                  <a:srgbClr val="CDD6E3"/>
                </a:solidFill>
                <a:latin typeface="__inter_fd044d"/>
              </a:rPr>
              <a:t>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58800"/>
            <a:ext cx="7137400" cy="1562100"/>
          </a:xfrm>
          <a:prstGeom prst="rect">
            <a:avLst/>
          </a:prstGeom>
          <a:noFill/>
        </p:spPr>
        <p:txBody>
          <a:bodyPr wrap="square" lIns="0" rIns="0" tIns="0" bIns="0">
            <a:spAutoFit/>
          </a:bodyPr>
          <a:lstStyle/>
          <a:p>
            <a:pPr algn="l">
              <a:lnSpc>
                <a:spcPct val="80000"/>
              </a:lnSpc>
              <a:defRPr i="0" sz="5600" b="1">
                <a:solidFill>
                  <a:srgbClr val="FFFFFF"/>
                </a:solidFill>
                <a:latin typeface="__inter_fd044d"/>
              </a:defRPr>
            </a:pPr>
            <a:r>
              <a:rPr i="0" sz="5600" b="1">
                <a:solidFill>
                  <a:srgbClr val="FFFFFF"/>
                </a:solidFill>
                <a:latin typeface="__inter_fd044d"/>
              </a:rPr>
              <a:t>Multicloud Security Challenges Overview</a:t>
            </a:r>
          </a:p>
        </p:txBody>
      </p:sp>
      <p:sp>
        <p:nvSpPr>
          <p:cNvPr id="3" name="TextBox 2"/>
          <p:cNvSpPr txBox="1"/>
          <p:nvPr/>
        </p:nvSpPr>
        <p:spPr>
          <a:xfrm>
            <a:off x="8737600" y="558800"/>
            <a:ext cx="6629400" cy="736600"/>
          </a:xfrm>
          <a:prstGeom prst="rect">
            <a:avLst/>
          </a:prstGeom>
          <a:noFill/>
        </p:spPr>
        <p:txBody>
          <a:bodyPr wrap="square" lIns="0" rIns="0" tIns="0" bIns="0">
            <a:spAutoFit/>
          </a:bodyPr>
          <a:lstStyle/>
          <a:p>
            <a:pPr algn="l">
              <a:lnSpc>
                <a:spcPct val="150000"/>
              </a:lnSpc>
              <a:defRPr i="0" sz="1600" b="0">
                <a:solidFill>
                  <a:srgbClr val="E2E8F0"/>
                </a:solidFill>
                <a:latin typeface="__inter_fd044d"/>
              </a:defRPr>
            </a:pPr>
            <a:r>
              <a:rPr i="0" sz="1600" b="0">
                <a:solidFill>
                  <a:srgbClr val="E2E8F0"/>
                </a:solidFill>
                <a:latin typeface="__inter_fd044d"/>
              </a:rPr>
              <a:t>Managing security across multiple clouds introduces complexity due to diverse vendor-specific models and lack of standardization.</a:t>
            </a:r>
          </a:p>
        </p:txBody>
      </p:sp>
      <p:pic>
        <p:nvPicPr>
          <p:cNvPr id="4" name="Picture 3" descr="45b7dfd3-620f-4118-a4d5-d8986e46aae7.png"/>
          <p:cNvPicPr>
            <a:picLocks noChangeAspect="1"/>
          </p:cNvPicPr>
          <p:nvPr/>
        </p:nvPicPr>
        <p:blipFill>
          <a:blip r:embed="rId3"/>
          <a:stretch>
            <a:fillRect/>
          </a:stretch>
        </p:blipFill>
        <p:spPr>
          <a:xfrm>
            <a:off x="914400" y="2273300"/>
            <a:ext cx="7112000" cy="7264400"/>
          </a:xfrm>
          <a:prstGeom prst="rect">
            <a:avLst/>
          </a:prstGeom>
        </p:spPr>
      </p:pic>
      <p:sp>
        <p:nvSpPr>
          <p:cNvPr id="5" name="Rounded Rectangle 4"/>
          <p:cNvSpPr/>
          <p:nvPr/>
        </p:nvSpPr>
        <p:spPr>
          <a:xfrm>
            <a:off x="8737600" y="2120900"/>
            <a:ext cx="812800" cy="812800"/>
          </a:xfrm>
          <a:prstGeom prst="roundRect">
            <a:avLst>
              <a:gd name="adj" fmla="val 21875"/>
            </a:avLst>
          </a:prstGeom>
          <a:solidFill>
            <a:srgbClr val="0B1C2B"/>
          </a:solidFill>
          <a:ln>
            <a:noFill/>
          </a:ln>
          <a:effectLst>
            <a:outerShdw blurRad="76200" dir="5400000" dist="508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804400" y="2120900"/>
            <a:ext cx="5359400" cy="317500"/>
          </a:xfrm>
          <a:prstGeom prst="rect">
            <a:avLst/>
          </a:prstGeom>
          <a:noFill/>
        </p:spPr>
        <p:txBody>
          <a:bodyPr wrap="square" lIns="0" rIns="0" tIns="0" bIns="0">
            <a:spAutoFit/>
          </a:bodyPr>
          <a:lstStyle/>
          <a:p>
            <a:pPr algn="l">
              <a:defRPr i="0" sz="2000" b="1">
                <a:solidFill>
                  <a:srgbClr val="FFFFFF"/>
                </a:solidFill>
                <a:latin typeface="__inter_fd044d"/>
              </a:defRPr>
            </a:pPr>
            <a:r>
              <a:rPr i="0" sz="2000" b="1">
                <a:solidFill>
                  <a:srgbClr val="FFFFFF"/>
                </a:solidFill>
                <a:latin typeface="__inter_fd044d"/>
              </a:rPr>
              <a:t>Fragmented Security Constructs</a:t>
            </a:r>
          </a:p>
        </p:txBody>
      </p:sp>
      <p:sp>
        <p:nvSpPr>
          <p:cNvPr id="7" name="TextBox 6"/>
          <p:cNvSpPr txBox="1"/>
          <p:nvPr/>
        </p:nvSpPr>
        <p:spPr>
          <a:xfrm>
            <a:off x="9804400" y="2654300"/>
            <a:ext cx="5359400" cy="635000"/>
          </a:xfrm>
          <a:prstGeom prst="rect">
            <a:avLst/>
          </a:prstGeom>
          <a:noFill/>
        </p:spPr>
        <p:txBody>
          <a:bodyPr wrap="square" lIns="0" rIns="0" tIns="0" bIns="0">
            <a:spAutoFit/>
          </a:bodyPr>
          <a:lstStyle/>
          <a:p>
            <a:pPr algn="l">
              <a:defRPr i="0" sz="1400" b="0">
                <a:solidFill>
                  <a:srgbClr val="CBD5E1"/>
                </a:solidFill>
                <a:latin typeface="__inter_fd044d"/>
              </a:defRPr>
            </a:pPr>
            <a:r>
              <a:rPr i="0" sz="1400" b="0">
                <a:solidFill>
                  <a:srgbClr val="CBD5E1"/>
                </a:solidFill>
                <a:latin typeface="__inter_fd044d"/>
              </a:rPr>
              <a:t>Varying models for groups, networks, and policies complicate consistent security management across providers.</a:t>
            </a:r>
          </a:p>
        </p:txBody>
      </p:sp>
      <p:sp>
        <p:nvSpPr>
          <p:cNvPr id="8" name="Rounded Rectangle 7"/>
          <p:cNvSpPr/>
          <p:nvPr/>
        </p:nvSpPr>
        <p:spPr>
          <a:xfrm>
            <a:off x="8737600" y="3860800"/>
            <a:ext cx="812800" cy="812800"/>
          </a:xfrm>
          <a:prstGeom prst="roundRect">
            <a:avLst>
              <a:gd name="adj" fmla="val 21875"/>
            </a:avLst>
          </a:prstGeom>
          <a:solidFill>
            <a:srgbClr val="0B1C2B"/>
          </a:solidFill>
          <a:ln>
            <a:noFill/>
          </a:ln>
          <a:effectLst>
            <a:outerShdw blurRad="76200" dir="5400000" dist="50800"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9804400" y="3860800"/>
            <a:ext cx="5359400" cy="317500"/>
          </a:xfrm>
          <a:prstGeom prst="rect">
            <a:avLst/>
          </a:prstGeom>
          <a:noFill/>
        </p:spPr>
        <p:txBody>
          <a:bodyPr wrap="square" lIns="0" rIns="0" tIns="0" bIns="0">
            <a:spAutoFit/>
          </a:bodyPr>
          <a:lstStyle/>
          <a:p>
            <a:pPr algn="l">
              <a:defRPr i="0" sz="2000" b="1">
                <a:solidFill>
                  <a:srgbClr val="FFFFFF"/>
                </a:solidFill>
                <a:latin typeface="__inter_fd044d"/>
              </a:defRPr>
            </a:pPr>
            <a:r>
              <a:rPr i="0" sz="2000" b="1">
                <a:solidFill>
                  <a:srgbClr val="FFFFFF"/>
                </a:solidFill>
                <a:latin typeface="__inter_fd044d"/>
              </a:rPr>
              <a:t>Lack of Standardization</a:t>
            </a:r>
          </a:p>
        </p:txBody>
      </p:sp>
      <p:sp>
        <p:nvSpPr>
          <p:cNvPr id="10" name="TextBox 9"/>
          <p:cNvSpPr txBox="1"/>
          <p:nvPr/>
        </p:nvSpPr>
        <p:spPr>
          <a:xfrm>
            <a:off x="9804400" y="4394200"/>
            <a:ext cx="5359400" cy="635000"/>
          </a:xfrm>
          <a:prstGeom prst="rect">
            <a:avLst/>
          </a:prstGeom>
          <a:noFill/>
        </p:spPr>
        <p:txBody>
          <a:bodyPr wrap="square" lIns="0" rIns="0" tIns="0" bIns="0">
            <a:spAutoFit/>
          </a:bodyPr>
          <a:lstStyle/>
          <a:p>
            <a:pPr algn="l">
              <a:defRPr i="0" sz="1400" b="0">
                <a:solidFill>
                  <a:srgbClr val="CBD5E1"/>
                </a:solidFill>
                <a:latin typeface="__inter_fd044d"/>
              </a:defRPr>
            </a:pPr>
            <a:r>
              <a:rPr i="0" sz="1400" b="0">
                <a:solidFill>
                  <a:srgbClr val="CBD5E1"/>
                </a:solidFill>
                <a:latin typeface="__inter_fd044d"/>
              </a:rPr>
              <a:t>Absence of a universal policy language hinders unified controls, increasing risk of misconfigurations.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609600"/>
            <a:ext cx="13487400" cy="2743200"/>
          </a:xfrm>
          <a:prstGeom prst="rect">
            <a:avLst/>
          </a:prstGeom>
          <a:noFill/>
        </p:spPr>
        <p:txBody>
          <a:bodyPr wrap="square" lIns="0" rIns="0" tIns="0" bIns="0">
            <a:spAutoFit/>
          </a:bodyPr>
          <a:lstStyle/>
          <a:p>
            <a:pPr algn="l">
              <a:lnSpc>
                <a:spcPct val="83000"/>
              </a:lnSpc>
              <a:defRPr i="0" sz="6400" b="1">
                <a:solidFill>
                  <a:srgbClr val="FFFFFF"/>
                </a:solidFill>
                <a:latin typeface="Open Sans"/>
              </a:defRPr>
            </a:pPr>
            <a:r>
              <a:rPr i="0" sz="6400" b="1">
                <a:solidFill>
                  <a:srgbClr val="FFFFFF"/>
                </a:solidFill>
                <a:latin typeface="Open Sans"/>
              </a:rPr>
              <a:t>Navigating Policy Management\nAcross Multicloud Environments</a:t>
            </a:r>
          </a:p>
        </p:txBody>
      </p:sp>
      <p:pic>
        <p:nvPicPr>
          <p:cNvPr id="3" name="Picture 2" descr="d1e4e800-e442-402c-b395-95ad855131be.png"/>
          <p:cNvPicPr>
            <a:picLocks noChangeAspect="1"/>
          </p:cNvPicPr>
          <p:nvPr/>
        </p:nvPicPr>
        <p:blipFill>
          <a:blip r:embed="rId3"/>
          <a:stretch>
            <a:fillRect/>
          </a:stretch>
        </p:blipFill>
        <p:spPr>
          <a:xfrm>
            <a:off x="812800" y="3860800"/>
            <a:ext cx="6604000" cy="6604000"/>
          </a:xfrm>
          <a:prstGeom prst="rect">
            <a:avLst/>
          </a:prstGeom>
        </p:spPr>
      </p:pic>
      <p:sp>
        <p:nvSpPr>
          <p:cNvPr id="4" name="TextBox 3"/>
          <p:cNvSpPr txBox="1"/>
          <p:nvPr/>
        </p:nvSpPr>
        <p:spPr>
          <a:xfrm>
            <a:off x="8026400" y="3759200"/>
            <a:ext cx="7442200" cy="1066800"/>
          </a:xfrm>
          <a:prstGeom prst="rect">
            <a:avLst/>
          </a:prstGeom>
          <a:noFill/>
        </p:spPr>
        <p:txBody>
          <a:bodyPr wrap="square" lIns="0" rIns="0" tIns="0" bIns="0">
            <a:spAutoFit/>
          </a:bodyPr>
          <a:lstStyle/>
          <a:p>
            <a:pPr algn="l">
              <a:lnSpc>
                <a:spcPct val="126000"/>
              </a:lnSpc>
              <a:defRPr i="0" sz="1800" b="0">
                <a:solidFill>
                  <a:srgbClr val="FFFFFF"/>
                </a:solidFill>
                <a:latin typeface="Open Sans"/>
              </a:defRPr>
            </a:pPr>
            <a:r>
              <a:rPr i="0" sz="1800" b="0">
                <a:solidFill>
                  <a:srgbClr val="FFFFFF"/>
                </a:solidFill>
                <a:latin typeface="Open Sans"/>
              </a:rPr>
              <a:t>Managing security policies consistently between on-premises and various cloud platforms increases complexity. Inconsistencies can expose organizations to significant risks and compliance challenges.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57200"/>
            <a:ext cx="14452600" cy="787400"/>
          </a:xfrm>
          <a:prstGeom prst="rect">
            <a:avLst/>
          </a:prstGeom>
          <a:noFill/>
        </p:spPr>
        <p:txBody>
          <a:bodyPr wrap="square" lIns="0" rIns="0" tIns="0" bIns="0">
            <a:spAutoFit/>
          </a:bodyPr>
          <a:lstStyle/>
          <a:p>
            <a:pPr algn="l">
              <a:lnSpc>
                <a:spcPct val="80000"/>
              </a:lnSpc>
              <a:defRPr i="0" sz="5600" b="1">
                <a:solidFill>
                  <a:srgbClr val="FFFFFF"/>
                </a:solidFill>
                <a:latin typeface="__inter_fd044d"/>
              </a:defRPr>
            </a:pPr>
            <a:r>
              <a:rPr i="0" sz="5600" b="1">
                <a:solidFill>
                  <a:srgbClr val="FFFFFF"/>
                </a:solidFill>
                <a:latin typeface="__inter_fd044d"/>
              </a:rPr>
              <a:t>Policy Analysis Workflow Overview</a:t>
            </a:r>
          </a:p>
        </p:txBody>
      </p:sp>
      <p:sp>
        <p:nvSpPr>
          <p:cNvPr id="3" name="TextBox 2"/>
          <p:cNvSpPr txBox="1"/>
          <p:nvPr/>
        </p:nvSpPr>
        <p:spPr>
          <a:xfrm>
            <a:off x="914400" y="1536700"/>
            <a:ext cx="241300" cy="685800"/>
          </a:xfrm>
          <a:prstGeom prst="rect">
            <a:avLst/>
          </a:prstGeom>
          <a:noFill/>
        </p:spPr>
        <p:txBody>
          <a:bodyPr wrap="square" lIns="0" rIns="0" tIns="0" bIns="0">
            <a:spAutoFit/>
          </a:bodyPr>
          <a:lstStyle/>
          <a:p>
            <a:pPr algn="l">
              <a:defRPr i="0" sz="4400" b="1">
                <a:solidFill>
                  <a:srgbClr val="FFFFFF"/>
                </a:solidFill>
                <a:latin typeface="__inter_fd044d"/>
              </a:defRPr>
            </a:pPr>
            <a:r>
              <a:rPr i="0" sz="4400" b="1">
                <a:solidFill>
                  <a:srgbClr val="FFFFFF"/>
                </a:solidFill>
                <a:latin typeface="__inter_fd044d"/>
              </a:rPr>
              <a:t>1</a:t>
            </a:r>
          </a:p>
        </p:txBody>
      </p:sp>
      <p:sp>
        <p:nvSpPr>
          <p:cNvPr id="4" name="TextBox 3"/>
          <p:cNvSpPr txBox="1"/>
          <p:nvPr/>
        </p:nvSpPr>
        <p:spPr>
          <a:xfrm>
            <a:off x="1625600" y="1600200"/>
            <a:ext cx="5765800" cy="355600"/>
          </a:xfrm>
          <a:prstGeom prst="rect">
            <a:avLst/>
          </a:prstGeom>
          <a:noFill/>
        </p:spPr>
        <p:txBody>
          <a:bodyPr wrap="square" lIns="0" rIns="0" tIns="0" bIns="0">
            <a:spAutoFit/>
          </a:bodyPr>
          <a:lstStyle/>
          <a:p>
            <a:pPr algn="l">
              <a:defRPr i="0" sz="2200" b="1">
                <a:solidFill>
                  <a:srgbClr val="FFFFFF"/>
                </a:solidFill>
                <a:latin typeface="__inter_fd044d"/>
              </a:defRPr>
            </a:pPr>
            <a:r>
              <a:rPr i="0" sz="2200" b="1">
                <a:solidFill>
                  <a:srgbClr val="FFFFFF"/>
                </a:solidFill>
                <a:latin typeface="__inter_fd044d"/>
              </a:rPr>
              <a:t>Access Policy Analysis Tab</a:t>
            </a:r>
          </a:p>
        </p:txBody>
      </p:sp>
      <p:sp>
        <p:nvSpPr>
          <p:cNvPr id="5" name="TextBox 4"/>
          <p:cNvSpPr txBox="1"/>
          <p:nvPr/>
        </p:nvSpPr>
        <p:spPr>
          <a:xfrm>
            <a:off x="1625600" y="2095500"/>
            <a:ext cx="5765800" cy="673100"/>
          </a:xfrm>
          <a:prstGeom prst="rect">
            <a:avLst/>
          </a:prstGeom>
          <a:noFill/>
        </p:spPr>
        <p:txBody>
          <a:bodyPr wrap="square" lIns="0" rIns="0" tIns="0" bIns="0">
            <a:spAutoFit/>
          </a:bodyPr>
          <a:lstStyle/>
          <a:p>
            <a:pPr algn="l">
              <a:lnSpc>
                <a:spcPct val="135000"/>
              </a:lnSpc>
              <a:defRPr i="0" sz="1600" b="0">
                <a:solidFill>
                  <a:srgbClr val="CBD5E1"/>
                </a:solidFill>
                <a:latin typeface="__inter_fd044d"/>
              </a:defRPr>
            </a:pPr>
            <a:r>
              <a:rPr i="0" sz="1600" b="0">
                <a:solidFill>
                  <a:srgbClr val="CBD5E1"/>
                </a:solidFill>
                <a:latin typeface="__inter_fd044d"/>
              </a:rPr>
              <a:t>Open the “Policy Analysis” section in the Segmentation Workspace to begin your workflow.</a:t>
            </a:r>
          </a:p>
        </p:txBody>
      </p:sp>
      <p:sp>
        <p:nvSpPr>
          <p:cNvPr id="6" name="TextBox 5"/>
          <p:cNvSpPr txBox="1"/>
          <p:nvPr/>
        </p:nvSpPr>
        <p:spPr>
          <a:xfrm>
            <a:off x="8890000" y="1536700"/>
            <a:ext cx="355600" cy="685800"/>
          </a:xfrm>
          <a:prstGeom prst="rect">
            <a:avLst/>
          </a:prstGeom>
          <a:noFill/>
        </p:spPr>
        <p:txBody>
          <a:bodyPr wrap="square" lIns="0" rIns="0" tIns="0" bIns="0">
            <a:spAutoFit/>
          </a:bodyPr>
          <a:lstStyle/>
          <a:p>
            <a:pPr algn="l">
              <a:defRPr i="0" sz="4400" b="1">
                <a:solidFill>
                  <a:srgbClr val="FFFFFF"/>
                </a:solidFill>
                <a:latin typeface="__inter_fd044d"/>
              </a:defRPr>
            </a:pPr>
            <a:r>
              <a:rPr i="0" sz="4400" b="1">
                <a:solidFill>
                  <a:srgbClr val="FFFFFF"/>
                </a:solidFill>
                <a:latin typeface="__inter_fd044d"/>
              </a:rPr>
              <a:t>2</a:t>
            </a:r>
          </a:p>
        </p:txBody>
      </p:sp>
      <p:sp>
        <p:nvSpPr>
          <p:cNvPr id="7" name="TextBox 6"/>
          <p:cNvSpPr txBox="1"/>
          <p:nvPr/>
        </p:nvSpPr>
        <p:spPr>
          <a:xfrm>
            <a:off x="9601200" y="1600200"/>
            <a:ext cx="5765800" cy="355600"/>
          </a:xfrm>
          <a:prstGeom prst="rect">
            <a:avLst/>
          </a:prstGeom>
          <a:noFill/>
        </p:spPr>
        <p:txBody>
          <a:bodyPr wrap="square" lIns="0" rIns="0" tIns="0" bIns="0">
            <a:spAutoFit/>
          </a:bodyPr>
          <a:lstStyle/>
          <a:p>
            <a:pPr algn="l">
              <a:defRPr i="0" sz="2200" b="1">
                <a:solidFill>
                  <a:srgbClr val="FFFFFF"/>
                </a:solidFill>
                <a:latin typeface="__inter_fd044d"/>
              </a:defRPr>
            </a:pPr>
            <a:r>
              <a:rPr i="0" sz="2200" b="1">
                <a:solidFill>
                  <a:srgbClr val="FFFFFF"/>
                </a:solidFill>
                <a:latin typeface="__inter_fd044d"/>
              </a:rPr>
              <a:t>Initiate Policy Analysis</a:t>
            </a:r>
          </a:p>
        </p:txBody>
      </p:sp>
      <p:sp>
        <p:nvSpPr>
          <p:cNvPr id="8" name="TextBox 7"/>
          <p:cNvSpPr txBox="1"/>
          <p:nvPr/>
        </p:nvSpPr>
        <p:spPr>
          <a:xfrm>
            <a:off x="9601200" y="2095500"/>
            <a:ext cx="5765800" cy="673100"/>
          </a:xfrm>
          <a:prstGeom prst="rect">
            <a:avLst/>
          </a:prstGeom>
          <a:noFill/>
        </p:spPr>
        <p:txBody>
          <a:bodyPr wrap="square" lIns="0" rIns="0" tIns="0" bIns="0">
            <a:spAutoFit/>
          </a:bodyPr>
          <a:lstStyle/>
          <a:p>
            <a:pPr algn="l">
              <a:lnSpc>
                <a:spcPct val="135000"/>
              </a:lnSpc>
              <a:defRPr i="0" sz="1600" b="0">
                <a:solidFill>
                  <a:srgbClr val="CBD5E1"/>
                </a:solidFill>
                <a:latin typeface="__inter_fd044d"/>
              </a:defRPr>
            </a:pPr>
            <a:r>
              <a:rPr i="0" sz="1600" b="0">
                <a:solidFill>
                  <a:srgbClr val="CBD5E1"/>
                </a:solidFill>
                <a:latin typeface="__inter_fd044d"/>
              </a:rPr>
              <a:t>Click “Start Policy Analysis” to trigger the evaluation of current configurations and policies.</a:t>
            </a:r>
          </a:p>
        </p:txBody>
      </p:sp>
      <p:sp>
        <p:nvSpPr>
          <p:cNvPr id="9" name="TextBox 8"/>
          <p:cNvSpPr txBox="1"/>
          <p:nvPr/>
        </p:nvSpPr>
        <p:spPr>
          <a:xfrm>
            <a:off x="914400" y="3416300"/>
            <a:ext cx="368300" cy="685800"/>
          </a:xfrm>
          <a:prstGeom prst="rect">
            <a:avLst/>
          </a:prstGeom>
          <a:noFill/>
        </p:spPr>
        <p:txBody>
          <a:bodyPr wrap="square" lIns="0" rIns="0" tIns="0" bIns="0">
            <a:spAutoFit/>
          </a:bodyPr>
          <a:lstStyle/>
          <a:p>
            <a:pPr algn="l">
              <a:defRPr i="0" sz="4400" b="1">
                <a:solidFill>
                  <a:srgbClr val="FFFFFF"/>
                </a:solidFill>
                <a:latin typeface="__inter_fd044d"/>
              </a:defRPr>
            </a:pPr>
            <a:r>
              <a:rPr i="0" sz="4400" b="1">
                <a:solidFill>
                  <a:srgbClr val="FFFFFF"/>
                </a:solidFill>
                <a:latin typeface="__inter_fd044d"/>
              </a:rPr>
              <a:t>3</a:t>
            </a:r>
          </a:p>
        </p:txBody>
      </p:sp>
      <p:sp>
        <p:nvSpPr>
          <p:cNvPr id="10" name="TextBox 9"/>
          <p:cNvSpPr txBox="1"/>
          <p:nvPr/>
        </p:nvSpPr>
        <p:spPr>
          <a:xfrm>
            <a:off x="1625600" y="3479800"/>
            <a:ext cx="5765800" cy="355600"/>
          </a:xfrm>
          <a:prstGeom prst="rect">
            <a:avLst/>
          </a:prstGeom>
          <a:noFill/>
        </p:spPr>
        <p:txBody>
          <a:bodyPr wrap="square" lIns="0" rIns="0" tIns="0" bIns="0">
            <a:spAutoFit/>
          </a:bodyPr>
          <a:lstStyle/>
          <a:p>
            <a:pPr algn="l">
              <a:defRPr i="0" sz="2200" b="1">
                <a:solidFill>
                  <a:srgbClr val="FFFFFF"/>
                </a:solidFill>
                <a:latin typeface="__inter_fd044d"/>
              </a:defRPr>
            </a:pPr>
            <a:r>
              <a:rPr i="0" sz="2200" b="1">
                <a:solidFill>
                  <a:srgbClr val="FFFFFF"/>
                </a:solidFill>
                <a:latin typeface="__inter_fd044d"/>
              </a:rPr>
              <a:t>Await Analysis Completion</a:t>
            </a:r>
          </a:p>
        </p:txBody>
      </p:sp>
      <p:sp>
        <p:nvSpPr>
          <p:cNvPr id="11" name="TextBox 10"/>
          <p:cNvSpPr txBox="1"/>
          <p:nvPr/>
        </p:nvSpPr>
        <p:spPr>
          <a:xfrm>
            <a:off x="1625600" y="3975100"/>
            <a:ext cx="5765800" cy="673100"/>
          </a:xfrm>
          <a:prstGeom prst="rect">
            <a:avLst/>
          </a:prstGeom>
          <a:noFill/>
        </p:spPr>
        <p:txBody>
          <a:bodyPr wrap="square" lIns="0" rIns="0" tIns="0" bIns="0">
            <a:spAutoFit/>
          </a:bodyPr>
          <a:lstStyle/>
          <a:p>
            <a:pPr algn="l">
              <a:lnSpc>
                <a:spcPct val="135000"/>
              </a:lnSpc>
              <a:defRPr i="0" sz="1600" b="0">
                <a:solidFill>
                  <a:srgbClr val="CBD5E1"/>
                </a:solidFill>
                <a:latin typeface="__inter_fd044d"/>
              </a:defRPr>
            </a:pPr>
            <a:r>
              <a:rPr i="0" sz="1600" b="0">
                <a:solidFill>
                  <a:srgbClr val="CBD5E1"/>
                </a:solidFill>
                <a:latin typeface="__inter_fd044d"/>
              </a:rPr>
              <a:t>Processing generally takes 3–5 minutes, depending on pipeline performance and system load.</a:t>
            </a:r>
          </a:p>
        </p:txBody>
      </p:sp>
      <p:sp>
        <p:nvSpPr>
          <p:cNvPr id="12" name="TextBox 11"/>
          <p:cNvSpPr txBox="1"/>
          <p:nvPr/>
        </p:nvSpPr>
        <p:spPr>
          <a:xfrm>
            <a:off x="8890000" y="3416300"/>
            <a:ext cx="381000" cy="685800"/>
          </a:xfrm>
          <a:prstGeom prst="rect">
            <a:avLst/>
          </a:prstGeom>
          <a:noFill/>
        </p:spPr>
        <p:txBody>
          <a:bodyPr wrap="square" lIns="0" rIns="0" tIns="0" bIns="0">
            <a:spAutoFit/>
          </a:bodyPr>
          <a:lstStyle/>
          <a:p>
            <a:pPr algn="l">
              <a:defRPr i="0" sz="4400" b="1">
                <a:solidFill>
                  <a:srgbClr val="FFFFFF"/>
                </a:solidFill>
                <a:latin typeface="__inter_fd044d"/>
              </a:defRPr>
            </a:pPr>
            <a:r>
              <a:rPr i="0" sz="4400" b="1">
                <a:solidFill>
                  <a:srgbClr val="FFFFFF"/>
                </a:solidFill>
                <a:latin typeface="__inter_fd044d"/>
              </a:rPr>
              <a:t>4</a:t>
            </a:r>
          </a:p>
        </p:txBody>
      </p:sp>
      <p:sp>
        <p:nvSpPr>
          <p:cNvPr id="13" name="TextBox 12"/>
          <p:cNvSpPr txBox="1"/>
          <p:nvPr/>
        </p:nvSpPr>
        <p:spPr>
          <a:xfrm>
            <a:off x="9601200" y="3479800"/>
            <a:ext cx="5765800" cy="355600"/>
          </a:xfrm>
          <a:prstGeom prst="rect">
            <a:avLst/>
          </a:prstGeom>
          <a:noFill/>
        </p:spPr>
        <p:txBody>
          <a:bodyPr wrap="square" lIns="0" rIns="0" tIns="0" bIns="0">
            <a:spAutoFit/>
          </a:bodyPr>
          <a:lstStyle/>
          <a:p>
            <a:pPr algn="l">
              <a:defRPr i="0" sz="2200" b="1">
                <a:solidFill>
                  <a:srgbClr val="FFFFFF"/>
                </a:solidFill>
                <a:latin typeface="__inter_fd044d"/>
              </a:defRPr>
            </a:pPr>
            <a:r>
              <a:rPr i="0" sz="2200" b="1">
                <a:solidFill>
                  <a:srgbClr val="FFFFFF"/>
                </a:solidFill>
                <a:latin typeface="__inter_fd044d"/>
              </a:rPr>
              <a:t>Review Outcome Results</a:t>
            </a:r>
          </a:p>
        </p:txBody>
      </p:sp>
      <p:sp>
        <p:nvSpPr>
          <p:cNvPr id="14" name="TextBox 13"/>
          <p:cNvSpPr txBox="1"/>
          <p:nvPr/>
        </p:nvSpPr>
        <p:spPr>
          <a:xfrm>
            <a:off x="9601200" y="3975100"/>
            <a:ext cx="5765800" cy="673100"/>
          </a:xfrm>
          <a:prstGeom prst="rect">
            <a:avLst/>
          </a:prstGeom>
          <a:noFill/>
        </p:spPr>
        <p:txBody>
          <a:bodyPr wrap="square" lIns="0" rIns="0" tIns="0" bIns="0">
            <a:spAutoFit/>
          </a:bodyPr>
          <a:lstStyle/>
          <a:p>
            <a:pPr algn="l">
              <a:lnSpc>
                <a:spcPct val="135000"/>
              </a:lnSpc>
              <a:defRPr i="0" sz="1600" b="0">
                <a:solidFill>
                  <a:srgbClr val="CBD5E1"/>
                </a:solidFill>
                <a:latin typeface="__inter_fd044d"/>
              </a:defRPr>
            </a:pPr>
            <a:r>
              <a:rPr i="0" sz="1600" b="0">
                <a:solidFill>
                  <a:srgbClr val="CBD5E1"/>
                </a:solidFill>
                <a:latin typeface="__inter_fd044d"/>
              </a:rPr>
              <a:t>View permitted and rejected traffic flows once analysis completes; use this data to inform enforcement decisions.</a:t>
            </a:r>
          </a:p>
        </p:txBody>
      </p:sp>
      <p:pic>
        <p:nvPicPr>
          <p:cNvPr id="15" name="Picture 14" descr="6b4bd8c9-88fe-4c39-a5d7-33c7eb959eed.png"/>
          <p:cNvPicPr>
            <a:picLocks noChangeAspect="1"/>
          </p:cNvPicPr>
          <p:nvPr/>
        </p:nvPicPr>
        <p:blipFill>
          <a:blip r:embed="rId3"/>
          <a:stretch>
            <a:fillRect/>
          </a:stretch>
        </p:blipFill>
        <p:spPr>
          <a:xfrm>
            <a:off x="0" y="6045200"/>
            <a:ext cx="16256000" cy="309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9d987de6-3e85-4807-8605-583bf2c0cf03.png"/>
          <p:cNvPicPr>
            <a:picLocks noChangeAspect="1"/>
          </p:cNvPicPr>
          <p:nvPr/>
        </p:nvPicPr>
        <p:blipFill>
          <a:blip r:embed="rId3"/>
          <a:stretch>
            <a:fillRect/>
          </a:stretch>
        </p:blipFill>
        <p:spPr>
          <a:xfrm>
            <a:off x="0" y="5842000"/>
            <a:ext cx="16256000" cy="3302000"/>
          </a:xfrm>
          <a:prstGeom prst="rect">
            <a:avLst/>
          </a:prstGeom>
        </p:spPr>
      </p:pic>
      <p:sp>
        <p:nvSpPr>
          <p:cNvPr id="3" name="TextBox 2"/>
          <p:cNvSpPr txBox="1"/>
          <p:nvPr/>
        </p:nvSpPr>
        <p:spPr>
          <a:xfrm>
            <a:off x="1117600" y="457200"/>
            <a:ext cx="14046200" cy="787400"/>
          </a:xfrm>
          <a:prstGeom prst="rect">
            <a:avLst/>
          </a:prstGeom>
          <a:noFill/>
        </p:spPr>
        <p:txBody>
          <a:bodyPr wrap="square" lIns="0" rIns="0" tIns="0" bIns="0">
            <a:spAutoFit/>
          </a:bodyPr>
          <a:lstStyle/>
          <a:p>
            <a:pPr algn="l">
              <a:lnSpc>
                <a:spcPct val="80000"/>
              </a:lnSpc>
              <a:defRPr i="0" sz="5600" b="1">
                <a:solidFill>
                  <a:srgbClr val="FFFFFF"/>
                </a:solidFill>
                <a:latin typeface="Open Sans"/>
              </a:defRPr>
            </a:pPr>
            <a:r>
              <a:rPr i="0" sz="5600" b="1">
                <a:solidFill>
                  <a:srgbClr val="FFFFFF"/>
                </a:solidFill>
                <a:latin typeface="Open Sans"/>
              </a:rPr>
              <a:t>Policy Enforcement: Violation Detection</a:t>
            </a:r>
          </a:p>
        </p:txBody>
      </p:sp>
      <p:sp>
        <p:nvSpPr>
          <p:cNvPr id="4" name="TextBox 3"/>
          <p:cNvSpPr txBox="1"/>
          <p:nvPr/>
        </p:nvSpPr>
        <p:spPr>
          <a:xfrm>
            <a:off x="1117600" y="1854200"/>
            <a:ext cx="342900" cy="1168400"/>
          </a:xfrm>
          <a:prstGeom prst="rect">
            <a:avLst/>
          </a:prstGeom>
          <a:noFill/>
        </p:spPr>
        <p:txBody>
          <a:bodyPr wrap="square" lIns="0" rIns="0" tIns="0" bIns="0">
            <a:spAutoFit/>
          </a:bodyPr>
          <a:lstStyle/>
          <a:p>
            <a:pPr algn="l">
              <a:lnSpc>
                <a:spcPct val="70000"/>
              </a:lnSpc>
              <a:defRPr i="0" sz="4400" b="1">
                <a:solidFill>
                  <a:srgbClr val="FFFFFF"/>
                </a:solidFill>
                <a:latin typeface="Open Sans"/>
              </a:defRPr>
            </a:pPr>
            <a:r>
              <a:rPr i="0" sz="4400" b="1">
                <a:solidFill>
                  <a:srgbClr val="FFFFFF"/>
                </a:solidFill>
                <a:latin typeface="Open Sans"/>
              </a:rPr>
              <a:t>1</a:t>
            </a:r>
          </a:p>
        </p:txBody>
      </p:sp>
      <p:sp>
        <p:nvSpPr>
          <p:cNvPr id="5" name="TextBox 4"/>
          <p:cNvSpPr txBox="1"/>
          <p:nvPr/>
        </p:nvSpPr>
        <p:spPr>
          <a:xfrm>
            <a:off x="1739900" y="1854200"/>
            <a:ext cx="5651500" cy="355600"/>
          </a:xfrm>
          <a:prstGeom prst="rect">
            <a:avLst/>
          </a:prstGeom>
          <a:noFill/>
        </p:spPr>
        <p:txBody>
          <a:bodyPr wrap="square" lIns="0" rIns="0" tIns="0" bIns="0">
            <a:spAutoFit/>
          </a:bodyPr>
          <a:lstStyle/>
          <a:p>
            <a:pPr algn="l">
              <a:defRPr i="0" sz="2200" b="1">
                <a:solidFill>
                  <a:srgbClr val="FFFFFF"/>
                </a:solidFill>
                <a:latin typeface="Open Sans"/>
              </a:defRPr>
            </a:pPr>
            <a:r>
              <a:rPr i="0" sz="2200" b="1">
                <a:solidFill>
                  <a:srgbClr val="FFFFFF"/>
                </a:solidFill>
                <a:latin typeface="Open Sans"/>
              </a:rPr>
              <a:t>Escaped Flows Highlighted</a:t>
            </a:r>
          </a:p>
        </p:txBody>
      </p:sp>
      <p:sp>
        <p:nvSpPr>
          <p:cNvPr id="6" name="TextBox 5"/>
          <p:cNvSpPr txBox="1"/>
          <p:nvPr/>
        </p:nvSpPr>
        <p:spPr>
          <a:xfrm>
            <a:off x="1739900" y="2349500"/>
            <a:ext cx="5651500" cy="660400"/>
          </a:xfrm>
          <a:prstGeom prst="rect">
            <a:avLst/>
          </a:prstGeom>
          <a:noFill/>
        </p:spPr>
        <p:txBody>
          <a:bodyPr wrap="square" lIns="0" rIns="0" tIns="0" bIns="0">
            <a:spAutoFit/>
          </a:bodyPr>
          <a:lstStyle/>
          <a:p>
            <a:pPr algn="l">
              <a:defRPr i="0" sz="1600" b="0">
                <a:solidFill>
                  <a:srgbClr val="FFFFFF"/>
                </a:solidFill>
                <a:latin typeface="Open Sans"/>
              </a:defRPr>
            </a:pPr>
            <a:r>
              <a:rPr i="0" sz="1600" b="0">
                <a:solidFill>
                  <a:srgbClr val="FFFFFF"/>
                </a:solidFill>
                <a:latin typeface="Open Sans"/>
              </a:rPr>
              <a:t>Violations are displayed as orange elements in the graphical flow view, aiding quick recognition and response.</a:t>
            </a:r>
          </a:p>
        </p:txBody>
      </p:sp>
      <p:sp>
        <p:nvSpPr>
          <p:cNvPr id="7" name="TextBox 6"/>
          <p:cNvSpPr txBox="1"/>
          <p:nvPr/>
        </p:nvSpPr>
        <p:spPr>
          <a:xfrm>
            <a:off x="8890000" y="1854200"/>
            <a:ext cx="342900" cy="1168400"/>
          </a:xfrm>
          <a:prstGeom prst="rect">
            <a:avLst/>
          </a:prstGeom>
          <a:noFill/>
        </p:spPr>
        <p:txBody>
          <a:bodyPr wrap="square" lIns="0" rIns="0" tIns="0" bIns="0">
            <a:spAutoFit/>
          </a:bodyPr>
          <a:lstStyle/>
          <a:p>
            <a:pPr algn="l">
              <a:lnSpc>
                <a:spcPct val="70000"/>
              </a:lnSpc>
              <a:defRPr i="0" sz="4400" b="1">
                <a:solidFill>
                  <a:srgbClr val="FFFFFF"/>
                </a:solidFill>
                <a:latin typeface="Open Sans"/>
              </a:defRPr>
            </a:pPr>
            <a:r>
              <a:rPr i="0" sz="4400" b="1">
                <a:solidFill>
                  <a:srgbClr val="FFFFFF"/>
                </a:solidFill>
                <a:latin typeface="Open Sans"/>
              </a:rPr>
              <a:t>2</a:t>
            </a:r>
          </a:p>
        </p:txBody>
      </p:sp>
      <p:sp>
        <p:nvSpPr>
          <p:cNvPr id="8" name="TextBox 7"/>
          <p:cNvSpPr txBox="1"/>
          <p:nvPr/>
        </p:nvSpPr>
        <p:spPr>
          <a:xfrm>
            <a:off x="9512300" y="1854200"/>
            <a:ext cx="5651500" cy="355600"/>
          </a:xfrm>
          <a:prstGeom prst="rect">
            <a:avLst/>
          </a:prstGeom>
          <a:noFill/>
        </p:spPr>
        <p:txBody>
          <a:bodyPr wrap="square" lIns="0" rIns="0" tIns="0" bIns="0">
            <a:spAutoFit/>
          </a:bodyPr>
          <a:lstStyle/>
          <a:p>
            <a:pPr algn="l">
              <a:defRPr i="0" sz="2200" b="1">
                <a:solidFill>
                  <a:srgbClr val="FFFFFF"/>
                </a:solidFill>
                <a:latin typeface="Open Sans"/>
              </a:defRPr>
            </a:pPr>
            <a:r>
              <a:rPr i="0" sz="2200" b="1">
                <a:solidFill>
                  <a:srgbClr val="FFFFFF"/>
                </a:solidFill>
                <a:latin typeface="Open Sans"/>
              </a:rPr>
              <a:t>Deeper Analysis in Flow Table</a:t>
            </a:r>
          </a:p>
        </p:txBody>
      </p:sp>
      <p:sp>
        <p:nvSpPr>
          <p:cNvPr id="9" name="TextBox 8"/>
          <p:cNvSpPr txBox="1"/>
          <p:nvPr/>
        </p:nvSpPr>
        <p:spPr>
          <a:xfrm>
            <a:off x="9512300" y="2349500"/>
            <a:ext cx="5651500" cy="660400"/>
          </a:xfrm>
          <a:prstGeom prst="rect">
            <a:avLst/>
          </a:prstGeom>
          <a:noFill/>
        </p:spPr>
        <p:txBody>
          <a:bodyPr wrap="square" lIns="0" rIns="0" tIns="0" bIns="0">
            <a:spAutoFit/>
          </a:bodyPr>
          <a:lstStyle/>
          <a:p>
            <a:pPr algn="l">
              <a:defRPr i="0" sz="1600" b="0">
                <a:solidFill>
                  <a:srgbClr val="FFFFFF"/>
                </a:solidFill>
                <a:latin typeface="Open Sans"/>
              </a:defRPr>
            </a:pPr>
            <a:r>
              <a:rPr i="0" sz="1600" b="0">
                <a:solidFill>
                  <a:srgbClr val="FFFFFF"/>
                </a:solidFill>
                <a:latin typeface="Open Sans"/>
              </a:rPr>
              <a:t>The flow table below the graph enables detailed drill-down into specific policy breaches for further investigation.</a:t>
            </a:r>
          </a:p>
        </p:txBody>
      </p:sp>
      <p:sp>
        <p:nvSpPr>
          <p:cNvPr id="10" name="TextBox 9"/>
          <p:cNvSpPr txBox="1"/>
          <p:nvPr/>
        </p:nvSpPr>
        <p:spPr>
          <a:xfrm>
            <a:off x="1117600" y="3771900"/>
            <a:ext cx="342900" cy="1168400"/>
          </a:xfrm>
          <a:prstGeom prst="rect">
            <a:avLst/>
          </a:prstGeom>
          <a:noFill/>
        </p:spPr>
        <p:txBody>
          <a:bodyPr wrap="square" lIns="0" rIns="0" tIns="0" bIns="0">
            <a:spAutoFit/>
          </a:bodyPr>
          <a:lstStyle/>
          <a:p>
            <a:pPr algn="l">
              <a:lnSpc>
                <a:spcPct val="70000"/>
              </a:lnSpc>
              <a:defRPr i="0" sz="4400" b="1">
                <a:solidFill>
                  <a:srgbClr val="FFFFFF"/>
                </a:solidFill>
                <a:latin typeface="Open Sans"/>
              </a:defRPr>
            </a:pPr>
            <a:r>
              <a:rPr i="0" sz="4400" b="1">
                <a:solidFill>
                  <a:srgbClr val="FFFFFF"/>
                </a:solidFill>
                <a:latin typeface="Open Sans"/>
              </a:rPr>
              <a:t>3</a:t>
            </a:r>
          </a:p>
        </p:txBody>
      </p:sp>
      <p:sp>
        <p:nvSpPr>
          <p:cNvPr id="11" name="TextBox 10"/>
          <p:cNvSpPr txBox="1"/>
          <p:nvPr/>
        </p:nvSpPr>
        <p:spPr>
          <a:xfrm>
            <a:off x="1739900" y="3771900"/>
            <a:ext cx="5651500" cy="355600"/>
          </a:xfrm>
          <a:prstGeom prst="rect">
            <a:avLst/>
          </a:prstGeom>
          <a:noFill/>
        </p:spPr>
        <p:txBody>
          <a:bodyPr wrap="square" lIns="0" rIns="0" tIns="0" bIns="0">
            <a:spAutoFit/>
          </a:bodyPr>
          <a:lstStyle/>
          <a:p>
            <a:pPr algn="l">
              <a:defRPr i="0" sz="2200" b="1">
                <a:solidFill>
                  <a:srgbClr val="FFFFFF"/>
                </a:solidFill>
                <a:latin typeface="Open Sans"/>
              </a:defRPr>
            </a:pPr>
            <a:r>
              <a:rPr i="0" sz="2200" b="1">
                <a:solidFill>
                  <a:srgbClr val="FFFFFF"/>
                </a:solidFill>
                <a:latin typeface="Open Sans"/>
              </a:rPr>
              <a:t>Immediate Identification Drives Mitigation</a:t>
            </a:r>
          </a:p>
        </p:txBody>
      </p:sp>
      <p:sp>
        <p:nvSpPr>
          <p:cNvPr id="12" name="TextBox 11"/>
          <p:cNvSpPr txBox="1"/>
          <p:nvPr/>
        </p:nvSpPr>
        <p:spPr>
          <a:xfrm>
            <a:off x="1739900" y="4279900"/>
            <a:ext cx="5651500" cy="660400"/>
          </a:xfrm>
          <a:prstGeom prst="rect">
            <a:avLst/>
          </a:prstGeom>
          <a:noFill/>
        </p:spPr>
        <p:txBody>
          <a:bodyPr wrap="square" lIns="0" rIns="0" tIns="0" bIns="0">
            <a:spAutoFit/>
          </a:bodyPr>
          <a:lstStyle/>
          <a:p>
            <a:pPr algn="l">
              <a:defRPr i="0" sz="1600" b="0">
                <a:solidFill>
                  <a:srgbClr val="FFFFFF"/>
                </a:solidFill>
                <a:latin typeface="Open Sans"/>
              </a:defRPr>
            </a:pPr>
            <a:r>
              <a:rPr i="0" sz="1600" b="0">
                <a:solidFill>
                  <a:srgbClr val="FFFFFF"/>
                </a:solidFill>
                <a:latin typeface="Open Sans"/>
              </a:rPr>
              <a:t>Quickly spotting violations allows teams to respond rapidly, reducing risk and potential impact.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609600"/>
            <a:ext cx="13487400" cy="914400"/>
          </a:xfrm>
          <a:prstGeom prst="rect">
            <a:avLst/>
          </a:prstGeom>
          <a:noFill/>
        </p:spPr>
        <p:txBody>
          <a:bodyPr wrap="square" lIns="0" rIns="0" tIns="0" bIns="0">
            <a:spAutoFit/>
          </a:bodyPr>
          <a:lstStyle/>
          <a:p>
            <a:pPr algn="l">
              <a:lnSpc>
                <a:spcPct val="83000"/>
              </a:lnSpc>
              <a:defRPr i="0" sz="6400" b="1">
                <a:solidFill>
                  <a:srgbClr val="FFFFFF"/>
                </a:solidFill>
                <a:latin typeface="Open Sans"/>
              </a:defRPr>
            </a:pPr>
            <a:r>
              <a:rPr i="0" sz="6400" b="1">
                <a:solidFill>
                  <a:srgbClr val="FFFFFF"/>
                </a:solidFill>
                <a:latin typeface="Open Sans"/>
              </a:rPr>
              <a:t>Alerts and Policy Update Workflow</a:t>
            </a:r>
          </a:p>
        </p:txBody>
      </p:sp>
      <p:pic>
        <p:nvPicPr>
          <p:cNvPr id="3" name="Picture 2" descr="8ab3e4b2-653d-4a54-8665-1006c61f7245.png"/>
          <p:cNvPicPr>
            <a:picLocks noChangeAspect="1"/>
          </p:cNvPicPr>
          <p:nvPr/>
        </p:nvPicPr>
        <p:blipFill>
          <a:blip r:embed="rId3"/>
          <a:stretch>
            <a:fillRect/>
          </a:stretch>
        </p:blipFill>
        <p:spPr>
          <a:xfrm>
            <a:off x="812800" y="2032000"/>
            <a:ext cx="6604000" cy="6604000"/>
          </a:xfrm>
          <a:prstGeom prst="rect">
            <a:avLst/>
          </a:prstGeom>
        </p:spPr>
      </p:pic>
      <p:sp>
        <p:nvSpPr>
          <p:cNvPr id="4" name="TextBox 3"/>
          <p:cNvSpPr txBox="1"/>
          <p:nvPr/>
        </p:nvSpPr>
        <p:spPr>
          <a:xfrm>
            <a:off x="8026400" y="1930400"/>
            <a:ext cx="7442200" cy="1066800"/>
          </a:xfrm>
          <a:prstGeom prst="rect">
            <a:avLst/>
          </a:prstGeom>
          <a:noFill/>
        </p:spPr>
        <p:txBody>
          <a:bodyPr wrap="square" lIns="0" rIns="0" tIns="0" bIns="0">
            <a:spAutoFit/>
          </a:bodyPr>
          <a:lstStyle/>
          <a:p>
            <a:pPr algn="l">
              <a:lnSpc>
                <a:spcPct val="126000"/>
              </a:lnSpc>
              <a:defRPr i="0" sz="1800" b="0">
                <a:solidFill>
                  <a:srgbClr val="FFFFFF"/>
                </a:solidFill>
                <a:latin typeface="Open Sans"/>
              </a:defRPr>
            </a:pPr>
            <a:r>
              <a:rPr i="0" sz="1800" b="0">
                <a:solidFill>
                  <a:srgbClr val="FFFFFF"/>
                </a:solidFill>
                <a:latin typeface="Open Sans"/>
              </a:rPr>
              <a:t>Effective alert management and policy updates help maintain security. Proactive monitoring ensures swift responses to incidents while regular policy revisions ensure ongoing compliance.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609600"/>
            <a:ext cx="13487400" cy="1828800"/>
          </a:xfrm>
          <a:prstGeom prst="rect">
            <a:avLst/>
          </a:prstGeom>
          <a:noFill/>
        </p:spPr>
        <p:txBody>
          <a:bodyPr wrap="square" lIns="0" rIns="0" tIns="0" bIns="0">
            <a:spAutoFit/>
          </a:bodyPr>
          <a:lstStyle/>
          <a:p>
            <a:pPr algn="l">
              <a:lnSpc>
                <a:spcPct val="83000"/>
              </a:lnSpc>
              <a:defRPr i="0" sz="6400" b="1">
                <a:solidFill>
                  <a:srgbClr val="FFFFFF"/>
                </a:solidFill>
                <a:latin typeface="Open Sans"/>
              </a:defRPr>
            </a:pPr>
            <a:r>
              <a:rPr i="0" sz="6400" b="1">
                <a:solidFill>
                  <a:srgbClr val="FFFFFF"/>
                </a:solidFill>
                <a:latin typeface="Open Sans"/>
              </a:rPr>
              <a:t>Visualization and Monitoring: Key Features</a:t>
            </a:r>
          </a:p>
        </p:txBody>
      </p:sp>
      <p:pic>
        <p:nvPicPr>
          <p:cNvPr id="3" name="Picture 2" descr="8e50f707-6154-43d7-8db6-ae142745038d.png"/>
          <p:cNvPicPr>
            <a:picLocks noChangeAspect="1"/>
          </p:cNvPicPr>
          <p:nvPr/>
        </p:nvPicPr>
        <p:blipFill>
          <a:blip r:embed="rId3"/>
          <a:stretch>
            <a:fillRect/>
          </a:stretch>
        </p:blipFill>
        <p:spPr>
          <a:xfrm>
            <a:off x="812800" y="2946400"/>
            <a:ext cx="6604000" cy="6604000"/>
          </a:xfrm>
          <a:prstGeom prst="rect">
            <a:avLst/>
          </a:prstGeom>
        </p:spPr>
      </p:pic>
      <p:sp>
        <p:nvSpPr>
          <p:cNvPr id="4" name="TextBox 3"/>
          <p:cNvSpPr txBox="1"/>
          <p:nvPr/>
        </p:nvSpPr>
        <p:spPr>
          <a:xfrm>
            <a:off x="8026400" y="2844800"/>
            <a:ext cx="7442200" cy="1066800"/>
          </a:xfrm>
          <a:prstGeom prst="rect">
            <a:avLst/>
          </a:prstGeom>
          <a:noFill/>
        </p:spPr>
        <p:txBody>
          <a:bodyPr wrap="square" lIns="0" rIns="0" tIns="0" bIns="0">
            <a:spAutoFit/>
          </a:bodyPr>
          <a:lstStyle/>
          <a:p>
            <a:pPr algn="l">
              <a:lnSpc>
                <a:spcPct val="126000"/>
              </a:lnSpc>
              <a:defRPr i="0" sz="1800" b="0">
                <a:solidFill>
                  <a:srgbClr val="FFFFFF"/>
                </a:solidFill>
                <a:latin typeface="Open Sans"/>
              </a:defRPr>
            </a:pPr>
            <a:r>
              <a:rPr i="0" sz="1800" b="0">
                <a:solidFill>
                  <a:srgbClr val="FFFFFF"/>
                </a:solidFill>
                <a:latin typeface="Open Sans"/>
              </a:rPr>
              <a:t>Empower network visibility with advanced mapping, real-time monitoring, and flexible refresh options to enhance micro-segmentation and system communication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609600"/>
            <a:ext cx="13487400" cy="914400"/>
          </a:xfrm>
          <a:prstGeom prst="rect">
            <a:avLst/>
          </a:prstGeom>
          <a:noFill/>
        </p:spPr>
        <p:txBody>
          <a:bodyPr wrap="square" lIns="0" rIns="0" tIns="0" bIns="0">
            <a:spAutoFit/>
          </a:bodyPr>
          <a:lstStyle/>
          <a:p>
            <a:pPr algn="l">
              <a:lnSpc>
                <a:spcPct val="83000"/>
              </a:lnSpc>
              <a:defRPr i="0" sz="6400" b="1">
                <a:solidFill>
                  <a:srgbClr val="FFFFFF"/>
                </a:solidFill>
                <a:latin typeface="Open Sans"/>
              </a:defRPr>
            </a:pPr>
            <a:r>
              <a:rPr i="0" sz="6400" b="1">
                <a:solidFill>
                  <a:srgbClr val="FFFFFF"/>
                </a:solidFill>
                <a:latin typeface="Open Sans"/>
              </a:rPr>
              <a:t>Data Flow Monitoring: Time &amp; Filters</a:t>
            </a:r>
          </a:p>
        </p:txBody>
      </p:sp>
      <p:pic>
        <p:nvPicPr>
          <p:cNvPr id="3" name="Picture 2" descr="53b98c95-1b42-4e53-8054-d884ff7b8740.png"/>
          <p:cNvPicPr>
            <a:picLocks noChangeAspect="1"/>
          </p:cNvPicPr>
          <p:nvPr/>
        </p:nvPicPr>
        <p:blipFill>
          <a:blip r:embed="rId3"/>
          <a:stretch>
            <a:fillRect/>
          </a:stretch>
        </p:blipFill>
        <p:spPr>
          <a:xfrm>
            <a:off x="812800" y="2032000"/>
            <a:ext cx="6604000" cy="6604000"/>
          </a:xfrm>
          <a:prstGeom prst="rect">
            <a:avLst/>
          </a:prstGeom>
        </p:spPr>
      </p:pic>
      <p:sp>
        <p:nvSpPr>
          <p:cNvPr id="4" name="TextBox 3"/>
          <p:cNvSpPr txBox="1"/>
          <p:nvPr/>
        </p:nvSpPr>
        <p:spPr>
          <a:xfrm>
            <a:off x="8026400" y="1930400"/>
            <a:ext cx="7442200" cy="1066800"/>
          </a:xfrm>
          <a:prstGeom prst="rect">
            <a:avLst/>
          </a:prstGeom>
          <a:noFill/>
        </p:spPr>
        <p:txBody>
          <a:bodyPr wrap="square" lIns="0" rIns="0" tIns="0" bIns="0">
            <a:spAutoFit/>
          </a:bodyPr>
          <a:lstStyle/>
          <a:p>
            <a:pPr algn="l">
              <a:lnSpc>
                <a:spcPct val="126000"/>
              </a:lnSpc>
              <a:defRPr i="0" sz="1800" b="0">
                <a:solidFill>
                  <a:srgbClr val="FFFFFF"/>
                </a:solidFill>
                <a:latin typeface="Open Sans"/>
              </a:defRPr>
            </a:pPr>
            <a:r>
              <a:rPr i="0" sz="1800" b="0">
                <a:solidFill>
                  <a:srgbClr val="FFFFFF"/>
                </a:solidFill>
                <a:latin typeface="Open Sans"/>
              </a:rPr>
              <a:t>Control how and when data flows are viewed using selectable time windows and custom filters. Automated updates ensure up-to-date analysis for targeted operational decisions.</a:t>
            </a:r>
          </a:p>
        </p:txBody>
      </p:sp>
      <p:sp>
        <p:nvSpPr>
          <p:cNvPr id="5" name="TextBox 4"/>
          <p:cNvSpPr txBox="1"/>
          <p:nvPr/>
        </p:nvSpPr>
        <p:spPr>
          <a:xfrm>
            <a:off x="9245600" y="3505200"/>
            <a:ext cx="6223000" cy="355600"/>
          </a:xfrm>
          <a:prstGeom prst="rect">
            <a:avLst/>
          </a:prstGeom>
          <a:noFill/>
        </p:spPr>
        <p:txBody>
          <a:bodyPr wrap="square" lIns="0" rIns="0" tIns="0" bIns="0">
            <a:spAutoFit/>
          </a:bodyPr>
          <a:lstStyle/>
          <a:p>
            <a:pPr algn="l">
              <a:lnSpc>
                <a:spcPct val="97000"/>
              </a:lnSpc>
              <a:defRPr i="0" sz="2200" b="1">
                <a:solidFill>
                  <a:srgbClr val="FFFFFF"/>
                </a:solidFill>
                <a:latin typeface="Open Sans"/>
              </a:defRPr>
            </a:pPr>
            <a:r>
              <a:rPr i="0" sz="2200" b="1">
                <a:solidFill>
                  <a:srgbClr val="FFFFFF"/>
                </a:solidFill>
                <a:latin typeface="Open Sans"/>
              </a:rPr>
              <a:t>Time Windows</a:t>
            </a:r>
          </a:p>
        </p:txBody>
      </p:sp>
      <p:sp>
        <p:nvSpPr>
          <p:cNvPr id="6" name="TextBox 5"/>
          <p:cNvSpPr txBox="1"/>
          <p:nvPr/>
        </p:nvSpPr>
        <p:spPr>
          <a:xfrm>
            <a:off x="9245600" y="3962400"/>
            <a:ext cx="6223000" cy="304800"/>
          </a:xfrm>
          <a:prstGeom prst="rect">
            <a:avLst/>
          </a:prstGeom>
          <a:noFill/>
        </p:spPr>
        <p:txBody>
          <a:bodyPr wrap="square" lIns="0" rIns="0" tIns="0" bIns="0">
            <a:spAutoFit/>
          </a:bodyPr>
          <a:lstStyle/>
          <a:p>
            <a:pPr algn="l">
              <a:defRPr i="0" sz="1600" b="0">
                <a:solidFill>
                  <a:srgbClr val="FFFFFF"/>
                </a:solidFill>
                <a:latin typeface="Open Sans"/>
              </a:defRPr>
            </a:pPr>
            <a:r>
              <a:rPr i="0" sz="1600" b="0">
                <a:solidFill>
                  <a:srgbClr val="FFFFFF"/>
                </a:solidFill>
                <a:latin typeface="Open Sans"/>
              </a:rPr>
              <a:t>Switch between last 15m, hour, or 24h for optimal traffic insight.</a:t>
            </a:r>
          </a:p>
        </p:txBody>
      </p:sp>
      <p:sp>
        <p:nvSpPr>
          <p:cNvPr id="7" name="TextBox 6"/>
          <p:cNvSpPr txBox="1"/>
          <p:nvPr/>
        </p:nvSpPr>
        <p:spPr>
          <a:xfrm>
            <a:off x="9245600" y="4826000"/>
            <a:ext cx="6223000" cy="355600"/>
          </a:xfrm>
          <a:prstGeom prst="rect">
            <a:avLst/>
          </a:prstGeom>
          <a:noFill/>
        </p:spPr>
        <p:txBody>
          <a:bodyPr wrap="square" lIns="0" rIns="0" tIns="0" bIns="0">
            <a:spAutoFit/>
          </a:bodyPr>
          <a:lstStyle/>
          <a:p>
            <a:pPr algn="l">
              <a:lnSpc>
                <a:spcPct val="97000"/>
              </a:lnSpc>
              <a:defRPr i="0" sz="2200" b="1">
                <a:solidFill>
                  <a:srgbClr val="FFFFFF"/>
                </a:solidFill>
                <a:latin typeface="Open Sans"/>
              </a:defRPr>
            </a:pPr>
            <a:r>
              <a:rPr i="0" sz="2200" b="1">
                <a:solidFill>
                  <a:srgbClr val="FFFFFF"/>
                </a:solidFill>
                <a:latin typeface="Open Sans"/>
              </a:rPr>
              <a:t>Auto-Refresh</a:t>
            </a:r>
          </a:p>
        </p:txBody>
      </p:sp>
      <p:sp>
        <p:nvSpPr>
          <p:cNvPr id="8" name="TextBox 7"/>
          <p:cNvSpPr txBox="1"/>
          <p:nvPr/>
        </p:nvSpPr>
        <p:spPr>
          <a:xfrm>
            <a:off x="9245600" y="5283200"/>
            <a:ext cx="6223000" cy="304800"/>
          </a:xfrm>
          <a:prstGeom prst="rect">
            <a:avLst/>
          </a:prstGeom>
          <a:noFill/>
        </p:spPr>
        <p:txBody>
          <a:bodyPr wrap="square" lIns="0" rIns="0" tIns="0" bIns="0">
            <a:spAutoFit/>
          </a:bodyPr>
          <a:lstStyle/>
          <a:p>
            <a:pPr algn="l">
              <a:defRPr i="0" sz="1600" b="0">
                <a:solidFill>
                  <a:srgbClr val="FFFFFF"/>
                </a:solidFill>
                <a:latin typeface="Open Sans"/>
              </a:defRPr>
            </a:pPr>
            <a:r>
              <a:rPr i="0" sz="1600" b="0">
                <a:solidFill>
                  <a:srgbClr val="FFFFFF"/>
                </a:solidFill>
                <a:latin typeface="Open Sans"/>
              </a:rPr>
              <a:t>Data auto-updates every 15m if not in use, minimizing lag.</a:t>
            </a:r>
          </a:p>
        </p:txBody>
      </p:sp>
      <p:sp>
        <p:nvSpPr>
          <p:cNvPr id="9" name="TextBox 8"/>
          <p:cNvSpPr txBox="1"/>
          <p:nvPr/>
        </p:nvSpPr>
        <p:spPr>
          <a:xfrm>
            <a:off x="9245600" y="6146800"/>
            <a:ext cx="6223000" cy="355600"/>
          </a:xfrm>
          <a:prstGeom prst="rect">
            <a:avLst/>
          </a:prstGeom>
          <a:noFill/>
        </p:spPr>
        <p:txBody>
          <a:bodyPr wrap="square" lIns="0" rIns="0" tIns="0" bIns="0">
            <a:spAutoFit/>
          </a:bodyPr>
          <a:lstStyle/>
          <a:p>
            <a:pPr algn="l">
              <a:lnSpc>
                <a:spcPct val="97000"/>
              </a:lnSpc>
              <a:defRPr i="0" sz="2200" b="1">
                <a:solidFill>
                  <a:srgbClr val="FFFFFF"/>
                </a:solidFill>
                <a:latin typeface="Open Sans"/>
              </a:defRPr>
            </a:pPr>
            <a:r>
              <a:rPr i="0" sz="2200" b="1">
                <a:solidFill>
                  <a:srgbClr val="FFFFFF"/>
                </a:solidFill>
                <a:latin typeface="Open Sans"/>
              </a:rPr>
              <a:t>Custom Filters</a:t>
            </a:r>
          </a:p>
        </p:txBody>
      </p:sp>
      <p:sp>
        <p:nvSpPr>
          <p:cNvPr id="10" name="TextBox 9"/>
          <p:cNvSpPr txBox="1"/>
          <p:nvPr/>
        </p:nvSpPr>
        <p:spPr>
          <a:xfrm>
            <a:off x="9245600" y="6604000"/>
            <a:ext cx="6223000" cy="304800"/>
          </a:xfrm>
          <a:prstGeom prst="rect">
            <a:avLst/>
          </a:prstGeom>
          <a:noFill/>
        </p:spPr>
        <p:txBody>
          <a:bodyPr wrap="square" lIns="0" rIns="0" tIns="0" bIns="0">
            <a:spAutoFit/>
          </a:bodyPr>
          <a:lstStyle/>
          <a:p>
            <a:pPr algn="l">
              <a:defRPr i="0" sz="1600" b="0">
                <a:solidFill>
                  <a:srgbClr val="FFFFFF"/>
                </a:solidFill>
                <a:latin typeface="Open Sans"/>
              </a:defRPr>
            </a:pPr>
            <a:r>
              <a:rPr i="0" sz="1600" b="0">
                <a:solidFill>
                  <a:srgbClr val="FFFFFF"/>
                </a:solidFill>
                <a:latin typeface="Open Sans"/>
              </a:rPr>
              <a:t>Apply filters to focus on traffic patterns and incident analysis.</a:t>
            </a:r>
          </a:p>
        </p:txBody>
      </p:sp>
      <p:sp>
        <p:nvSpPr>
          <p:cNvPr id="11" name="TextBox 10"/>
          <p:cNvSpPr txBox="1"/>
          <p:nvPr/>
        </p:nvSpPr>
        <p:spPr>
          <a:xfrm>
            <a:off x="9245600" y="7467600"/>
            <a:ext cx="6223000" cy="355600"/>
          </a:xfrm>
          <a:prstGeom prst="rect">
            <a:avLst/>
          </a:prstGeom>
          <a:noFill/>
        </p:spPr>
        <p:txBody>
          <a:bodyPr wrap="square" lIns="0" rIns="0" tIns="0" bIns="0">
            <a:spAutoFit/>
          </a:bodyPr>
          <a:lstStyle/>
          <a:p>
            <a:pPr algn="l">
              <a:lnSpc>
                <a:spcPct val="97000"/>
              </a:lnSpc>
              <a:defRPr i="0" sz="2200" b="1">
                <a:solidFill>
                  <a:srgbClr val="FFFFFF"/>
                </a:solidFill>
                <a:latin typeface="Open Sans"/>
              </a:defRPr>
            </a:pPr>
            <a:r>
              <a:rPr i="0" sz="2200" b="1">
                <a:solidFill>
                  <a:srgbClr val="FFFFFF"/>
                </a:solidFill>
                <a:latin typeface="Open Sans"/>
              </a:rPr>
              <a:t>Active Monitoring</a:t>
            </a:r>
          </a:p>
        </p:txBody>
      </p:sp>
      <p:sp>
        <p:nvSpPr>
          <p:cNvPr id="12" name="TextBox 11"/>
          <p:cNvSpPr txBox="1"/>
          <p:nvPr/>
        </p:nvSpPr>
        <p:spPr>
          <a:xfrm>
            <a:off x="9245600" y="7924800"/>
            <a:ext cx="6223000" cy="304800"/>
          </a:xfrm>
          <a:prstGeom prst="rect">
            <a:avLst/>
          </a:prstGeom>
          <a:noFill/>
        </p:spPr>
        <p:txBody>
          <a:bodyPr wrap="square" lIns="0" rIns="0" tIns="0" bIns="0">
            <a:spAutoFit/>
          </a:bodyPr>
          <a:lstStyle/>
          <a:p>
            <a:pPr algn="l">
              <a:defRPr i="0" sz="1600" b="0">
                <a:solidFill>
                  <a:srgbClr val="FFFFFF"/>
                </a:solidFill>
                <a:latin typeface="Open Sans"/>
              </a:defRPr>
            </a:pPr>
            <a:r>
              <a:rPr i="0" sz="1600" b="0">
                <a:solidFill>
                  <a:srgbClr val="FFFFFF"/>
                </a:solidFill>
                <a:latin typeface="Open Sans"/>
              </a:rPr>
              <a:t>90% of sessions remain active, ensuring comprehensive visibility.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09b32617-0cd5-4de0-afef-d6ef74a9220e.png"/>
          <p:cNvPicPr>
            <a:picLocks noChangeAspect="1"/>
          </p:cNvPicPr>
          <p:nvPr/>
        </p:nvPicPr>
        <p:blipFill>
          <a:blip r:embed="rId3"/>
          <a:stretch>
            <a:fillRect/>
          </a:stretch>
        </p:blipFill>
        <p:spPr>
          <a:xfrm>
            <a:off x="0" y="0"/>
            <a:ext cx="16256000" cy="9144000"/>
          </a:xfrm>
          <a:prstGeom prst="rect">
            <a:avLst/>
          </a:prstGeom>
        </p:spPr>
      </p:pic>
      <p:sp>
        <p:nvSpPr>
          <p:cNvPr id="3" name="TextBox 2"/>
          <p:cNvSpPr txBox="1"/>
          <p:nvPr/>
        </p:nvSpPr>
        <p:spPr>
          <a:xfrm>
            <a:off x="3162300" y="1397000"/>
            <a:ext cx="9944100" cy="812800"/>
          </a:xfrm>
          <a:prstGeom prst="rect">
            <a:avLst/>
          </a:prstGeom>
          <a:noFill/>
        </p:spPr>
        <p:txBody>
          <a:bodyPr wrap="square" lIns="0" rIns="0" tIns="0" bIns="0">
            <a:spAutoFit/>
          </a:bodyPr>
          <a:lstStyle/>
          <a:p>
            <a:pPr algn="ctr">
              <a:lnSpc>
                <a:spcPct val="84000"/>
              </a:lnSpc>
              <a:defRPr i="0" sz="5600" b="1">
                <a:solidFill>
                  <a:srgbClr val="FFFFFF"/>
                </a:solidFill>
                <a:latin typeface="__inter_fd044d"/>
              </a:defRPr>
            </a:pPr>
            <a:r>
              <a:rPr i="0" sz="5600" b="1">
                <a:solidFill>
                  <a:srgbClr val="FFFFFF"/>
                </a:solidFill>
                <a:latin typeface="__inter_fd044d"/>
              </a:rPr>
              <a:t>EVE Threat Confidence Blocking</a:t>
            </a:r>
          </a:p>
        </p:txBody>
      </p:sp>
      <p:sp>
        <p:nvSpPr>
          <p:cNvPr id="4" name="TextBox 3"/>
          <p:cNvSpPr txBox="1"/>
          <p:nvPr/>
        </p:nvSpPr>
        <p:spPr>
          <a:xfrm>
            <a:off x="2755900" y="2819400"/>
            <a:ext cx="1549400" cy="203200"/>
          </a:xfrm>
          <a:prstGeom prst="rect">
            <a:avLst/>
          </a:prstGeom>
          <a:noFill/>
        </p:spPr>
        <p:txBody>
          <a:bodyPr wrap="square" lIns="0" rIns="0" tIns="0" bIns="0">
            <a:spAutoFit/>
          </a:bodyPr>
          <a:lstStyle/>
          <a:p>
            <a:pPr algn="l">
              <a:lnSpc>
                <a:spcPct val="70000"/>
              </a:lnSpc>
              <a:defRPr i="0" sz="1600" b="0">
                <a:solidFill>
                  <a:srgbClr val="CBD5E1"/>
                </a:solidFill>
                <a:latin typeface="__inter_fd044d"/>
              </a:defRPr>
            </a:pPr>
            <a:r>
              <a:rPr i="0" sz="1600" b="0">
                <a:solidFill>
                  <a:srgbClr val="CBD5E1"/>
                </a:solidFill>
                <a:latin typeface="__inter_fd044d"/>
              </a:rPr>
              <a:t>Automation Rate</a:t>
            </a:r>
          </a:p>
        </p:txBody>
      </p:sp>
      <p:sp>
        <p:nvSpPr>
          <p:cNvPr id="5" name="TextBox 4"/>
          <p:cNvSpPr txBox="1"/>
          <p:nvPr/>
        </p:nvSpPr>
        <p:spPr>
          <a:xfrm>
            <a:off x="2806700" y="3124200"/>
            <a:ext cx="1473200" cy="711200"/>
          </a:xfrm>
          <a:prstGeom prst="rect">
            <a:avLst/>
          </a:prstGeom>
          <a:noFill/>
        </p:spPr>
        <p:txBody>
          <a:bodyPr wrap="square" lIns="0" rIns="0" tIns="0" bIns="0">
            <a:spAutoFit/>
          </a:bodyPr>
          <a:lstStyle/>
          <a:p>
            <a:pPr algn="l">
              <a:lnSpc>
                <a:spcPct val="70000"/>
              </a:lnSpc>
              <a:defRPr i="0" sz="5600" b="1">
                <a:solidFill>
                  <a:srgbClr val="FFFFFF"/>
                </a:solidFill>
                <a:latin typeface="__inter_fd044d"/>
              </a:defRPr>
            </a:pPr>
            <a:r>
              <a:rPr i="0" sz="5600" b="1">
                <a:solidFill>
                  <a:srgbClr val="FFFFFF"/>
                </a:solidFill>
                <a:latin typeface="__inter_fd044d"/>
              </a:rPr>
              <a:t>98%</a:t>
            </a:r>
          </a:p>
        </p:txBody>
      </p:sp>
      <p:pic>
        <p:nvPicPr>
          <p:cNvPr id="6" name="Picture 5" descr="a9fabea2-c616-402b-a8e0-d859d1c9101d.png"/>
          <p:cNvPicPr>
            <a:picLocks noChangeAspect="1"/>
          </p:cNvPicPr>
          <p:nvPr/>
        </p:nvPicPr>
        <p:blipFill>
          <a:blip r:embed="rId4"/>
          <a:stretch>
            <a:fillRect/>
          </a:stretch>
        </p:blipFill>
        <p:spPr>
          <a:xfrm>
            <a:off x="1231900" y="4140200"/>
            <a:ext cx="4572000" cy="1168400"/>
          </a:xfrm>
          <a:prstGeom prst="rect">
            <a:avLst/>
          </a:prstGeom>
        </p:spPr>
      </p:pic>
      <p:sp>
        <p:nvSpPr>
          <p:cNvPr id="7" name="TextBox 6"/>
          <p:cNvSpPr txBox="1"/>
          <p:nvPr/>
        </p:nvSpPr>
        <p:spPr>
          <a:xfrm>
            <a:off x="1536700" y="4343400"/>
            <a:ext cx="3987800" cy="558800"/>
          </a:xfrm>
          <a:prstGeom prst="rect">
            <a:avLst/>
          </a:prstGeom>
          <a:noFill/>
        </p:spPr>
        <p:txBody>
          <a:bodyPr wrap="square" lIns="0" rIns="0" tIns="0" bIns="0">
            <a:spAutoFit/>
          </a:bodyPr>
          <a:lstStyle/>
          <a:p>
            <a:pPr algn="ctr">
              <a:defRPr i="0" sz="1600" b="1">
                <a:solidFill>
                  <a:srgbClr val="FFFFFF"/>
                </a:solidFill>
                <a:latin typeface="__inter_fd044d"/>
              </a:defRPr>
            </a:pPr>
            <a:r>
              <a:rPr i="0" sz="1600" b="1">
                <a:solidFill>
                  <a:srgbClr val="FFFFFF"/>
                </a:solidFill>
                <a:latin typeface="__inter_fd044d"/>
              </a:rPr>
              <a:t>Automated threat responses with EVE in 2025.</a:t>
            </a:r>
          </a:p>
        </p:txBody>
      </p:sp>
      <p:sp>
        <p:nvSpPr>
          <p:cNvPr id="8" name="TextBox 7"/>
          <p:cNvSpPr txBox="1"/>
          <p:nvPr/>
        </p:nvSpPr>
        <p:spPr>
          <a:xfrm>
            <a:off x="7137400" y="2819400"/>
            <a:ext cx="1993900" cy="203200"/>
          </a:xfrm>
          <a:prstGeom prst="rect">
            <a:avLst/>
          </a:prstGeom>
          <a:noFill/>
        </p:spPr>
        <p:txBody>
          <a:bodyPr wrap="square" lIns="0" rIns="0" tIns="0" bIns="0">
            <a:spAutoFit/>
          </a:bodyPr>
          <a:lstStyle/>
          <a:p>
            <a:pPr algn="l">
              <a:lnSpc>
                <a:spcPct val="70000"/>
              </a:lnSpc>
              <a:defRPr i="0" sz="1600" b="0">
                <a:solidFill>
                  <a:srgbClr val="CBD5E1"/>
                </a:solidFill>
                <a:latin typeface="__inter_fd044d"/>
              </a:defRPr>
            </a:pPr>
            <a:r>
              <a:rPr i="0" sz="1600" b="0">
                <a:solidFill>
                  <a:srgbClr val="CBD5E1"/>
                </a:solidFill>
                <a:latin typeface="__inter_fd044d"/>
              </a:rPr>
              <a:t>High Threats Blocked</a:t>
            </a:r>
          </a:p>
        </p:txBody>
      </p:sp>
      <p:sp>
        <p:nvSpPr>
          <p:cNvPr id="9" name="TextBox 8"/>
          <p:cNvSpPr txBox="1"/>
          <p:nvPr/>
        </p:nvSpPr>
        <p:spPr>
          <a:xfrm>
            <a:off x="7404100" y="3124200"/>
            <a:ext cx="1485900" cy="711200"/>
          </a:xfrm>
          <a:prstGeom prst="rect">
            <a:avLst/>
          </a:prstGeom>
          <a:noFill/>
        </p:spPr>
        <p:txBody>
          <a:bodyPr wrap="square" lIns="0" rIns="0" tIns="0" bIns="0">
            <a:spAutoFit/>
          </a:bodyPr>
          <a:lstStyle/>
          <a:p>
            <a:pPr algn="l">
              <a:lnSpc>
                <a:spcPct val="70000"/>
              </a:lnSpc>
              <a:defRPr i="0" sz="5600" b="1">
                <a:solidFill>
                  <a:srgbClr val="FFFFFF"/>
                </a:solidFill>
                <a:latin typeface="__inter_fd044d"/>
              </a:defRPr>
            </a:pPr>
            <a:r>
              <a:rPr i="0" sz="5600" b="1">
                <a:solidFill>
                  <a:srgbClr val="FFFFFF"/>
                </a:solidFill>
                <a:latin typeface="__inter_fd044d"/>
              </a:rPr>
              <a:t>12K+</a:t>
            </a:r>
          </a:p>
        </p:txBody>
      </p:sp>
      <p:pic>
        <p:nvPicPr>
          <p:cNvPr id="10" name="Picture 9" descr="a9fabea2-c616-402b-a8e0-d859d1c9101d.png"/>
          <p:cNvPicPr>
            <a:picLocks noChangeAspect="1"/>
          </p:cNvPicPr>
          <p:nvPr/>
        </p:nvPicPr>
        <p:blipFill>
          <a:blip r:embed="rId4"/>
          <a:stretch>
            <a:fillRect/>
          </a:stretch>
        </p:blipFill>
        <p:spPr>
          <a:xfrm>
            <a:off x="5842000" y="4140200"/>
            <a:ext cx="4572000" cy="1168400"/>
          </a:xfrm>
          <a:prstGeom prst="rect">
            <a:avLst/>
          </a:prstGeom>
        </p:spPr>
      </p:pic>
      <p:sp>
        <p:nvSpPr>
          <p:cNvPr id="11" name="TextBox 10"/>
          <p:cNvSpPr txBox="1"/>
          <p:nvPr/>
        </p:nvSpPr>
        <p:spPr>
          <a:xfrm>
            <a:off x="6146800" y="4343400"/>
            <a:ext cx="3987800" cy="558800"/>
          </a:xfrm>
          <a:prstGeom prst="rect">
            <a:avLst/>
          </a:prstGeom>
          <a:noFill/>
        </p:spPr>
        <p:txBody>
          <a:bodyPr wrap="square" lIns="0" rIns="0" tIns="0" bIns="0">
            <a:spAutoFit/>
          </a:bodyPr>
          <a:lstStyle/>
          <a:p>
            <a:pPr algn="ctr">
              <a:defRPr i="0" sz="1600" b="1">
                <a:solidFill>
                  <a:srgbClr val="FFFFFF"/>
                </a:solidFill>
                <a:latin typeface="__inter_fd044d"/>
              </a:defRPr>
            </a:pPr>
            <a:r>
              <a:rPr i="0" sz="1600" b="1">
                <a:solidFill>
                  <a:srgbClr val="FFFFFF"/>
                </a:solidFill>
                <a:latin typeface="__inter_fd044d"/>
              </a:rPr>
              <a:t>Incidents blocked using confidence thresholds.</a:t>
            </a:r>
          </a:p>
        </p:txBody>
      </p:sp>
      <p:sp>
        <p:nvSpPr>
          <p:cNvPr id="12" name="TextBox 11"/>
          <p:cNvSpPr txBox="1"/>
          <p:nvPr/>
        </p:nvSpPr>
        <p:spPr>
          <a:xfrm>
            <a:off x="11836400" y="2819400"/>
            <a:ext cx="1816100" cy="203200"/>
          </a:xfrm>
          <a:prstGeom prst="rect">
            <a:avLst/>
          </a:prstGeom>
          <a:noFill/>
        </p:spPr>
        <p:txBody>
          <a:bodyPr wrap="square" lIns="0" rIns="0" tIns="0" bIns="0">
            <a:spAutoFit/>
          </a:bodyPr>
          <a:lstStyle/>
          <a:p>
            <a:pPr algn="l">
              <a:lnSpc>
                <a:spcPct val="70000"/>
              </a:lnSpc>
              <a:defRPr i="0" sz="1600" b="0">
                <a:solidFill>
                  <a:srgbClr val="CBD5E1"/>
                </a:solidFill>
                <a:latin typeface="__inter_fd044d"/>
              </a:defRPr>
            </a:pPr>
            <a:r>
              <a:rPr i="0" sz="1600" b="0">
                <a:solidFill>
                  <a:srgbClr val="CBD5E1"/>
                </a:solidFill>
                <a:latin typeface="__inter_fd044d"/>
              </a:rPr>
              <a:t>Custom Thresholds</a:t>
            </a:r>
          </a:p>
        </p:txBody>
      </p:sp>
      <p:sp>
        <p:nvSpPr>
          <p:cNvPr id="13" name="TextBox 12"/>
          <p:cNvSpPr txBox="1"/>
          <p:nvPr/>
        </p:nvSpPr>
        <p:spPr>
          <a:xfrm>
            <a:off x="11582400" y="3124200"/>
            <a:ext cx="2324100" cy="711200"/>
          </a:xfrm>
          <a:prstGeom prst="rect">
            <a:avLst/>
          </a:prstGeom>
          <a:noFill/>
        </p:spPr>
        <p:txBody>
          <a:bodyPr wrap="square" lIns="0" rIns="0" tIns="0" bIns="0">
            <a:spAutoFit/>
          </a:bodyPr>
          <a:lstStyle/>
          <a:p>
            <a:pPr algn="l">
              <a:lnSpc>
                <a:spcPct val="70000"/>
              </a:lnSpc>
              <a:defRPr i="0" sz="5600" b="1">
                <a:solidFill>
                  <a:srgbClr val="FFFFFF"/>
                </a:solidFill>
                <a:latin typeface="__inter_fd044d"/>
              </a:defRPr>
            </a:pPr>
            <a:r>
              <a:rPr i="0" sz="5600" b="1">
                <a:solidFill>
                  <a:srgbClr val="FFFFFF"/>
                </a:solidFill>
                <a:latin typeface="__inter_fd044d"/>
              </a:rPr>
              <a:t>Flexible</a:t>
            </a:r>
          </a:p>
        </p:txBody>
      </p:sp>
      <p:pic>
        <p:nvPicPr>
          <p:cNvPr id="14" name="Picture 13" descr="a9fabea2-c616-402b-a8e0-d859d1c9101d.png"/>
          <p:cNvPicPr>
            <a:picLocks noChangeAspect="1"/>
          </p:cNvPicPr>
          <p:nvPr/>
        </p:nvPicPr>
        <p:blipFill>
          <a:blip r:embed="rId4"/>
          <a:stretch>
            <a:fillRect/>
          </a:stretch>
        </p:blipFill>
        <p:spPr>
          <a:xfrm>
            <a:off x="10452100" y="4140200"/>
            <a:ext cx="4572000" cy="1168400"/>
          </a:xfrm>
          <a:prstGeom prst="rect">
            <a:avLst/>
          </a:prstGeom>
        </p:spPr>
      </p:pic>
      <p:sp>
        <p:nvSpPr>
          <p:cNvPr id="15" name="TextBox 14"/>
          <p:cNvSpPr txBox="1"/>
          <p:nvPr/>
        </p:nvSpPr>
        <p:spPr>
          <a:xfrm>
            <a:off x="10756900" y="4343400"/>
            <a:ext cx="3987800" cy="558800"/>
          </a:xfrm>
          <a:prstGeom prst="rect">
            <a:avLst/>
          </a:prstGeom>
          <a:noFill/>
        </p:spPr>
        <p:txBody>
          <a:bodyPr wrap="square" lIns="0" rIns="0" tIns="0" bIns="0">
            <a:spAutoFit/>
          </a:bodyPr>
          <a:lstStyle/>
          <a:p>
            <a:pPr algn="ctr">
              <a:defRPr i="0" sz="1600" b="1">
                <a:solidFill>
                  <a:srgbClr val="FFFFFF"/>
                </a:solidFill>
                <a:latin typeface="__inter_fd044d"/>
              </a:defRPr>
            </a:pPr>
            <a:r>
              <a:rPr i="0" sz="1600" b="1">
                <a:solidFill>
                  <a:srgbClr val="FFFFFF"/>
                </a:solidFill>
                <a:latin typeface="__inter_fd044d"/>
              </a:rPr>
              <a:t>Easily set blocking levels from Very Low to Very High.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00c13c64-a972-4844-b729-c43b39141da2.png"/>
          <p:cNvPicPr>
            <a:picLocks noChangeAspect="1"/>
          </p:cNvPicPr>
          <p:nvPr/>
        </p:nvPicPr>
        <p:blipFill>
          <a:blip r:embed="rId3"/>
          <a:stretch>
            <a:fillRect/>
          </a:stretch>
        </p:blipFill>
        <p:spPr>
          <a:xfrm>
            <a:off x="0" y="0"/>
            <a:ext cx="6604000" cy="9144000"/>
          </a:xfrm>
          <a:prstGeom prst="rect">
            <a:avLst/>
          </a:prstGeom>
        </p:spPr>
      </p:pic>
      <p:sp>
        <p:nvSpPr>
          <p:cNvPr id="3" name="Rounded Rectangle 2"/>
          <p:cNvSpPr/>
          <p:nvPr/>
        </p:nvSpPr>
        <p:spPr>
          <a:xfrm>
            <a:off x="6604000" y="0"/>
            <a:ext cx="9652000" cy="9144000"/>
          </a:xfrm>
          <a:prstGeom prst="roundRect">
            <a:avLst>
              <a:gd name="adj" fmla="val 277"/>
            </a:avLst>
          </a:prstGeom>
          <a:solidFill>
            <a:srgbClr val="0E1A28"/>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TextBox 3"/>
          <p:cNvSpPr txBox="1"/>
          <p:nvPr/>
        </p:nvSpPr>
        <p:spPr>
          <a:xfrm>
            <a:off x="7620000" y="1219200"/>
            <a:ext cx="7645400" cy="1562100"/>
          </a:xfrm>
          <a:prstGeom prst="rect">
            <a:avLst/>
          </a:prstGeom>
          <a:noFill/>
        </p:spPr>
        <p:txBody>
          <a:bodyPr wrap="square" lIns="0" rIns="0" tIns="0" bIns="0">
            <a:spAutoFit/>
          </a:bodyPr>
          <a:lstStyle/>
          <a:p>
            <a:pPr algn="l">
              <a:lnSpc>
                <a:spcPct val="80000"/>
              </a:lnSpc>
              <a:defRPr i="0" sz="5600" b="1">
                <a:solidFill>
                  <a:srgbClr val="FFFFFF"/>
                </a:solidFill>
                <a:latin typeface="__inter_fd044d"/>
              </a:defRPr>
            </a:pPr>
            <a:r>
              <a:rPr i="0" sz="5600" b="1">
                <a:solidFill>
                  <a:srgbClr val="FFFFFF"/>
                </a:solidFill>
                <a:latin typeface="__inter_fd044d"/>
              </a:rPr>
              <a:t>Trials &amp; Licensing Overview</a:t>
            </a:r>
          </a:p>
        </p:txBody>
      </p:sp>
      <p:pic>
        <p:nvPicPr>
          <p:cNvPr id="5" name="Picture 4" descr="9f79087d-5def-4aff-bce3-8709fa9b2bcd.png"/>
          <p:cNvPicPr>
            <a:picLocks noChangeAspect="1"/>
          </p:cNvPicPr>
          <p:nvPr/>
        </p:nvPicPr>
        <p:blipFill>
          <a:blip r:embed="rId4"/>
          <a:stretch>
            <a:fillRect/>
          </a:stretch>
        </p:blipFill>
        <p:spPr>
          <a:xfrm>
            <a:off x="7620000" y="3086100"/>
            <a:ext cx="914400" cy="101600"/>
          </a:xfrm>
          <a:prstGeom prst="rect">
            <a:avLst/>
          </a:prstGeom>
        </p:spPr>
      </p:pic>
      <p:sp>
        <p:nvSpPr>
          <p:cNvPr id="6" name="TextBox 5"/>
          <p:cNvSpPr txBox="1"/>
          <p:nvPr/>
        </p:nvSpPr>
        <p:spPr>
          <a:xfrm>
            <a:off x="7620000" y="3594100"/>
            <a:ext cx="7645400" cy="1651000"/>
          </a:xfrm>
          <a:prstGeom prst="rect">
            <a:avLst/>
          </a:prstGeom>
          <a:noFill/>
        </p:spPr>
        <p:txBody>
          <a:bodyPr wrap="square" lIns="0" rIns="0" tIns="0" bIns="0">
            <a:spAutoFit/>
          </a:bodyPr>
          <a:lstStyle/>
          <a:p>
            <a:pPr algn="l">
              <a:lnSpc>
                <a:spcPct val="133000"/>
              </a:lnSpc>
              <a:defRPr i="0" sz="1600" b="0">
                <a:solidFill>
                  <a:srgbClr val="FFFFFF"/>
                </a:solidFill>
                <a:latin typeface="__inter_fd044d"/>
              </a:defRPr>
            </a:pPr>
            <a:r>
              <a:rPr i="0" sz="1600" b="0">
                <a:solidFill>
                  <a:srgbClr val="FFFFFF"/>
                </a:solidFill>
                <a:latin typeface="__inter_fd044d"/>
              </a:rPr>
              <a:t>Evaluation includes </a:t>
            </a:r>
            <a:r>
              <a:rPr i="0" sz="1600" b="1">
                <a:solidFill>
                  <a:srgbClr val="FFFFFF"/>
                </a:solidFill>
                <a:latin typeface="__inter_fd044d"/>
              </a:rPr>
              <a:t>up to 100 Gateway Hours</a:t>
            </a:r>
            <a:r>
              <a:rPr i="0" sz="1600" b="0">
                <a:solidFill>
                  <a:srgbClr val="FFFFFF"/>
                </a:solidFill>
                <a:latin typeface="__inter_fd044d"/>
              </a:rPr>
              <a:t>, after which a paid subscription is required, in line with Cisco Multicloud Defense policies. FTDv offers various performance tiers, with vCPU and memory resources allocated according to the selected throughput capacity. This ensures flexibility to match deployment needs and scale efficiently while maintaining control over licensing and cost.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