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6256000" cy="9144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Today’s organizations increasingly rely on AI models, making their protection vital. We’ll discuss why safeguarding these models matters, the risks of exposure, and key ways to effectively pitch AI protection to stakeholders.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highlights all upcoming topics to set expectations for the audience. It lists the main sections covered, including the challenge, solutions, features, use cases, integration, and best practices for protecting AI models.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Organizations are experiencing a sharp rise in AI-specific attacks. Key risks include exposure of private data and the threat of model theft, emphasizing the need for comprehensive AI security measures.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AI model protection platform offers holistic coverage for every phase, securing assets and applications. It also delivers continuous visibility and rapid detection for evolving threats and vulnerabilities.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Highlight proactive detection and mitigation of vulnerabilities, referencing the 44% statistic. Emphasize the importance of comprehensive asset visibility to prevent shadow AI and improve overall model security.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slide highlights two industries where AI security was crucial. In finance, detection tools safeguarded valuable intellectual property from theft. In healthcare, early identification of adversarial attacks protected sensitive patient data. These examples demonstrate the impact and necessity of real-world AI protection strategies.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Integration options ensure compatibility with major security solutions, while deployment can be tailored to strict compliance needs or flexible cloud models. Streamlined adoption speeds up effective use.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Highlighting continuous assessment helps to detect threats early, while strict role-based access limits exposure. Both steps are essential to protecting AI models effectively.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Highlight the significant reduction in AI-related incidents and costs. Emphasize compliance support and how this approach protects intellectual property and sensitive business data efficiently.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Emphasize the need for proactive action in AI security. Recommend engaging with experts to assess risks. Outline next steps including asset evaluation, pilot deployments, and accessing demo resources.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Demonstration links are available for three key areas: AI vulnerability detection, application protection, and asset discovery. Viewing these demos will illustrate practical defense and monitoring strategies.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Securing AI models is now a core responsibility for organizations. Focusing on thorough vulnerability detection, stringent monitoring, and strong application-layer security will keep AI assets protected and regulatory compliant.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 Id="rId8"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3.png"/><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5.png"/><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image" Target="../media/image1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2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2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16000" y="1917700"/>
            <a:ext cx="8153400" cy="2730500"/>
          </a:xfrm>
          <a:prstGeom prst="rect">
            <a:avLst/>
          </a:prstGeom>
          <a:noFill/>
        </p:spPr>
        <p:txBody>
          <a:bodyPr wrap="square" lIns="0" rIns="0" tIns="0" bIns="0">
            <a:spAutoFit/>
          </a:bodyPr>
          <a:lstStyle/>
          <a:p>
            <a:pPr algn="l">
              <a:lnSpc>
                <a:spcPct val="82000"/>
              </a:lnSpc>
              <a:defRPr i="0" sz="6400" b="1">
                <a:solidFill>
                  <a:srgbClr val="FFFFFF"/>
                </a:solidFill>
                <a:latin typeface="Inter"/>
              </a:defRPr>
            </a:pPr>
            <a:r>
              <a:rPr i="0" sz="6400" b="1">
                <a:solidFill>
                  <a:srgbClr val="FFFFFF"/>
                </a:solidFill>
                <a:latin typeface="Inter"/>
              </a:rPr>
              <a:t>AI Model Protection: Future-Proofing AI Assets</a:t>
            </a:r>
          </a:p>
        </p:txBody>
      </p:sp>
      <p:pic>
        <p:nvPicPr>
          <p:cNvPr id="3" name="Picture 2" descr="0ba1ee9f-6474-4f1d-aec3-910acf392e56.png"/>
          <p:cNvPicPr>
            <a:picLocks noChangeAspect="1"/>
          </p:cNvPicPr>
          <p:nvPr/>
        </p:nvPicPr>
        <p:blipFill>
          <a:blip r:embed="rId3"/>
          <a:stretch>
            <a:fillRect/>
          </a:stretch>
        </p:blipFill>
        <p:spPr>
          <a:xfrm>
            <a:off x="1016000" y="5168900"/>
            <a:ext cx="1219200" cy="76200"/>
          </a:xfrm>
          <a:prstGeom prst="rect">
            <a:avLst/>
          </a:prstGeom>
        </p:spPr>
      </p:pic>
      <p:sp>
        <p:nvSpPr>
          <p:cNvPr id="4" name="TextBox 3"/>
          <p:cNvSpPr txBox="1"/>
          <p:nvPr/>
        </p:nvSpPr>
        <p:spPr>
          <a:xfrm>
            <a:off x="1016000" y="5549900"/>
            <a:ext cx="8153400" cy="660400"/>
          </a:xfrm>
          <a:prstGeom prst="rect">
            <a:avLst/>
          </a:prstGeom>
          <a:noFill/>
        </p:spPr>
        <p:txBody>
          <a:bodyPr wrap="square" lIns="0" rIns="0" tIns="0" bIns="0">
            <a:spAutoFit/>
          </a:bodyPr>
          <a:lstStyle/>
          <a:p>
            <a:pPr algn="l">
              <a:defRPr i="0" sz="1600" b="0">
                <a:solidFill>
                  <a:srgbClr val="CBD5E1"/>
                </a:solidFill>
                <a:latin typeface="Inter"/>
              </a:defRPr>
            </a:pPr>
            <a:r>
              <a:rPr i="0" sz="1600" b="0">
                <a:solidFill>
                  <a:srgbClr val="CBD5E1"/>
                </a:solidFill>
                <a:latin typeface="Inter"/>
              </a:rPr>
              <a:t>Explore the critical need for AI model protection in modern organizations and discover persuasive strategies for encouraging adoption and long-term security.</a:t>
            </a:r>
          </a:p>
        </p:txBody>
      </p:sp>
      <p:sp>
        <p:nvSpPr>
          <p:cNvPr id="5" name="Rounded Rectangle 4"/>
          <p:cNvSpPr/>
          <p:nvPr/>
        </p:nvSpPr>
        <p:spPr>
          <a:xfrm>
            <a:off x="1016000" y="6718300"/>
            <a:ext cx="8128000" cy="1219200"/>
          </a:xfrm>
          <a:prstGeom prst="roundRect">
            <a:avLst>
              <a:gd name="adj" fmla="val 16666"/>
            </a:avLst>
          </a:prstGeom>
          <a:solidFill>
            <a:srgbClr val="FFFFFF">
              <a:alpha val="5000"/>
            </a:srgbClr>
          </a:solidFill>
          <a:ln>
            <a:noFill/>
          </a:ln>
          <a:effectLst>
            <a:outerShdw blurRad="0" dir="0" dist="0" rotWithShape="0">
              <a:srgbClr val="ffffff">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 name="Rounded Rectangle 5"/>
          <p:cNvSpPr/>
          <p:nvPr/>
        </p:nvSpPr>
        <p:spPr>
          <a:xfrm>
            <a:off x="1320800" y="6972300"/>
            <a:ext cx="711200" cy="711200"/>
          </a:xfrm>
          <a:prstGeom prst="roundRect">
            <a:avLst>
              <a:gd name="adj" fmla="val 50000"/>
            </a:avLst>
          </a:prstGeom>
          <a:solidFill>
            <a:srgbClr val="2563EB"/>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20000"/>
              </a:lnSpc>
              <a:defRPr i="0" sz="1800" b="1">
                <a:solidFill>
                  <a:srgbClr val="FFFFFF"/>
                </a:solidFill>
                <a:latin typeface="Inter"/>
              </a:defRPr>
            </a:pPr>
            <a:r>
              <a:rPr i="0" sz="1800" b="1">
                <a:solidFill>
                  <a:srgbClr val="FFFFFF"/>
                </a:solidFill>
                <a:latin typeface="Inter"/>
              </a:rPr>
              <a:t>AP</a:t>
            </a:r>
          </a:p>
        </p:txBody>
      </p:sp>
      <p:sp>
        <p:nvSpPr>
          <p:cNvPr id="7" name="TextBox 6"/>
          <p:cNvSpPr txBox="1"/>
          <p:nvPr/>
        </p:nvSpPr>
        <p:spPr>
          <a:xfrm>
            <a:off x="2286000" y="7023100"/>
            <a:ext cx="6578600" cy="304800"/>
          </a:xfrm>
          <a:prstGeom prst="rect">
            <a:avLst/>
          </a:prstGeom>
          <a:noFill/>
        </p:spPr>
        <p:txBody>
          <a:bodyPr wrap="square" lIns="0" rIns="0" tIns="0" bIns="0">
            <a:spAutoFit/>
          </a:bodyPr>
          <a:lstStyle/>
          <a:p>
            <a:pPr algn="l">
              <a:defRPr i="0" sz="1800" b="1">
                <a:solidFill>
                  <a:srgbClr val="FFFFFF"/>
                </a:solidFill>
                <a:latin typeface="Inter"/>
              </a:defRPr>
            </a:pPr>
            <a:r>
              <a:rPr i="0" sz="1800" b="1">
                <a:solidFill>
                  <a:srgbClr val="FFFFFF"/>
                </a:solidFill>
                <a:latin typeface="Inter"/>
              </a:rPr>
              <a:t>Alex Parker</a:t>
            </a:r>
          </a:p>
        </p:txBody>
      </p:sp>
      <p:sp>
        <p:nvSpPr>
          <p:cNvPr id="8" name="TextBox 7"/>
          <p:cNvSpPr txBox="1"/>
          <p:nvPr/>
        </p:nvSpPr>
        <p:spPr>
          <a:xfrm>
            <a:off x="2286000" y="7353300"/>
            <a:ext cx="6578600" cy="279400"/>
          </a:xfrm>
          <a:prstGeom prst="rect">
            <a:avLst/>
          </a:prstGeom>
          <a:noFill/>
        </p:spPr>
        <p:txBody>
          <a:bodyPr wrap="square" lIns="0" rIns="0" tIns="0" bIns="0">
            <a:spAutoFit/>
          </a:bodyPr>
          <a:lstStyle/>
          <a:p>
            <a:pPr algn="l">
              <a:defRPr i="0" sz="1400" b="0">
                <a:solidFill>
                  <a:srgbClr val="CBD5E1"/>
                </a:solidFill>
                <a:latin typeface="Inter"/>
              </a:defRPr>
            </a:pPr>
            <a:r>
              <a:rPr i="0" sz="1400" b="0">
                <a:solidFill>
                  <a:srgbClr val="CBD5E1"/>
                </a:solidFill>
                <a:latin typeface="Inter"/>
              </a:rPr>
              <a:t>2026-01-11</a:t>
            </a:r>
          </a:p>
        </p:txBody>
      </p:sp>
      <p:sp>
        <p:nvSpPr>
          <p:cNvPr id="9" name="Rounded Rectangle 8"/>
          <p:cNvSpPr/>
          <p:nvPr/>
        </p:nvSpPr>
        <p:spPr>
          <a:xfrm>
            <a:off x="9550400" y="3327400"/>
            <a:ext cx="5689600" cy="3200400"/>
          </a:xfrm>
          <a:prstGeom prst="roundRect">
            <a:avLst>
              <a:gd name="adj" fmla="val 6349"/>
            </a:avLst>
          </a:prstGeom>
          <a:solidFill>
            <a:srgbClr val="FFFFFF"/>
          </a:solidFill>
          <a:ln>
            <a:noFill/>
          </a:ln>
          <a:effectLst>
            <a:outerShdw blurRad="0" dir="0" dist="0" rotWithShape="0">
              <a:srgbClr val="ffffff">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10" name="Picture 9" descr="48eadc7c-3923-4684-aa6c-9f0cb402ac67.png"/>
          <p:cNvPicPr>
            <a:picLocks noChangeAspect="1"/>
          </p:cNvPicPr>
          <p:nvPr/>
        </p:nvPicPr>
        <p:blipFill>
          <a:blip r:embed="rId4"/>
          <a:stretch>
            <a:fillRect/>
          </a:stretch>
        </p:blipFill>
        <p:spPr>
          <a:xfrm>
            <a:off x="9550400" y="3327400"/>
            <a:ext cx="5689600" cy="32004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12800" y="609600"/>
            <a:ext cx="14655800" cy="723900"/>
          </a:xfrm>
          <a:prstGeom prst="rect">
            <a:avLst/>
          </a:prstGeom>
          <a:noFill/>
        </p:spPr>
        <p:txBody>
          <a:bodyPr wrap="square" lIns="0" rIns="0" tIns="0" bIns="0">
            <a:spAutoFit/>
          </a:bodyPr>
          <a:lstStyle/>
          <a:p>
            <a:pPr algn="l">
              <a:lnSpc>
                <a:spcPct val="75000"/>
              </a:lnSpc>
              <a:defRPr i="0" sz="5400" b="1">
                <a:solidFill>
                  <a:srgbClr val="FFFFFF"/>
                </a:solidFill>
                <a:latin typeface="Inter"/>
              </a:defRPr>
            </a:pPr>
            <a:r>
              <a:rPr i="0" sz="5400" b="1">
                <a:solidFill>
                  <a:srgbClr val="FFFFFF"/>
                </a:solidFill>
                <a:latin typeface="Inter"/>
              </a:rPr>
              <a:t>Table of Contents</a:t>
            </a:r>
          </a:p>
        </p:txBody>
      </p:sp>
      <p:pic>
        <p:nvPicPr>
          <p:cNvPr id="3" name="Picture 2" descr="6128c64d-8547-44b6-8173-9713006b062b.png"/>
          <p:cNvPicPr>
            <a:picLocks noChangeAspect="1"/>
          </p:cNvPicPr>
          <p:nvPr/>
        </p:nvPicPr>
        <p:blipFill>
          <a:blip r:embed="rId3"/>
          <a:stretch>
            <a:fillRect/>
          </a:stretch>
        </p:blipFill>
        <p:spPr>
          <a:xfrm>
            <a:off x="812800" y="1841500"/>
            <a:ext cx="711200" cy="711200"/>
          </a:xfrm>
          <a:prstGeom prst="rect">
            <a:avLst/>
          </a:prstGeom>
        </p:spPr>
      </p:pic>
      <p:sp>
        <p:nvSpPr>
          <p:cNvPr id="4" name="TextBox 3"/>
          <p:cNvSpPr txBox="1"/>
          <p:nvPr/>
        </p:nvSpPr>
        <p:spPr>
          <a:xfrm>
            <a:off x="1092200" y="2019300"/>
            <a:ext cx="165100" cy="342900"/>
          </a:xfrm>
          <a:prstGeom prst="rect">
            <a:avLst/>
          </a:prstGeom>
          <a:noFill/>
        </p:spPr>
        <p:txBody>
          <a:bodyPr wrap="none" lIns="0" rIns="0" tIns="0" bIns="0">
            <a:spAutoFit/>
          </a:bodyPr>
          <a:lstStyle/>
          <a:p>
            <a:pPr algn="l">
              <a:defRPr i="0" sz="2000" b="1">
                <a:solidFill>
                  <a:srgbClr val="09090B"/>
                </a:solidFill>
                <a:latin typeface="Inter"/>
              </a:defRPr>
            </a:pPr>
            <a:r>
              <a:rPr i="0" sz="2000" b="1">
                <a:solidFill>
                  <a:srgbClr val="09090B"/>
                </a:solidFill>
                <a:latin typeface="Inter"/>
              </a:rPr>
              <a:t>3</a:t>
            </a:r>
          </a:p>
        </p:txBody>
      </p:sp>
      <p:sp>
        <p:nvSpPr>
          <p:cNvPr id="5" name="TextBox 4"/>
          <p:cNvSpPr txBox="1"/>
          <p:nvPr/>
        </p:nvSpPr>
        <p:spPr>
          <a:xfrm>
            <a:off x="1778000" y="2044700"/>
            <a:ext cx="3708400" cy="292100"/>
          </a:xfrm>
          <a:prstGeom prst="rect">
            <a:avLst/>
          </a:prstGeom>
          <a:noFill/>
        </p:spPr>
        <p:txBody>
          <a:bodyPr wrap="none" lIns="0" rIns="0" tIns="0" bIns="0">
            <a:spAutoFit/>
          </a:bodyPr>
          <a:lstStyle/>
          <a:p>
            <a:pPr algn="l">
              <a:defRPr i="0" sz="1800" b="0">
                <a:solidFill>
                  <a:srgbClr val="E2E8F0"/>
                </a:solidFill>
                <a:latin typeface="Inter"/>
              </a:defRPr>
            </a:pPr>
            <a:r>
              <a:rPr i="0" sz="1800" b="0">
                <a:solidFill>
                  <a:srgbClr val="E2E8F0"/>
                </a:solidFill>
                <a:latin typeface="Inter"/>
              </a:rPr>
              <a:t>The Challenge: Securing AI in a Dynamic Threat Landscape</a:t>
            </a:r>
          </a:p>
        </p:txBody>
      </p:sp>
      <p:sp>
        <p:nvSpPr>
          <p:cNvPr id="6" name="TextBox 5"/>
          <p:cNvSpPr txBox="1"/>
          <p:nvPr/>
        </p:nvSpPr>
        <p:spPr>
          <a:xfrm>
            <a:off x="7416800" y="2044700"/>
            <a:ext cx="127000" cy="304800"/>
          </a:xfrm>
          <a:prstGeom prst="rect">
            <a:avLst/>
          </a:prstGeom>
          <a:noFill/>
        </p:spPr>
        <p:txBody>
          <a:bodyPr wrap="square" lIns="0" rIns="0" tIns="0" bIns="0">
            <a:spAutoFit/>
          </a:bodyPr>
          <a:lstStyle/>
          <a:p>
            <a:pPr algn="l">
              <a:defRPr i="0" sz="1600" b="0">
                <a:solidFill>
                  <a:srgbClr val="CBD5E1"/>
                </a:solidFill>
                <a:latin typeface="Inter"/>
              </a:defRPr>
            </a:pPr>
            <a:r>
              <a:rPr i="0" sz="1600" b="0">
                <a:solidFill>
                  <a:srgbClr val="CBD5E1"/>
                </a:solidFill>
                <a:latin typeface="Inter"/>
              </a:rPr>
              <a:t>3</a:t>
            </a:r>
          </a:p>
        </p:txBody>
      </p:sp>
      <p:pic>
        <p:nvPicPr>
          <p:cNvPr id="7" name="Picture 6" descr="c15b0f8e-4235-4c79-ba72-81e24a87150f.png"/>
          <p:cNvPicPr>
            <a:picLocks noChangeAspect="1"/>
          </p:cNvPicPr>
          <p:nvPr/>
        </p:nvPicPr>
        <p:blipFill>
          <a:blip r:embed="rId4"/>
          <a:stretch>
            <a:fillRect/>
          </a:stretch>
        </p:blipFill>
        <p:spPr>
          <a:xfrm>
            <a:off x="812800" y="2959100"/>
            <a:ext cx="711200" cy="711200"/>
          </a:xfrm>
          <a:prstGeom prst="rect">
            <a:avLst/>
          </a:prstGeom>
        </p:spPr>
      </p:pic>
      <p:sp>
        <p:nvSpPr>
          <p:cNvPr id="8" name="TextBox 7"/>
          <p:cNvSpPr txBox="1"/>
          <p:nvPr/>
        </p:nvSpPr>
        <p:spPr>
          <a:xfrm>
            <a:off x="1092200" y="3136900"/>
            <a:ext cx="177800" cy="342900"/>
          </a:xfrm>
          <a:prstGeom prst="rect">
            <a:avLst/>
          </a:prstGeom>
          <a:noFill/>
        </p:spPr>
        <p:txBody>
          <a:bodyPr wrap="none" lIns="0" rIns="0" tIns="0" bIns="0">
            <a:spAutoFit/>
          </a:bodyPr>
          <a:lstStyle/>
          <a:p>
            <a:pPr algn="l">
              <a:defRPr i="0" sz="2000" b="1">
                <a:solidFill>
                  <a:srgbClr val="09090B"/>
                </a:solidFill>
                <a:latin typeface="Inter"/>
              </a:defRPr>
            </a:pPr>
            <a:r>
              <a:rPr i="0" sz="2000" b="1">
                <a:solidFill>
                  <a:srgbClr val="09090B"/>
                </a:solidFill>
                <a:latin typeface="Inter"/>
              </a:rPr>
              <a:t>4</a:t>
            </a:r>
          </a:p>
        </p:txBody>
      </p:sp>
      <p:sp>
        <p:nvSpPr>
          <p:cNvPr id="9" name="TextBox 8"/>
          <p:cNvSpPr txBox="1"/>
          <p:nvPr/>
        </p:nvSpPr>
        <p:spPr>
          <a:xfrm>
            <a:off x="1778000" y="3162300"/>
            <a:ext cx="3708400" cy="292100"/>
          </a:xfrm>
          <a:prstGeom prst="rect">
            <a:avLst/>
          </a:prstGeom>
          <a:noFill/>
        </p:spPr>
        <p:txBody>
          <a:bodyPr wrap="none" lIns="0" rIns="0" tIns="0" bIns="0">
            <a:spAutoFit/>
          </a:bodyPr>
          <a:lstStyle/>
          <a:p>
            <a:pPr algn="l">
              <a:defRPr i="0" sz="1800" b="0">
                <a:solidFill>
                  <a:srgbClr val="E2E8F0"/>
                </a:solidFill>
                <a:latin typeface="Inter"/>
              </a:defRPr>
            </a:pPr>
            <a:r>
              <a:rPr i="0" sz="1800" b="0">
                <a:solidFill>
                  <a:srgbClr val="E2E8F0"/>
                </a:solidFill>
                <a:latin typeface="Inter"/>
              </a:rPr>
              <a:t>Solution Overview: AI Model Protection Portfolio</a:t>
            </a:r>
          </a:p>
        </p:txBody>
      </p:sp>
      <p:sp>
        <p:nvSpPr>
          <p:cNvPr id="10" name="TextBox 9"/>
          <p:cNvSpPr txBox="1"/>
          <p:nvPr/>
        </p:nvSpPr>
        <p:spPr>
          <a:xfrm>
            <a:off x="7416800" y="3162300"/>
            <a:ext cx="127000" cy="304800"/>
          </a:xfrm>
          <a:prstGeom prst="rect">
            <a:avLst/>
          </a:prstGeom>
          <a:noFill/>
        </p:spPr>
        <p:txBody>
          <a:bodyPr wrap="square" lIns="0" rIns="0" tIns="0" bIns="0">
            <a:spAutoFit/>
          </a:bodyPr>
          <a:lstStyle/>
          <a:p>
            <a:pPr algn="l">
              <a:defRPr i="0" sz="1600" b="0">
                <a:solidFill>
                  <a:srgbClr val="CBD5E1"/>
                </a:solidFill>
                <a:latin typeface="Inter"/>
              </a:defRPr>
            </a:pPr>
            <a:r>
              <a:rPr i="0" sz="1600" b="0">
                <a:solidFill>
                  <a:srgbClr val="CBD5E1"/>
                </a:solidFill>
                <a:latin typeface="Inter"/>
              </a:rPr>
              <a:t>4</a:t>
            </a:r>
          </a:p>
        </p:txBody>
      </p:sp>
      <p:pic>
        <p:nvPicPr>
          <p:cNvPr id="11" name="Picture 10" descr="fc9ff1c1-44e1-436f-a964-d6051232fcd9.png"/>
          <p:cNvPicPr>
            <a:picLocks noChangeAspect="1"/>
          </p:cNvPicPr>
          <p:nvPr/>
        </p:nvPicPr>
        <p:blipFill>
          <a:blip r:embed="rId5"/>
          <a:stretch>
            <a:fillRect/>
          </a:stretch>
        </p:blipFill>
        <p:spPr>
          <a:xfrm>
            <a:off x="812800" y="4076700"/>
            <a:ext cx="711200" cy="711200"/>
          </a:xfrm>
          <a:prstGeom prst="rect">
            <a:avLst/>
          </a:prstGeom>
        </p:spPr>
      </p:pic>
      <p:sp>
        <p:nvSpPr>
          <p:cNvPr id="12" name="TextBox 11"/>
          <p:cNvSpPr txBox="1"/>
          <p:nvPr/>
        </p:nvSpPr>
        <p:spPr>
          <a:xfrm>
            <a:off x="1092200" y="4254500"/>
            <a:ext cx="165100" cy="342900"/>
          </a:xfrm>
          <a:prstGeom prst="rect">
            <a:avLst/>
          </a:prstGeom>
          <a:noFill/>
        </p:spPr>
        <p:txBody>
          <a:bodyPr wrap="none" lIns="0" rIns="0" tIns="0" bIns="0">
            <a:spAutoFit/>
          </a:bodyPr>
          <a:lstStyle/>
          <a:p>
            <a:pPr algn="l">
              <a:defRPr i="0" sz="2000" b="1">
                <a:solidFill>
                  <a:srgbClr val="09090B"/>
                </a:solidFill>
                <a:latin typeface="Inter"/>
              </a:defRPr>
            </a:pPr>
            <a:r>
              <a:rPr i="0" sz="2000" b="1">
                <a:solidFill>
                  <a:srgbClr val="09090B"/>
                </a:solidFill>
                <a:latin typeface="Inter"/>
              </a:rPr>
              <a:t>5</a:t>
            </a:r>
          </a:p>
        </p:txBody>
      </p:sp>
      <p:sp>
        <p:nvSpPr>
          <p:cNvPr id="13" name="TextBox 12"/>
          <p:cNvSpPr txBox="1"/>
          <p:nvPr/>
        </p:nvSpPr>
        <p:spPr>
          <a:xfrm>
            <a:off x="1778000" y="4279900"/>
            <a:ext cx="3708400" cy="292100"/>
          </a:xfrm>
          <a:prstGeom prst="rect">
            <a:avLst/>
          </a:prstGeom>
          <a:noFill/>
        </p:spPr>
        <p:txBody>
          <a:bodyPr wrap="none" lIns="0" rIns="0" tIns="0" bIns="0">
            <a:spAutoFit/>
          </a:bodyPr>
          <a:lstStyle/>
          <a:p>
            <a:pPr algn="l">
              <a:defRPr i="0" sz="1800" b="0">
                <a:solidFill>
                  <a:srgbClr val="E2E8F0"/>
                </a:solidFill>
                <a:latin typeface="Inter"/>
              </a:defRPr>
            </a:pPr>
            <a:r>
              <a:rPr i="0" sz="1800" b="0">
                <a:solidFill>
                  <a:srgbClr val="E2E8F0"/>
                </a:solidFill>
                <a:latin typeface="Inter"/>
              </a:rPr>
              <a:t>Key Features of AI Model Protection</a:t>
            </a:r>
          </a:p>
        </p:txBody>
      </p:sp>
      <p:sp>
        <p:nvSpPr>
          <p:cNvPr id="14" name="TextBox 13"/>
          <p:cNvSpPr txBox="1"/>
          <p:nvPr/>
        </p:nvSpPr>
        <p:spPr>
          <a:xfrm>
            <a:off x="7416800" y="4279900"/>
            <a:ext cx="127000" cy="304800"/>
          </a:xfrm>
          <a:prstGeom prst="rect">
            <a:avLst/>
          </a:prstGeom>
          <a:noFill/>
        </p:spPr>
        <p:txBody>
          <a:bodyPr wrap="square" lIns="0" rIns="0" tIns="0" bIns="0">
            <a:spAutoFit/>
          </a:bodyPr>
          <a:lstStyle/>
          <a:p>
            <a:pPr algn="l">
              <a:defRPr i="0" sz="1600" b="0">
                <a:solidFill>
                  <a:srgbClr val="CBD5E1"/>
                </a:solidFill>
                <a:latin typeface="Inter"/>
              </a:defRPr>
            </a:pPr>
            <a:r>
              <a:rPr i="0" sz="1600" b="0">
                <a:solidFill>
                  <a:srgbClr val="CBD5E1"/>
                </a:solidFill>
                <a:latin typeface="Inter"/>
              </a:rPr>
              <a:t>5</a:t>
            </a:r>
          </a:p>
        </p:txBody>
      </p:sp>
      <p:pic>
        <p:nvPicPr>
          <p:cNvPr id="15" name="Picture 14" descr="a7bf9267-a22c-48e3-a2e0-10b8a39bf4f8.png"/>
          <p:cNvPicPr>
            <a:picLocks noChangeAspect="1"/>
          </p:cNvPicPr>
          <p:nvPr/>
        </p:nvPicPr>
        <p:blipFill>
          <a:blip r:embed="rId6"/>
          <a:stretch>
            <a:fillRect/>
          </a:stretch>
        </p:blipFill>
        <p:spPr>
          <a:xfrm>
            <a:off x="8737600" y="1841500"/>
            <a:ext cx="711200" cy="711200"/>
          </a:xfrm>
          <a:prstGeom prst="rect">
            <a:avLst/>
          </a:prstGeom>
        </p:spPr>
      </p:pic>
      <p:sp>
        <p:nvSpPr>
          <p:cNvPr id="16" name="TextBox 15"/>
          <p:cNvSpPr txBox="1"/>
          <p:nvPr/>
        </p:nvSpPr>
        <p:spPr>
          <a:xfrm>
            <a:off x="9017000" y="2019300"/>
            <a:ext cx="165100" cy="342900"/>
          </a:xfrm>
          <a:prstGeom prst="rect">
            <a:avLst/>
          </a:prstGeom>
          <a:noFill/>
        </p:spPr>
        <p:txBody>
          <a:bodyPr wrap="none" lIns="0" rIns="0" tIns="0" bIns="0">
            <a:spAutoFit/>
          </a:bodyPr>
          <a:lstStyle/>
          <a:p>
            <a:pPr algn="l">
              <a:defRPr i="0" sz="2000" b="1">
                <a:solidFill>
                  <a:srgbClr val="09090B"/>
                </a:solidFill>
                <a:latin typeface="Inter"/>
              </a:defRPr>
            </a:pPr>
            <a:r>
              <a:rPr i="0" sz="2000" b="1">
                <a:solidFill>
                  <a:srgbClr val="09090B"/>
                </a:solidFill>
                <a:latin typeface="Inter"/>
              </a:rPr>
              <a:t>6</a:t>
            </a:r>
          </a:p>
        </p:txBody>
      </p:sp>
      <p:sp>
        <p:nvSpPr>
          <p:cNvPr id="17" name="TextBox 16"/>
          <p:cNvSpPr txBox="1"/>
          <p:nvPr/>
        </p:nvSpPr>
        <p:spPr>
          <a:xfrm>
            <a:off x="9702800" y="2044700"/>
            <a:ext cx="3708400" cy="292100"/>
          </a:xfrm>
          <a:prstGeom prst="rect">
            <a:avLst/>
          </a:prstGeom>
          <a:noFill/>
        </p:spPr>
        <p:txBody>
          <a:bodyPr wrap="none" lIns="0" rIns="0" tIns="0" bIns="0">
            <a:spAutoFit/>
          </a:bodyPr>
          <a:lstStyle/>
          <a:p>
            <a:pPr algn="l">
              <a:defRPr i="0" sz="1800" b="0">
                <a:solidFill>
                  <a:srgbClr val="E2E8F0"/>
                </a:solidFill>
                <a:latin typeface="Inter"/>
              </a:defRPr>
            </a:pPr>
            <a:r>
              <a:rPr i="0" sz="1800" b="0">
                <a:solidFill>
                  <a:srgbClr val="E2E8F0"/>
                </a:solidFill>
                <a:latin typeface="Inter"/>
              </a:rPr>
              <a:t>Real-World Use Cases</a:t>
            </a:r>
          </a:p>
        </p:txBody>
      </p:sp>
      <p:sp>
        <p:nvSpPr>
          <p:cNvPr id="18" name="TextBox 17"/>
          <p:cNvSpPr txBox="1"/>
          <p:nvPr/>
        </p:nvSpPr>
        <p:spPr>
          <a:xfrm>
            <a:off x="15341600" y="2044700"/>
            <a:ext cx="127000" cy="304800"/>
          </a:xfrm>
          <a:prstGeom prst="rect">
            <a:avLst/>
          </a:prstGeom>
          <a:noFill/>
        </p:spPr>
        <p:txBody>
          <a:bodyPr wrap="square" lIns="0" rIns="0" tIns="0" bIns="0">
            <a:spAutoFit/>
          </a:bodyPr>
          <a:lstStyle/>
          <a:p>
            <a:pPr algn="l">
              <a:defRPr i="0" sz="1600" b="0">
                <a:solidFill>
                  <a:srgbClr val="CBD5E1"/>
                </a:solidFill>
                <a:latin typeface="Inter"/>
              </a:defRPr>
            </a:pPr>
            <a:r>
              <a:rPr i="0" sz="1600" b="0">
                <a:solidFill>
                  <a:srgbClr val="CBD5E1"/>
                </a:solidFill>
                <a:latin typeface="Inter"/>
              </a:rPr>
              <a:t>6</a:t>
            </a:r>
          </a:p>
        </p:txBody>
      </p:sp>
      <p:pic>
        <p:nvPicPr>
          <p:cNvPr id="19" name="Picture 18" descr="ace856bc-2c7f-4cec-b376-6860480ab700.png"/>
          <p:cNvPicPr>
            <a:picLocks noChangeAspect="1"/>
          </p:cNvPicPr>
          <p:nvPr/>
        </p:nvPicPr>
        <p:blipFill>
          <a:blip r:embed="rId7"/>
          <a:stretch>
            <a:fillRect/>
          </a:stretch>
        </p:blipFill>
        <p:spPr>
          <a:xfrm>
            <a:off x="8737600" y="2959100"/>
            <a:ext cx="711200" cy="711200"/>
          </a:xfrm>
          <a:prstGeom prst="rect">
            <a:avLst/>
          </a:prstGeom>
        </p:spPr>
      </p:pic>
      <p:sp>
        <p:nvSpPr>
          <p:cNvPr id="20" name="TextBox 19"/>
          <p:cNvSpPr txBox="1"/>
          <p:nvPr/>
        </p:nvSpPr>
        <p:spPr>
          <a:xfrm>
            <a:off x="9017000" y="3136900"/>
            <a:ext cx="165100" cy="342900"/>
          </a:xfrm>
          <a:prstGeom prst="rect">
            <a:avLst/>
          </a:prstGeom>
          <a:noFill/>
        </p:spPr>
        <p:txBody>
          <a:bodyPr wrap="none" lIns="0" rIns="0" tIns="0" bIns="0">
            <a:spAutoFit/>
          </a:bodyPr>
          <a:lstStyle/>
          <a:p>
            <a:pPr algn="l">
              <a:defRPr i="0" sz="2000" b="1">
                <a:solidFill>
                  <a:srgbClr val="09090B"/>
                </a:solidFill>
                <a:latin typeface="Inter"/>
              </a:defRPr>
            </a:pPr>
            <a:r>
              <a:rPr i="0" sz="2000" b="1">
                <a:solidFill>
                  <a:srgbClr val="09090B"/>
                </a:solidFill>
                <a:latin typeface="Inter"/>
              </a:rPr>
              <a:t>7</a:t>
            </a:r>
          </a:p>
        </p:txBody>
      </p:sp>
      <p:sp>
        <p:nvSpPr>
          <p:cNvPr id="21" name="TextBox 20"/>
          <p:cNvSpPr txBox="1"/>
          <p:nvPr/>
        </p:nvSpPr>
        <p:spPr>
          <a:xfrm>
            <a:off x="9702800" y="3162300"/>
            <a:ext cx="3708400" cy="292100"/>
          </a:xfrm>
          <a:prstGeom prst="rect">
            <a:avLst/>
          </a:prstGeom>
          <a:noFill/>
        </p:spPr>
        <p:txBody>
          <a:bodyPr wrap="none" lIns="0" rIns="0" tIns="0" bIns="0">
            <a:spAutoFit/>
          </a:bodyPr>
          <a:lstStyle/>
          <a:p>
            <a:pPr algn="l">
              <a:defRPr i="0" sz="1800" b="0">
                <a:solidFill>
                  <a:srgbClr val="E2E8F0"/>
                </a:solidFill>
                <a:latin typeface="Inter"/>
              </a:defRPr>
            </a:pPr>
            <a:r>
              <a:rPr i="0" sz="1800" b="0">
                <a:solidFill>
                  <a:srgbClr val="E2E8F0"/>
                </a:solidFill>
                <a:latin typeface="Inter"/>
              </a:rPr>
              <a:t>Integration and Deployment Options</a:t>
            </a:r>
          </a:p>
        </p:txBody>
      </p:sp>
      <p:sp>
        <p:nvSpPr>
          <p:cNvPr id="22" name="TextBox 21"/>
          <p:cNvSpPr txBox="1"/>
          <p:nvPr/>
        </p:nvSpPr>
        <p:spPr>
          <a:xfrm>
            <a:off x="15341600" y="3162300"/>
            <a:ext cx="127000" cy="304800"/>
          </a:xfrm>
          <a:prstGeom prst="rect">
            <a:avLst/>
          </a:prstGeom>
          <a:noFill/>
        </p:spPr>
        <p:txBody>
          <a:bodyPr wrap="square" lIns="0" rIns="0" tIns="0" bIns="0">
            <a:spAutoFit/>
          </a:bodyPr>
          <a:lstStyle/>
          <a:p>
            <a:pPr algn="l">
              <a:defRPr i="0" sz="1600" b="0">
                <a:solidFill>
                  <a:srgbClr val="CBD5E1"/>
                </a:solidFill>
                <a:latin typeface="Inter"/>
              </a:defRPr>
            </a:pPr>
            <a:r>
              <a:rPr i="0" sz="1600" b="0">
                <a:solidFill>
                  <a:srgbClr val="CBD5E1"/>
                </a:solidFill>
                <a:latin typeface="Inter"/>
              </a:rPr>
              <a:t>7</a:t>
            </a:r>
          </a:p>
        </p:txBody>
      </p:sp>
      <p:pic>
        <p:nvPicPr>
          <p:cNvPr id="23" name="Picture 22" descr="9f17e784-e648-473e-9ba1-393533c46e70.png"/>
          <p:cNvPicPr>
            <a:picLocks noChangeAspect="1"/>
          </p:cNvPicPr>
          <p:nvPr/>
        </p:nvPicPr>
        <p:blipFill>
          <a:blip r:embed="rId8"/>
          <a:stretch>
            <a:fillRect/>
          </a:stretch>
        </p:blipFill>
        <p:spPr>
          <a:xfrm>
            <a:off x="8737600" y="4076700"/>
            <a:ext cx="711200" cy="711200"/>
          </a:xfrm>
          <a:prstGeom prst="rect">
            <a:avLst/>
          </a:prstGeom>
        </p:spPr>
      </p:pic>
      <p:sp>
        <p:nvSpPr>
          <p:cNvPr id="24" name="TextBox 23"/>
          <p:cNvSpPr txBox="1"/>
          <p:nvPr/>
        </p:nvSpPr>
        <p:spPr>
          <a:xfrm>
            <a:off x="9017000" y="4254500"/>
            <a:ext cx="165100" cy="342900"/>
          </a:xfrm>
          <a:prstGeom prst="rect">
            <a:avLst/>
          </a:prstGeom>
          <a:noFill/>
        </p:spPr>
        <p:txBody>
          <a:bodyPr wrap="none" lIns="0" rIns="0" tIns="0" bIns="0">
            <a:spAutoFit/>
          </a:bodyPr>
          <a:lstStyle/>
          <a:p>
            <a:pPr algn="l">
              <a:defRPr i="0" sz="2000" b="1">
                <a:solidFill>
                  <a:srgbClr val="09090B"/>
                </a:solidFill>
                <a:latin typeface="Inter"/>
              </a:defRPr>
            </a:pPr>
            <a:r>
              <a:rPr i="0" sz="2000" b="1">
                <a:solidFill>
                  <a:srgbClr val="09090B"/>
                </a:solidFill>
                <a:latin typeface="Inter"/>
              </a:rPr>
              <a:t>8</a:t>
            </a:r>
          </a:p>
        </p:txBody>
      </p:sp>
      <p:sp>
        <p:nvSpPr>
          <p:cNvPr id="25" name="TextBox 24"/>
          <p:cNvSpPr txBox="1"/>
          <p:nvPr/>
        </p:nvSpPr>
        <p:spPr>
          <a:xfrm>
            <a:off x="9702800" y="4279900"/>
            <a:ext cx="3708400" cy="292100"/>
          </a:xfrm>
          <a:prstGeom prst="rect">
            <a:avLst/>
          </a:prstGeom>
          <a:noFill/>
        </p:spPr>
        <p:txBody>
          <a:bodyPr wrap="none" lIns="0" rIns="0" tIns="0" bIns="0">
            <a:spAutoFit/>
          </a:bodyPr>
          <a:lstStyle/>
          <a:p>
            <a:pPr algn="l">
              <a:defRPr i="0" sz="1800" b="0">
                <a:solidFill>
                  <a:srgbClr val="E2E8F0"/>
                </a:solidFill>
                <a:latin typeface="Inter"/>
              </a:defRPr>
            </a:pPr>
            <a:r>
              <a:rPr i="0" sz="1800" b="0">
                <a:solidFill>
                  <a:srgbClr val="E2E8F0"/>
                </a:solidFill>
                <a:latin typeface="Inter"/>
              </a:rPr>
              <a:t>Best Practices for Effective AI Model Protection</a:t>
            </a:r>
          </a:p>
        </p:txBody>
      </p:sp>
      <p:sp>
        <p:nvSpPr>
          <p:cNvPr id="26" name="TextBox 25"/>
          <p:cNvSpPr txBox="1"/>
          <p:nvPr/>
        </p:nvSpPr>
        <p:spPr>
          <a:xfrm>
            <a:off x="15341600" y="4279900"/>
            <a:ext cx="127000" cy="304800"/>
          </a:xfrm>
          <a:prstGeom prst="rect">
            <a:avLst/>
          </a:prstGeom>
          <a:noFill/>
        </p:spPr>
        <p:txBody>
          <a:bodyPr wrap="square" lIns="0" rIns="0" tIns="0" bIns="0">
            <a:spAutoFit/>
          </a:bodyPr>
          <a:lstStyle/>
          <a:p>
            <a:pPr algn="l">
              <a:defRPr i="0" sz="1600" b="0">
                <a:solidFill>
                  <a:srgbClr val="CBD5E1"/>
                </a:solidFill>
                <a:latin typeface="Inter"/>
              </a:defRPr>
            </a:pPr>
            <a:r>
              <a:rPr i="0" sz="1600" b="0">
                <a:solidFill>
                  <a:srgbClr val="CBD5E1"/>
                </a:solidFill>
                <a:latin typeface="Inter"/>
              </a:rPr>
              <a:t>8</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11200" y="558800"/>
            <a:ext cx="14859000" cy="787400"/>
          </a:xfrm>
          <a:prstGeom prst="rect">
            <a:avLst/>
          </a:prstGeom>
          <a:noFill/>
        </p:spPr>
        <p:txBody>
          <a:bodyPr wrap="square" lIns="0" rIns="0" tIns="0" bIns="0">
            <a:spAutoFit/>
          </a:bodyPr>
          <a:lstStyle/>
          <a:p>
            <a:pPr algn="l">
              <a:defRPr i="0" sz="5600" b="1">
                <a:solidFill>
                  <a:srgbClr val="FFFFFF"/>
                </a:solidFill>
                <a:latin typeface="Inter"/>
              </a:defRPr>
            </a:pPr>
            <a:r>
              <a:rPr i="0" sz="5600" b="1">
                <a:solidFill>
                  <a:srgbClr val="FFFFFF"/>
                </a:solidFill>
                <a:latin typeface="Inter"/>
              </a:rPr>
              <a:t>Securing AI Amid Evolving Threats</a:t>
            </a:r>
          </a:p>
        </p:txBody>
      </p:sp>
      <p:pic>
        <p:nvPicPr>
          <p:cNvPr id="3" name="Picture 2" descr="5052c5c6-6767-49c5-a679-3990b20d8df1.png"/>
          <p:cNvPicPr>
            <a:picLocks noChangeAspect="1"/>
          </p:cNvPicPr>
          <p:nvPr/>
        </p:nvPicPr>
        <p:blipFill>
          <a:blip r:embed="rId3"/>
          <a:stretch>
            <a:fillRect/>
          </a:stretch>
        </p:blipFill>
        <p:spPr>
          <a:xfrm>
            <a:off x="711200" y="1752600"/>
            <a:ext cx="5461000" cy="3810000"/>
          </a:xfrm>
          <a:prstGeom prst="rect">
            <a:avLst/>
          </a:prstGeom>
        </p:spPr>
      </p:pic>
      <p:sp>
        <p:nvSpPr>
          <p:cNvPr id="4" name="TextBox 3"/>
          <p:cNvSpPr txBox="1"/>
          <p:nvPr/>
        </p:nvSpPr>
        <p:spPr>
          <a:xfrm>
            <a:off x="7162800" y="1651000"/>
            <a:ext cx="8407400" cy="330200"/>
          </a:xfrm>
          <a:prstGeom prst="rect">
            <a:avLst/>
          </a:prstGeom>
          <a:noFill/>
        </p:spPr>
        <p:txBody>
          <a:bodyPr wrap="square" lIns="0" rIns="0" tIns="0" bIns="0">
            <a:spAutoFit/>
          </a:bodyPr>
          <a:lstStyle/>
          <a:p>
            <a:pPr algn="l">
              <a:defRPr i="0" sz="1600" b="0">
                <a:solidFill>
                  <a:srgbClr val="C9D3E7"/>
                </a:solidFill>
                <a:latin typeface="Inter"/>
              </a:defRPr>
            </a:pPr>
            <a:r>
              <a:rPr i="0" sz="1600" b="0">
                <a:solidFill>
                  <a:srgbClr val="C9D3E7"/>
                </a:solidFill>
                <a:latin typeface="Inter"/>
              </a:rPr>
              <a:t>AI systems face rising, sophisticated cyber risks that demand robust security strategies.</a:t>
            </a:r>
          </a:p>
        </p:txBody>
      </p:sp>
      <p:sp>
        <p:nvSpPr>
          <p:cNvPr id="5" name="Rounded Rectangle 4"/>
          <p:cNvSpPr/>
          <p:nvPr/>
        </p:nvSpPr>
        <p:spPr>
          <a:xfrm>
            <a:off x="7162800" y="2260600"/>
            <a:ext cx="711200" cy="711200"/>
          </a:xfrm>
          <a:prstGeom prst="roundRect">
            <a:avLst>
              <a:gd name="adj" fmla="val 21428"/>
            </a:avLst>
          </a:prstGeom>
          <a:solidFill>
            <a:srgbClr val="2556F6"/>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 name="TextBox 5"/>
          <p:cNvSpPr txBox="1"/>
          <p:nvPr/>
        </p:nvSpPr>
        <p:spPr>
          <a:xfrm>
            <a:off x="8128000" y="2260600"/>
            <a:ext cx="7442200" cy="330200"/>
          </a:xfrm>
          <a:prstGeom prst="rect">
            <a:avLst/>
          </a:prstGeom>
          <a:noFill/>
        </p:spPr>
        <p:txBody>
          <a:bodyPr wrap="square" lIns="0" rIns="0" tIns="0" bIns="0">
            <a:spAutoFit/>
          </a:bodyPr>
          <a:lstStyle/>
          <a:p>
            <a:pPr algn="l">
              <a:defRPr i="0" sz="2000" b="1">
                <a:solidFill>
                  <a:srgbClr val="FFFFFF"/>
                </a:solidFill>
                <a:latin typeface="Inter"/>
              </a:defRPr>
            </a:pPr>
            <a:r>
              <a:rPr i="0" sz="2000" b="1">
                <a:solidFill>
                  <a:srgbClr val="FFFFFF"/>
                </a:solidFill>
                <a:latin typeface="Inter"/>
              </a:rPr>
              <a:t>Escalating Attacks</a:t>
            </a:r>
          </a:p>
        </p:txBody>
      </p:sp>
      <p:sp>
        <p:nvSpPr>
          <p:cNvPr id="7" name="Rounded Rectangle 6"/>
          <p:cNvSpPr/>
          <p:nvPr/>
        </p:nvSpPr>
        <p:spPr>
          <a:xfrm>
            <a:off x="8128000" y="2667000"/>
            <a:ext cx="508000" cy="38100"/>
          </a:xfrm>
          <a:prstGeom prst="roundRect">
            <a:avLst>
              <a:gd name="adj" fmla="val 666666"/>
            </a:avLst>
          </a:prstGeom>
          <a:solidFill>
            <a:srgbClr val="3B82F6"/>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8" name="TextBox 7"/>
          <p:cNvSpPr txBox="1"/>
          <p:nvPr/>
        </p:nvSpPr>
        <p:spPr>
          <a:xfrm>
            <a:off x="8128000" y="2806700"/>
            <a:ext cx="7137400" cy="609600"/>
          </a:xfrm>
          <a:prstGeom prst="rect">
            <a:avLst/>
          </a:prstGeom>
          <a:noFill/>
        </p:spPr>
        <p:txBody>
          <a:bodyPr wrap="square" lIns="0" rIns="0" tIns="0" bIns="0">
            <a:spAutoFit/>
          </a:bodyPr>
          <a:lstStyle/>
          <a:p>
            <a:pPr algn="l">
              <a:defRPr i="0" sz="1400" b="0">
                <a:solidFill>
                  <a:srgbClr val="C9D3E7"/>
                </a:solidFill>
                <a:latin typeface="Inter"/>
              </a:defRPr>
            </a:pPr>
            <a:r>
              <a:rPr i="0" sz="1400" b="0">
                <a:solidFill>
                  <a:srgbClr val="C9D3E7"/>
                </a:solidFill>
                <a:latin typeface="Inter"/>
              </a:rPr>
              <a:t>79% of enterprises report increased AI-focused cyberattacks, highlighting rapid escalation in threat intensity.</a:t>
            </a:r>
          </a:p>
        </p:txBody>
      </p:sp>
      <p:sp>
        <p:nvSpPr>
          <p:cNvPr id="9" name="Rounded Rectangle 8"/>
          <p:cNvSpPr/>
          <p:nvPr/>
        </p:nvSpPr>
        <p:spPr>
          <a:xfrm>
            <a:off x="7162800" y="3873500"/>
            <a:ext cx="711200" cy="711200"/>
          </a:xfrm>
          <a:prstGeom prst="roundRect">
            <a:avLst>
              <a:gd name="adj" fmla="val 21428"/>
            </a:avLst>
          </a:prstGeom>
          <a:solidFill>
            <a:srgbClr val="2556F6"/>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0" name="TextBox 9"/>
          <p:cNvSpPr txBox="1"/>
          <p:nvPr/>
        </p:nvSpPr>
        <p:spPr>
          <a:xfrm>
            <a:off x="8128000" y="3873500"/>
            <a:ext cx="7442200" cy="330200"/>
          </a:xfrm>
          <a:prstGeom prst="rect">
            <a:avLst/>
          </a:prstGeom>
          <a:noFill/>
        </p:spPr>
        <p:txBody>
          <a:bodyPr wrap="square" lIns="0" rIns="0" tIns="0" bIns="0">
            <a:spAutoFit/>
          </a:bodyPr>
          <a:lstStyle/>
          <a:p>
            <a:pPr algn="l">
              <a:defRPr i="0" sz="2000" b="1">
                <a:solidFill>
                  <a:srgbClr val="FFFFFF"/>
                </a:solidFill>
                <a:latin typeface="Inter"/>
              </a:defRPr>
            </a:pPr>
            <a:r>
              <a:rPr i="0" sz="2000" b="1">
                <a:solidFill>
                  <a:srgbClr val="FFFFFF"/>
                </a:solidFill>
                <a:latin typeface="Inter"/>
              </a:rPr>
              <a:t>Sensitive Data Exposure</a:t>
            </a:r>
          </a:p>
        </p:txBody>
      </p:sp>
      <p:sp>
        <p:nvSpPr>
          <p:cNvPr id="11" name="Rounded Rectangle 10"/>
          <p:cNvSpPr/>
          <p:nvPr/>
        </p:nvSpPr>
        <p:spPr>
          <a:xfrm>
            <a:off x="8128000" y="4279900"/>
            <a:ext cx="508000" cy="38100"/>
          </a:xfrm>
          <a:prstGeom prst="roundRect">
            <a:avLst>
              <a:gd name="adj" fmla="val 666666"/>
            </a:avLst>
          </a:prstGeom>
          <a:solidFill>
            <a:srgbClr val="3B82F6"/>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2" name="TextBox 11"/>
          <p:cNvSpPr txBox="1"/>
          <p:nvPr/>
        </p:nvSpPr>
        <p:spPr>
          <a:xfrm>
            <a:off x="8128000" y="4419600"/>
            <a:ext cx="7137400" cy="609600"/>
          </a:xfrm>
          <a:prstGeom prst="rect">
            <a:avLst/>
          </a:prstGeom>
          <a:noFill/>
        </p:spPr>
        <p:txBody>
          <a:bodyPr wrap="square" lIns="0" rIns="0" tIns="0" bIns="0">
            <a:spAutoFit/>
          </a:bodyPr>
          <a:lstStyle/>
          <a:p>
            <a:pPr algn="l">
              <a:defRPr i="0" sz="1400" b="0">
                <a:solidFill>
                  <a:srgbClr val="C9D3E7"/>
                </a:solidFill>
                <a:latin typeface="Inter"/>
              </a:defRPr>
            </a:pPr>
            <a:r>
              <a:rPr i="0" sz="1400" b="0">
                <a:solidFill>
                  <a:srgbClr val="C9D3E7"/>
                </a:solidFill>
                <a:latin typeface="Inter"/>
              </a:rPr>
              <a:t>Breaches threaten training data, making privacy and confidentiality critical concerns for modern AI security.</a:t>
            </a:r>
          </a:p>
        </p:txBody>
      </p:sp>
      <p:sp>
        <p:nvSpPr>
          <p:cNvPr id="13" name="Rounded Rectangle 12"/>
          <p:cNvSpPr/>
          <p:nvPr/>
        </p:nvSpPr>
        <p:spPr>
          <a:xfrm>
            <a:off x="7162800" y="5486400"/>
            <a:ext cx="711200" cy="711200"/>
          </a:xfrm>
          <a:prstGeom prst="roundRect">
            <a:avLst>
              <a:gd name="adj" fmla="val 21428"/>
            </a:avLst>
          </a:prstGeom>
          <a:solidFill>
            <a:srgbClr val="2556F6"/>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4" name="TextBox 13"/>
          <p:cNvSpPr txBox="1"/>
          <p:nvPr/>
        </p:nvSpPr>
        <p:spPr>
          <a:xfrm>
            <a:off x="8128000" y="5486400"/>
            <a:ext cx="7442200" cy="330200"/>
          </a:xfrm>
          <a:prstGeom prst="rect">
            <a:avLst/>
          </a:prstGeom>
          <a:noFill/>
        </p:spPr>
        <p:txBody>
          <a:bodyPr wrap="square" lIns="0" rIns="0" tIns="0" bIns="0">
            <a:spAutoFit/>
          </a:bodyPr>
          <a:lstStyle/>
          <a:p>
            <a:pPr algn="l">
              <a:defRPr i="0" sz="2000" b="1">
                <a:solidFill>
                  <a:srgbClr val="FFFFFF"/>
                </a:solidFill>
                <a:latin typeface="Inter"/>
              </a:defRPr>
            </a:pPr>
            <a:r>
              <a:rPr i="0" sz="2000" b="1">
                <a:solidFill>
                  <a:srgbClr val="FFFFFF"/>
                </a:solidFill>
                <a:latin typeface="Inter"/>
              </a:rPr>
              <a:t>Model Theft Threat</a:t>
            </a:r>
          </a:p>
        </p:txBody>
      </p:sp>
      <p:sp>
        <p:nvSpPr>
          <p:cNvPr id="15" name="Rounded Rectangle 14"/>
          <p:cNvSpPr/>
          <p:nvPr/>
        </p:nvSpPr>
        <p:spPr>
          <a:xfrm>
            <a:off x="8128000" y="5892800"/>
            <a:ext cx="508000" cy="38100"/>
          </a:xfrm>
          <a:prstGeom prst="roundRect">
            <a:avLst>
              <a:gd name="adj" fmla="val 666666"/>
            </a:avLst>
          </a:prstGeom>
          <a:solidFill>
            <a:srgbClr val="3B82F6"/>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6" name="TextBox 15"/>
          <p:cNvSpPr txBox="1"/>
          <p:nvPr/>
        </p:nvSpPr>
        <p:spPr>
          <a:xfrm>
            <a:off x="8128000" y="6032500"/>
            <a:ext cx="7137400" cy="609600"/>
          </a:xfrm>
          <a:prstGeom prst="rect">
            <a:avLst/>
          </a:prstGeom>
          <a:noFill/>
        </p:spPr>
        <p:txBody>
          <a:bodyPr wrap="square" lIns="0" rIns="0" tIns="0" bIns="0">
            <a:spAutoFit/>
          </a:bodyPr>
          <a:lstStyle/>
          <a:p>
            <a:pPr algn="l">
              <a:defRPr i="0" sz="1400" b="0">
                <a:solidFill>
                  <a:srgbClr val="C9D3E7"/>
                </a:solidFill>
                <a:latin typeface="Inter"/>
              </a:defRPr>
            </a:pPr>
            <a:r>
              <a:rPr i="0" sz="1400" b="0">
                <a:solidFill>
                  <a:srgbClr val="C9D3E7"/>
                </a:solidFill>
                <a:latin typeface="Inter"/>
              </a:rPr>
              <a:t>Reverse engineering enables adversaries to steal proprietary AI models, risking intellectual property loss.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5533b07-d816-49dc-8b04-aa00d46456dc.png"/>
          <p:cNvPicPr>
            <a:picLocks noChangeAspect="1"/>
          </p:cNvPicPr>
          <p:nvPr/>
        </p:nvPicPr>
        <p:blipFill>
          <a:blip r:embed="rId3"/>
          <a:stretch>
            <a:fillRect/>
          </a:stretch>
        </p:blipFill>
        <p:spPr>
          <a:xfrm>
            <a:off x="0" y="6350000"/>
            <a:ext cx="16256000" cy="2794000"/>
          </a:xfrm>
          <a:prstGeom prst="rect">
            <a:avLst/>
          </a:prstGeom>
        </p:spPr>
      </p:pic>
      <p:sp>
        <p:nvSpPr>
          <p:cNvPr id="3" name="TextBox 2"/>
          <p:cNvSpPr txBox="1"/>
          <p:nvPr/>
        </p:nvSpPr>
        <p:spPr>
          <a:xfrm>
            <a:off x="1066800" y="812800"/>
            <a:ext cx="14147800" cy="749300"/>
          </a:xfrm>
          <a:prstGeom prst="rect">
            <a:avLst/>
          </a:prstGeom>
          <a:noFill/>
        </p:spPr>
        <p:txBody>
          <a:bodyPr wrap="square" lIns="0" rIns="0" tIns="0" bIns="0">
            <a:spAutoFit/>
          </a:bodyPr>
          <a:lstStyle/>
          <a:p>
            <a:pPr algn="l">
              <a:lnSpc>
                <a:spcPct val="75000"/>
              </a:lnSpc>
              <a:defRPr i="0" sz="5600" b="1">
                <a:solidFill>
                  <a:srgbClr val="FFFFFF"/>
                </a:solidFill>
                <a:latin typeface="Inter"/>
              </a:defRPr>
            </a:pPr>
            <a:r>
              <a:rPr i="0" sz="5600" b="1">
                <a:solidFill>
                  <a:srgbClr val="FFFFFF"/>
                </a:solidFill>
                <a:latin typeface="Inter"/>
              </a:rPr>
              <a:t>Comprehensive AI Model Protection</a:t>
            </a:r>
          </a:p>
        </p:txBody>
      </p:sp>
      <p:pic>
        <p:nvPicPr>
          <p:cNvPr id="4" name="Picture 3" descr="4bdb1faf-a70e-4c93-9dd5-2baa4155522d.png"/>
          <p:cNvPicPr>
            <a:picLocks noChangeAspect="1"/>
          </p:cNvPicPr>
          <p:nvPr/>
        </p:nvPicPr>
        <p:blipFill>
          <a:blip r:embed="rId4"/>
          <a:stretch>
            <a:fillRect/>
          </a:stretch>
        </p:blipFill>
        <p:spPr>
          <a:xfrm>
            <a:off x="1066800" y="1968500"/>
            <a:ext cx="406400" cy="406400"/>
          </a:xfrm>
          <a:prstGeom prst="rect">
            <a:avLst/>
          </a:prstGeom>
        </p:spPr>
      </p:pic>
      <p:sp>
        <p:nvSpPr>
          <p:cNvPr id="5" name="TextBox 4"/>
          <p:cNvSpPr txBox="1"/>
          <p:nvPr/>
        </p:nvSpPr>
        <p:spPr>
          <a:xfrm>
            <a:off x="1981200" y="1993900"/>
            <a:ext cx="3136900" cy="317500"/>
          </a:xfrm>
          <a:prstGeom prst="rect">
            <a:avLst/>
          </a:prstGeom>
          <a:noFill/>
        </p:spPr>
        <p:txBody>
          <a:bodyPr wrap="square" lIns="0" rIns="0" tIns="0" bIns="0">
            <a:spAutoFit/>
          </a:bodyPr>
          <a:lstStyle/>
          <a:p>
            <a:pPr algn="l">
              <a:defRPr i="0" sz="2000" b="1">
                <a:solidFill>
                  <a:srgbClr val="FFFFFF"/>
                </a:solidFill>
                <a:latin typeface="Inter"/>
              </a:defRPr>
            </a:pPr>
            <a:r>
              <a:rPr i="0" sz="2000" b="1">
                <a:solidFill>
                  <a:srgbClr val="FFFFFF"/>
                </a:solidFill>
                <a:latin typeface="Inter"/>
              </a:rPr>
              <a:t>Holistic Security</a:t>
            </a:r>
          </a:p>
        </p:txBody>
      </p:sp>
      <p:sp>
        <p:nvSpPr>
          <p:cNvPr id="6" name="TextBox 5"/>
          <p:cNvSpPr txBox="1"/>
          <p:nvPr/>
        </p:nvSpPr>
        <p:spPr>
          <a:xfrm>
            <a:off x="1981200" y="2413000"/>
            <a:ext cx="3136900" cy="939800"/>
          </a:xfrm>
          <a:prstGeom prst="rect">
            <a:avLst/>
          </a:prstGeom>
          <a:noFill/>
        </p:spPr>
        <p:txBody>
          <a:bodyPr wrap="square" lIns="0" rIns="0" tIns="0" bIns="0">
            <a:spAutoFit/>
          </a:bodyPr>
          <a:lstStyle/>
          <a:p>
            <a:pPr algn="l">
              <a:lnSpc>
                <a:spcPct val="125000"/>
              </a:lnSpc>
              <a:defRPr i="0" sz="1600" b="0">
                <a:solidFill>
                  <a:srgbClr val="FFFFFF"/>
                </a:solidFill>
                <a:latin typeface="Inter"/>
              </a:defRPr>
            </a:pPr>
            <a:r>
              <a:rPr i="0" sz="1600" b="0">
                <a:solidFill>
                  <a:srgbClr val="FFFFFF"/>
                </a:solidFill>
                <a:latin typeface="Inter"/>
              </a:rPr>
              <a:t>End-to-end protection for AI models, apps, and assets at every lifecycle stage.</a:t>
            </a:r>
          </a:p>
        </p:txBody>
      </p:sp>
      <p:pic>
        <p:nvPicPr>
          <p:cNvPr id="7" name="Picture 6" descr="2e77c007-f36d-432b-b627-e99cd5e2a9b7.png"/>
          <p:cNvPicPr>
            <a:picLocks noChangeAspect="1"/>
          </p:cNvPicPr>
          <p:nvPr/>
        </p:nvPicPr>
        <p:blipFill>
          <a:blip r:embed="rId5"/>
          <a:stretch>
            <a:fillRect/>
          </a:stretch>
        </p:blipFill>
        <p:spPr>
          <a:xfrm>
            <a:off x="6108700" y="1968500"/>
            <a:ext cx="406400" cy="406400"/>
          </a:xfrm>
          <a:prstGeom prst="rect">
            <a:avLst/>
          </a:prstGeom>
        </p:spPr>
      </p:pic>
      <p:sp>
        <p:nvSpPr>
          <p:cNvPr id="8" name="TextBox 7"/>
          <p:cNvSpPr txBox="1"/>
          <p:nvPr/>
        </p:nvSpPr>
        <p:spPr>
          <a:xfrm>
            <a:off x="7023100" y="1993900"/>
            <a:ext cx="3136900" cy="317500"/>
          </a:xfrm>
          <a:prstGeom prst="rect">
            <a:avLst/>
          </a:prstGeom>
          <a:noFill/>
        </p:spPr>
        <p:txBody>
          <a:bodyPr wrap="square" lIns="0" rIns="0" tIns="0" bIns="0">
            <a:spAutoFit/>
          </a:bodyPr>
          <a:lstStyle/>
          <a:p>
            <a:pPr algn="l">
              <a:defRPr i="0" sz="2000" b="1">
                <a:solidFill>
                  <a:srgbClr val="FFFFFF"/>
                </a:solidFill>
                <a:latin typeface="Inter"/>
              </a:defRPr>
            </a:pPr>
            <a:r>
              <a:rPr i="0" sz="2000" b="1">
                <a:solidFill>
                  <a:srgbClr val="FFFFFF"/>
                </a:solidFill>
                <a:latin typeface="Inter"/>
              </a:rPr>
              <a:t>Threat Detection</a:t>
            </a:r>
          </a:p>
        </p:txBody>
      </p:sp>
      <p:sp>
        <p:nvSpPr>
          <p:cNvPr id="9" name="TextBox 8"/>
          <p:cNvSpPr txBox="1"/>
          <p:nvPr/>
        </p:nvSpPr>
        <p:spPr>
          <a:xfrm>
            <a:off x="7023100" y="2413000"/>
            <a:ext cx="3136900" cy="939800"/>
          </a:xfrm>
          <a:prstGeom prst="rect">
            <a:avLst/>
          </a:prstGeom>
          <a:noFill/>
        </p:spPr>
        <p:txBody>
          <a:bodyPr wrap="square" lIns="0" rIns="0" tIns="0" bIns="0">
            <a:spAutoFit/>
          </a:bodyPr>
          <a:lstStyle/>
          <a:p>
            <a:pPr algn="l">
              <a:lnSpc>
                <a:spcPct val="125000"/>
              </a:lnSpc>
              <a:defRPr i="0" sz="1600" b="0">
                <a:solidFill>
                  <a:srgbClr val="FFFFFF"/>
                </a:solidFill>
                <a:latin typeface="Inter"/>
              </a:defRPr>
            </a:pPr>
            <a:r>
              <a:rPr i="0" sz="1600" b="0">
                <a:solidFill>
                  <a:srgbClr val="FFFFFF"/>
                </a:solidFill>
                <a:latin typeface="Inter"/>
              </a:rPr>
              <a:t>Rapidly identifies and neutralizes vulnerabilities via advanced monitoring and analytics.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996839e9-64e9-4d1e-a028-12856d25594d.png"/>
          <p:cNvPicPr>
            <a:picLocks noChangeAspect="1"/>
          </p:cNvPicPr>
          <p:nvPr/>
        </p:nvPicPr>
        <p:blipFill>
          <a:blip r:embed="rId3"/>
          <a:stretch>
            <a:fillRect/>
          </a:stretch>
        </p:blipFill>
        <p:spPr>
          <a:xfrm>
            <a:off x="0" y="6858000"/>
            <a:ext cx="16256000" cy="2286000"/>
          </a:xfrm>
          <a:prstGeom prst="rect">
            <a:avLst/>
          </a:prstGeom>
        </p:spPr>
      </p:pic>
      <p:sp>
        <p:nvSpPr>
          <p:cNvPr id="3" name="TextBox 2"/>
          <p:cNvSpPr txBox="1"/>
          <p:nvPr/>
        </p:nvSpPr>
        <p:spPr>
          <a:xfrm>
            <a:off x="914400" y="711200"/>
            <a:ext cx="14452600" cy="749300"/>
          </a:xfrm>
          <a:prstGeom prst="rect">
            <a:avLst/>
          </a:prstGeom>
          <a:noFill/>
        </p:spPr>
        <p:txBody>
          <a:bodyPr wrap="square" lIns="0" rIns="0" tIns="0" bIns="0">
            <a:spAutoFit/>
          </a:bodyPr>
          <a:lstStyle/>
          <a:p>
            <a:pPr algn="l">
              <a:lnSpc>
                <a:spcPct val="75000"/>
              </a:lnSpc>
              <a:defRPr i="0" sz="5600" b="1">
                <a:solidFill>
                  <a:srgbClr val="FFFFFF"/>
                </a:solidFill>
                <a:latin typeface="Inter"/>
              </a:defRPr>
            </a:pPr>
            <a:r>
              <a:rPr i="0" sz="5600" b="1">
                <a:solidFill>
                  <a:srgbClr val="FFFFFF"/>
                </a:solidFill>
                <a:latin typeface="Inter"/>
              </a:rPr>
              <a:t>Key Features of AI Model Protection</a:t>
            </a:r>
          </a:p>
        </p:txBody>
      </p:sp>
      <p:sp>
        <p:nvSpPr>
          <p:cNvPr id="4" name="TextBox 3"/>
          <p:cNvSpPr txBox="1"/>
          <p:nvPr/>
        </p:nvSpPr>
        <p:spPr>
          <a:xfrm>
            <a:off x="914400" y="1968500"/>
            <a:ext cx="304800" cy="558800"/>
          </a:xfrm>
          <a:prstGeom prst="rect">
            <a:avLst/>
          </a:prstGeom>
          <a:noFill/>
        </p:spPr>
        <p:txBody>
          <a:bodyPr wrap="square" lIns="0" rIns="0" tIns="0" bIns="0">
            <a:spAutoFit/>
          </a:bodyPr>
          <a:lstStyle/>
          <a:p>
            <a:pPr algn="l">
              <a:lnSpc>
                <a:spcPct val="70000"/>
              </a:lnSpc>
              <a:defRPr i="0" sz="4400" b="1">
                <a:solidFill>
                  <a:srgbClr val="FFFFFF"/>
                </a:solidFill>
                <a:latin typeface="Inter"/>
              </a:defRPr>
            </a:pPr>
            <a:r>
              <a:rPr i="0" sz="4400" b="1">
                <a:solidFill>
                  <a:srgbClr val="FFFFFF"/>
                </a:solidFill>
                <a:latin typeface="Inter"/>
              </a:rPr>
              <a:t>1</a:t>
            </a:r>
          </a:p>
        </p:txBody>
      </p:sp>
      <p:sp>
        <p:nvSpPr>
          <p:cNvPr id="5" name="TextBox 4"/>
          <p:cNvSpPr txBox="1"/>
          <p:nvPr/>
        </p:nvSpPr>
        <p:spPr>
          <a:xfrm>
            <a:off x="1600200" y="1968500"/>
            <a:ext cx="5943600" cy="355600"/>
          </a:xfrm>
          <a:prstGeom prst="rect">
            <a:avLst/>
          </a:prstGeom>
          <a:noFill/>
        </p:spPr>
        <p:txBody>
          <a:bodyPr wrap="square" lIns="0" rIns="0" tIns="0" bIns="0">
            <a:spAutoFit/>
          </a:bodyPr>
          <a:lstStyle/>
          <a:p>
            <a:pPr algn="l">
              <a:defRPr i="0" sz="2200" b="1">
                <a:solidFill>
                  <a:srgbClr val="FFFFFF"/>
                </a:solidFill>
                <a:latin typeface="Inter"/>
              </a:defRPr>
            </a:pPr>
            <a:r>
              <a:rPr i="0" sz="2200" b="1">
                <a:solidFill>
                  <a:srgbClr val="FFFFFF"/>
                </a:solidFill>
                <a:latin typeface="Inter"/>
              </a:rPr>
              <a:t>AI Vulnerability Detection</a:t>
            </a:r>
          </a:p>
        </p:txBody>
      </p:sp>
      <p:sp>
        <p:nvSpPr>
          <p:cNvPr id="6" name="TextBox 5"/>
          <p:cNvSpPr txBox="1"/>
          <p:nvPr/>
        </p:nvSpPr>
        <p:spPr>
          <a:xfrm>
            <a:off x="1600200" y="2463800"/>
            <a:ext cx="5943600" cy="711200"/>
          </a:xfrm>
          <a:prstGeom prst="rect">
            <a:avLst/>
          </a:prstGeom>
          <a:noFill/>
        </p:spPr>
        <p:txBody>
          <a:bodyPr wrap="square" lIns="0" rIns="0" tIns="0" bIns="0">
            <a:spAutoFit/>
          </a:bodyPr>
          <a:lstStyle/>
          <a:p>
            <a:pPr algn="l">
              <a:defRPr i="0" sz="1500" b="0">
                <a:solidFill>
                  <a:srgbClr val="FFFFFF"/>
                </a:solidFill>
                <a:latin typeface="Inter"/>
              </a:defRPr>
            </a:pPr>
            <a:r>
              <a:rPr i="0" sz="1500" b="0">
                <a:solidFill>
                  <a:srgbClr val="FFFFFF"/>
                </a:solidFill>
                <a:latin typeface="Inter"/>
              </a:rPr>
              <a:t>Finds and fixes model risks proactively. In 2025, 44% of AI incidents involved overlooked vulnerabilities.</a:t>
            </a:r>
          </a:p>
        </p:txBody>
      </p:sp>
      <p:sp>
        <p:nvSpPr>
          <p:cNvPr id="7" name="TextBox 6"/>
          <p:cNvSpPr txBox="1"/>
          <p:nvPr/>
        </p:nvSpPr>
        <p:spPr>
          <a:xfrm>
            <a:off x="8737600" y="1968500"/>
            <a:ext cx="304800" cy="558800"/>
          </a:xfrm>
          <a:prstGeom prst="rect">
            <a:avLst/>
          </a:prstGeom>
          <a:noFill/>
        </p:spPr>
        <p:txBody>
          <a:bodyPr wrap="square" lIns="0" rIns="0" tIns="0" bIns="0">
            <a:spAutoFit/>
          </a:bodyPr>
          <a:lstStyle/>
          <a:p>
            <a:pPr algn="l">
              <a:lnSpc>
                <a:spcPct val="70000"/>
              </a:lnSpc>
              <a:defRPr i="0" sz="4400" b="1">
                <a:solidFill>
                  <a:srgbClr val="FFFFFF"/>
                </a:solidFill>
                <a:latin typeface="Inter"/>
              </a:defRPr>
            </a:pPr>
            <a:r>
              <a:rPr i="0" sz="4400" b="1">
                <a:solidFill>
                  <a:srgbClr val="FFFFFF"/>
                </a:solidFill>
                <a:latin typeface="Inter"/>
              </a:rPr>
              <a:t>2</a:t>
            </a:r>
          </a:p>
        </p:txBody>
      </p:sp>
      <p:sp>
        <p:nvSpPr>
          <p:cNvPr id="8" name="TextBox 7"/>
          <p:cNvSpPr txBox="1"/>
          <p:nvPr/>
        </p:nvSpPr>
        <p:spPr>
          <a:xfrm>
            <a:off x="9423400" y="1968500"/>
            <a:ext cx="5943600" cy="355600"/>
          </a:xfrm>
          <a:prstGeom prst="rect">
            <a:avLst/>
          </a:prstGeom>
          <a:noFill/>
        </p:spPr>
        <p:txBody>
          <a:bodyPr wrap="square" lIns="0" rIns="0" tIns="0" bIns="0">
            <a:spAutoFit/>
          </a:bodyPr>
          <a:lstStyle/>
          <a:p>
            <a:pPr algn="l">
              <a:defRPr i="0" sz="2200" b="1">
                <a:solidFill>
                  <a:srgbClr val="FFFFFF"/>
                </a:solidFill>
                <a:latin typeface="Inter"/>
              </a:defRPr>
            </a:pPr>
            <a:r>
              <a:rPr i="0" sz="2200" b="1">
                <a:solidFill>
                  <a:srgbClr val="FFFFFF"/>
                </a:solidFill>
                <a:latin typeface="Inter"/>
              </a:rPr>
              <a:t>Asset Discovery &amp; Detection</a:t>
            </a:r>
          </a:p>
        </p:txBody>
      </p:sp>
      <p:sp>
        <p:nvSpPr>
          <p:cNvPr id="9" name="TextBox 8"/>
          <p:cNvSpPr txBox="1"/>
          <p:nvPr/>
        </p:nvSpPr>
        <p:spPr>
          <a:xfrm>
            <a:off x="9423400" y="2463800"/>
            <a:ext cx="5943600" cy="711200"/>
          </a:xfrm>
          <a:prstGeom prst="rect">
            <a:avLst/>
          </a:prstGeom>
          <a:noFill/>
        </p:spPr>
        <p:txBody>
          <a:bodyPr wrap="square" lIns="0" rIns="0" tIns="0" bIns="0">
            <a:spAutoFit/>
          </a:bodyPr>
          <a:lstStyle/>
          <a:p>
            <a:pPr algn="l">
              <a:defRPr i="0" sz="1500" b="0">
                <a:solidFill>
                  <a:srgbClr val="FFFFFF"/>
                </a:solidFill>
                <a:latin typeface="Inter"/>
              </a:defRPr>
            </a:pPr>
            <a:r>
              <a:rPr i="0" sz="1500" b="0">
                <a:solidFill>
                  <a:srgbClr val="FFFFFF"/>
                </a:solidFill>
                <a:latin typeface="Inter"/>
              </a:rPr>
              <a:t>Achieves full asset visibility, eliminating shadow AI presence and enhancing security coverage.</a:t>
            </a:r>
          </a:p>
        </p:txBody>
      </p:sp>
      <p:sp>
        <p:nvSpPr>
          <p:cNvPr id="10" name="Rounded Rectangle 9"/>
          <p:cNvSpPr/>
          <p:nvPr/>
        </p:nvSpPr>
        <p:spPr>
          <a:xfrm>
            <a:off x="11887200" y="304800"/>
            <a:ext cx="4064000" cy="2286000"/>
          </a:xfrm>
          <a:prstGeom prst="roundRect">
            <a:avLst>
              <a:gd name="adj" fmla="val 3333"/>
            </a:avLst>
          </a:prstGeom>
          <a:solidFill>
            <a:srgbClr val="FFFFFF">
              <a:alpha val="5000"/>
            </a:srgbClr>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11" name="Picture 10" descr="86d9ab2b-c937-4b8a-9583-bebc5da8baee.png"/>
          <p:cNvPicPr>
            <a:picLocks noChangeAspect="1"/>
          </p:cNvPicPr>
          <p:nvPr/>
        </p:nvPicPr>
        <p:blipFill>
          <a:blip r:embed="rId4"/>
          <a:stretch>
            <a:fillRect/>
          </a:stretch>
        </p:blipFill>
        <p:spPr>
          <a:xfrm>
            <a:off x="12039600" y="457200"/>
            <a:ext cx="3810000" cy="2032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bc3c529d-4305-461e-a2f3-a9f4e0730cb4.png"/>
          <p:cNvPicPr>
            <a:picLocks noChangeAspect="1"/>
          </p:cNvPicPr>
          <p:nvPr/>
        </p:nvPicPr>
        <p:blipFill>
          <a:blip r:embed="rId3"/>
          <a:stretch>
            <a:fillRect/>
          </a:stretch>
        </p:blipFill>
        <p:spPr>
          <a:xfrm>
            <a:off x="0" y="0"/>
            <a:ext cx="7112000" cy="9144000"/>
          </a:xfrm>
          <a:prstGeom prst="rect">
            <a:avLst/>
          </a:prstGeom>
        </p:spPr>
      </p:pic>
      <p:sp>
        <p:nvSpPr>
          <p:cNvPr id="3" name="Rounded Rectangle 2"/>
          <p:cNvSpPr/>
          <p:nvPr/>
        </p:nvSpPr>
        <p:spPr>
          <a:xfrm>
            <a:off x="7112000" y="0"/>
            <a:ext cx="9144000" cy="9144000"/>
          </a:xfrm>
          <a:prstGeom prst="roundRect">
            <a:avLst>
              <a:gd name="adj" fmla="val 277"/>
            </a:avLst>
          </a:prstGeom>
          <a:solidFill>
            <a:srgbClr val="0B1B2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 name="TextBox 3"/>
          <p:cNvSpPr txBox="1"/>
          <p:nvPr/>
        </p:nvSpPr>
        <p:spPr>
          <a:xfrm>
            <a:off x="8128000" y="1422400"/>
            <a:ext cx="6731000" cy="787400"/>
          </a:xfrm>
          <a:prstGeom prst="rect">
            <a:avLst/>
          </a:prstGeom>
          <a:noFill/>
        </p:spPr>
        <p:txBody>
          <a:bodyPr wrap="square" lIns="0" rIns="0" tIns="0" bIns="0">
            <a:spAutoFit/>
          </a:bodyPr>
          <a:lstStyle/>
          <a:p>
            <a:pPr algn="l">
              <a:defRPr i="0" sz="5600" b="1">
                <a:solidFill>
                  <a:srgbClr val="FFFFFF"/>
                </a:solidFill>
                <a:latin typeface="Inter"/>
              </a:defRPr>
            </a:pPr>
            <a:r>
              <a:rPr i="0" sz="5600" b="1">
                <a:solidFill>
                  <a:srgbClr val="FFFFFF"/>
                </a:solidFill>
                <a:latin typeface="Inter"/>
              </a:rPr>
              <a:t>Real-World Use Cases</a:t>
            </a:r>
          </a:p>
        </p:txBody>
      </p:sp>
      <p:pic>
        <p:nvPicPr>
          <p:cNvPr id="5" name="Picture 4" descr="5c23cfb3-b605-4800-bbc1-9827819d1bf2.png"/>
          <p:cNvPicPr>
            <a:picLocks noChangeAspect="1"/>
          </p:cNvPicPr>
          <p:nvPr/>
        </p:nvPicPr>
        <p:blipFill>
          <a:blip r:embed="rId4"/>
          <a:stretch>
            <a:fillRect/>
          </a:stretch>
        </p:blipFill>
        <p:spPr>
          <a:xfrm>
            <a:off x="8128000" y="2616200"/>
            <a:ext cx="1117600" cy="101600"/>
          </a:xfrm>
          <a:prstGeom prst="rect">
            <a:avLst/>
          </a:prstGeom>
        </p:spPr>
      </p:pic>
      <p:sp>
        <p:nvSpPr>
          <p:cNvPr id="6" name="TextBox 5"/>
          <p:cNvSpPr txBox="1"/>
          <p:nvPr/>
        </p:nvSpPr>
        <p:spPr>
          <a:xfrm>
            <a:off x="8128000" y="3124200"/>
            <a:ext cx="6731000" cy="2197100"/>
          </a:xfrm>
          <a:prstGeom prst="rect">
            <a:avLst/>
          </a:prstGeom>
          <a:noFill/>
        </p:spPr>
        <p:txBody>
          <a:bodyPr wrap="square" lIns="0" rIns="0" tIns="0" bIns="0">
            <a:spAutoFit/>
          </a:bodyPr>
          <a:lstStyle/>
          <a:p>
            <a:pPr algn="l">
              <a:lnSpc>
                <a:spcPct val="130000"/>
              </a:lnSpc>
              <a:defRPr i="0" sz="1800" b="0">
                <a:solidFill>
                  <a:srgbClr val="CBD5E1"/>
                </a:solidFill>
                <a:latin typeface="Inter"/>
              </a:defRPr>
            </a:pPr>
            <a:r>
              <a:rPr i="0" sz="1800" b="0">
                <a:solidFill>
                  <a:srgbClr val="CBD5E1"/>
                </a:solidFill>
                <a:latin typeface="Inter"/>
              </a:rPr>
              <a:t>A leading financial institution leveraged advanced detection tools to block an AI theft attempt, protecting intellectual assets valued at $4M. In another example, a healthcare provider successfully identified and blocked model tampering through early adversarial input detection, preventing any patient data exposure. These cases highlight the vital role of AI security measures in high-stakes industries.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914400" y="711200"/>
            <a:ext cx="14452600" cy="889000"/>
          </a:xfrm>
          <a:prstGeom prst="rect">
            <a:avLst/>
          </a:prstGeom>
          <a:noFill/>
        </p:spPr>
        <p:txBody>
          <a:bodyPr wrap="square" lIns="0" rIns="0" tIns="0" bIns="0">
            <a:spAutoFit/>
          </a:bodyPr>
          <a:lstStyle/>
          <a:p>
            <a:pPr algn="l">
              <a:defRPr i="0" sz="6400" b="1">
                <a:solidFill>
                  <a:srgbClr val="FFFFFF"/>
                </a:solidFill>
                <a:latin typeface="Inter"/>
              </a:defRPr>
            </a:pPr>
            <a:r>
              <a:rPr i="0" sz="6400" b="1">
                <a:solidFill>
                  <a:srgbClr val="FFFFFF"/>
                </a:solidFill>
                <a:latin typeface="Inter"/>
              </a:rPr>
              <a:t>Integration and Deployment Options</a:t>
            </a:r>
          </a:p>
        </p:txBody>
      </p:sp>
      <p:sp>
        <p:nvSpPr>
          <p:cNvPr id="3" name="TextBox 2"/>
          <p:cNvSpPr txBox="1"/>
          <p:nvPr/>
        </p:nvSpPr>
        <p:spPr>
          <a:xfrm>
            <a:off x="914400" y="2057400"/>
            <a:ext cx="736600" cy="660400"/>
          </a:xfrm>
          <a:prstGeom prst="rect">
            <a:avLst/>
          </a:prstGeom>
          <a:noFill/>
        </p:spPr>
        <p:txBody>
          <a:bodyPr wrap="square" lIns="0" rIns="0" tIns="0" bIns="0">
            <a:spAutoFit/>
          </a:bodyPr>
          <a:lstStyle/>
          <a:p>
            <a:pPr algn="l">
              <a:lnSpc>
                <a:spcPct val="70000"/>
              </a:lnSpc>
              <a:defRPr i="0" sz="4800" b="1">
                <a:solidFill>
                  <a:srgbClr val="FFFFFF"/>
                </a:solidFill>
                <a:latin typeface="Inter"/>
              </a:defRPr>
            </a:pPr>
            <a:r>
              <a:rPr i="0" sz="4800" b="1">
                <a:solidFill>
                  <a:srgbClr val="FFFFFF"/>
                </a:solidFill>
                <a:latin typeface="Inter"/>
              </a:rPr>
              <a:t>1</a:t>
            </a:r>
          </a:p>
        </p:txBody>
      </p:sp>
      <p:sp>
        <p:nvSpPr>
          <p:cNvPr id="4" name="TextBox 3"/>
          <p:cNvSpPr txBox="1"/>
          <p:nvPr/>
        </p:nvSpPr>
        <p:spPr>
          <a:xfrm>
            <a:off x="1930400" y="2057400"/>
            <a:ext cx="5461000" cy="368300"/>
          </a:xfrm>
          <a:prstGeom prst="rect">
            <a:avLst/>
          </a:prstGeom>
          <a:noFill/>
        </p:spPr>
        <p:txBody>
          <a:bodyPr wrap="square" lIns="0" rIns="0" tIns="0" bIns="0">
            <a:spAutoFit/>
          </a:bodyPr>
          <a:lstStyle/>
          <a:p>
            <a:pPr algn="l">
              <a:defRPr i="0" sz="2200" b="1">
                <a:solidFill>
                  <a:srgbClr val="FFFFFF"/>
                </a:solidFill>
                <a:latin typeface="Inter"/>
              </a:defRPr>
            </a:pPr>
            <a:r>
              <a:rPr i="0" sz="2200" b="1">
                <a:solidFill>
                  <a:srgbClr val="FFFFFF"/>
                </a:solidFill>
                <a:latin typeface="Inter"/>
              </a:rPr>
              <a:t>Seamless Integration</a:t>
            </a:r>
          </a:p>
        </p:txBody>
      </p:sp>
      <p:sp>
        <p:nvSpPr>
          <p:cNvPr id="5" name="TextBox 4"/>
          <p:cNvSpPr txBox="1"/>
          <p:nvPr/>
        </p:nvSpPr>
        <p:spPr>
          <a:xfrm>
            <a:off x="1930400" y="2578100"/>
            <a:ext cx="5461000" cy="736600"/>
          </a:xfrm>
          <a:prstGeom prst="rect">
            <a:avLst/>
          </a:prstGeom>
          <a:noFill/>
        </p:spPr>
        <p:txBody>
          <a:bodyPr wrap="square" lIns="0" rIns="0" tIns="0" bIns="0">
            <a:spAutoFit/>
          </a:bodyPr>
          <a:lstStyle/>
          <a:p>
            <a:pPr algn="l">
              <a:lnSpc>
                <a:spcPct val="130000"/>
              </a:lnSpc>
              <a:defRPr i="0" sz="1800" b="0">
                <a:solidFill>
                  <a:srgbClr val="FFFFFF"/>
                </a:solidFill>
                <a:latin typeface="Inter"/>
              </a:defRPr>
            </a:pPr>
            <a:r>
              <a:rPr i="0" sz="1800" b="0">
                <a:solidFill>
                  <a:srgbClr val="FFFFFF"/>
                </a:solidFill>
                <a:latin typeface="Inter"/>
              </a:rPr>
              <a:t>Compatible across SIEM, SOAR, firewalls, and cloud-native security for streamlined security management.</a:t>
            </a:r>
          </a:p>
        </p:txBody>
      </p:sp>
      <p:sp>
        <p:nvSpPr>
          <p:cNvPr id="6" name="TextBox 5"/>
          <p:cNvSpPr txBox="1"/>
          <p:nvPr/>
        </p:nvSpPr>
        <p:spPr>
          <a:xfrm>
            <a:off x="8890000" y="2057400"/>
            <a:ext cx="736600" cy="660400"/>
          </a:xfrm>
          <a:prstGeom prst="rect">
            <a:avLst/>
          </a:prstGeom>
          <a:noFill/>
        </p:spPr>
        <p:txBody>
          <a:bodyPr wrap="square" lIns="0" rIns="0" tIns="0" bIns="0">
            <a:spAutoFit/>
          </a:bodyPr>
          <a:lstStyle/>
          <a:p>
            <a:pPr algn="l">
              <a:lnSpc>
                <a:spcPct val="70000"/>
              </a:lnSpc>
              <a:defRPr i="0" sz="4800" b="1">
                <a:solidFill>
                  <a:srgbClr val="FFFFFF"/>
                </a:solidFill>
                <a:latin typeface="Inter"/>
              </a:defRPr>
            </a:pPr>
            <a:r>
              <a:rPr i="0" sz="4800" b="1">
                <a:solidFill>
                  <a:srgbClr val="FFFFFF"/>
                </a:solidFill>
                <a:latin typeface="Inter"/>
              </a:rPr>
              <a:t>2</a:t>
            </a:r>
          </a:p>
        </p:txBody>
      </p:sp>
      <p:sp>
        <p:nvSpPr>
          <p:cNvPr id="7" name="TextBox 6"/>
          <p:cNvSpPr txBox="1"/>
          <p:nvPr/>
        </p:nvSpPr>
        <p:spPr>
          <a:xfrm>
            <a:off x="9906000" y="2057400"/>
            <a:ext cx="5461000" cy="368300"/>
          </a:xfrm>
          <a:prstGeom prst="rect">
            <a:avLst/>
          </a:prstGeom>
          <a:noFill/>
        </p:spPr>
        <p:txBody>
          <a:bodyPr wrap="square" lIns="0" rIns="0" tIns="0" bIns="0">
            <a:spAutoFit/>
          </a:bodyPr>
          <a:lstStyle/>
          <a:p>
            <a:pPr algn="l">
              <a:defRPr i="0" sz="2200" b="1">
                <a:solidFill>
                  <a:srgbClr val="FFFFFF"/>
                </a:solidFill>
                <a:latin typeface="Inter"/>
              </a:defRPr>
            </a:pPr>
            <a:r>
              <a:rPr i="0" sz="2200" b="1">
                <a:solidFill>
                  <a:srgbClr val="FFFFFF"/>
                </a:solidFill>
                <a:latin typeface="Inter"/>
              </a:rPr>
              <a:t>Flexible Deployment Models</a:t>
            </a:r>
          </a:p>
        </p:txBody>
      </p:sp>
      <p:sp>
        <p:nvSpPr>
          <p:cNvPr id="8" name="TextBox 7"/>
          <p:cNvSpPr txBox="1"/>
          <p:nvPr/>
        </p:nvSpPr>
        <p:spPr>
          <a:xfrm>
            <a:off x="9906000" y="2578100"/>
            <a:ext cx="5461000" cy="736600"/>
          </a:xfrm>
          <a:prstGeom prst="rect">
            <a:avLst/>
          </a:prstGeom>
          <a:noFill/>
        </p:spPr>
        <p:txBody>
          <a:bodyPr wrap="square" lIns="0" rIns="0" tIns="0" bIns="0">
            <a:spAutoFit/>
          </a:bodyPr>
          <a:lstStyle/>
          <a:p>
            <a:pPr algn="l">
              <a:lnSpc>
                <a:spcPct val="130000"/>
              </a:lnSpc>
              <a:defRPr i="0" sz="1800" b="0">
                <a:solidFill>
                  <a:srgbClr val="FFFFFF"/>
                </a:solidFill>
                <a:latin typeface="Inter"/>
              </a:defRPr>
            </a:pPr>
            <a:r>
              <a:rPr i="0" sz="1800" b="0">
                <a:solidFill>
                  <a:srgbClr val="FFFFFF"/>
                </a:solidFill>
                <a:latin typeface="Inter"/>
              </a:rPr>
              <a:t>Choose on-premises for compliance or cloud/hybrid for scalability and efficient resource use.</a:t>
            </a:r>
          </a:p>
        </p:txBody>
      </p:sp>
      <p:sp>
        <p:nvSpPr>
          <p:cNvPr id="9" name="TextBox 8"/>
          <p:cNvSpPr txBox="1"/>
          <p:nvPr/>
        </p:nvSpPr>
        <p:spPr>
          <a:xfrm>
            <a:off x="914400" y="4229100"/>
            <a:ext cx="736600" cy="660400"/>
          </a:xfrm>
          <a:prstGeom prst="rect">
            <a:avLst/>
          </a:prstGeom>
          <a:noFill/>
        </p:spPr>
        <p:txBody>
          <a:bodyPr wrap="square" lIns="0" rIns="0" tIns="0" bIns="0">
            <a:spAutoFit/>
          </a:bodyPr>
          <a:lstStyle/>
          <a:p>
            <a:pPr algn="l">
              <a:lnSpc>
                <a:spcPct val="70000"/>
              </a:lnSpc>
              <a:defRPr i="0" sz="4800" b="1">
                <a:solidFill>
                  <a:srgbClr val="FFFFFF"/>
                </a:solidFill>
                <a:latin typeface="Inter"/>
              </a:defRPr>
            </a:pPr>
            <a:r>
              <a:rPr i="0" sz="4800" b="1">
                <a:solidFill>
                  <a:srgbClr val="FFFFFF"/>
                </a:solidFill>
                <a:latin typeface="Inter"/>
              </a:rPr>
              <a:t>3</a:t>
            </a:r>
          </a:p>
        </p:txBody>
      </p:sp>
      <p:sp>
        <p:nvSpPr>
          <p:cNvPr id="10" name="TextBox 9"/>
          <p:cNvSpPr txBox="1"/>
          <p:nvPr/>
        </p:nvSpPr>
        <p:spPr>
          <a:xfrm>
            <a:off x="1930400" y="4229100"/>
            <a:ext cx="5461000" cy="368300"/>
          </a:xfrm>
          <a:prstGeom prst="rect">
            <a:avLst/>
          </a:prstGeom>
          <a:noFill/>
        </p:spPr>
        <p:txBody>
          <a:bodyPr wrap="square" lIns="0" rIns="0" tIns="0" bIns="0">
            <a:spAutoFit/>
          </a:bodyPr>
          <a:lstStyle/>
          <a:p>
            <a:pPr algn="l">
              <a:defRPr i="0" sz="2200" b="1">
                <a:solidFill>
                  <a:srgbClr val="FFFFFF"/>
                </a:solidFill>
                <a:latin typeface="Inter"/>
              </a:defRPr>
            </a:pPr>
            <a:r>
              <a:rPr i="0" sz="2200" b="1">
                <a:solidFill>
                  <a:srgbClr val="FFFFFF"/>
                </a:solidFill>
                <a:latin typeface="Inter"/>
              </a:rPr>
              <a:t>Streamlined Adoption</a:t>
            </a:r>
          </a:p>
        </p:txBody>
      </p:sp>
      <p:sp>
        <p:nvSpPr>
          <p:cNvPr id="11" name="TextBox 10"/>
          <p:cNvSpPr txBox="1"/>
          <p:nvPr/>
        </p:nvSpPr>
        <p:spPr>
          <a:xfrm>
            <a:off x="1930400" y="4737100"/>
            <a:ext cx="5461000" cy="736600"/>
          </a:xfrm>
          <a:prstGeom prst="rect">
            <a:avLst/>
          </a:prstGeom>
          <a:noFill/>
        </p:spPr>
        <p:txBody>
          <a:bodyPr wrap="square" lIns="0" rIns="0" tIns="0" bIns="0">
            <a:spAutoFit/>
          </a:bodyPr>
          <a:lstStyle/>
          <a:p>
            <a:pPr algn="l">
              <a:lnSpc>
                <a:spcPct val="130000"/>
              </a:lnSpc>
              <a:defRPr i="0" sz="1800" b="0">
                <a:solidFill>
                  <a:srgbClr val="FFFFFF"/>
                </a:solidFill>
                <a:latin typeface="Inter"/>
              </a:defRPr>
            </a:pPr>
            <a:r>
              <a:rPr i="0" sz="1800" b="0">
                <a:solidFill>
                  <a:srgbClr val="FFFFFF"/>
                </a:solidFill>
                <a:latin typeface="Inter"/>
              </a:rPr>
              <a:t>Rapid setup and support accelerate time-to-value, enabling quick operational integration.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6d04a15d-da2d-4051-85bc-e3a710e09a9d.png"/>
          <p:cNvPicPr>
            <a:picLocks noChangeAspect="1"/>
          </p:cNvPicPr>
          <p:nvPr/>
        </p:nvPicPr>
        <p:blipFill>
          <a:blip r:embed="rId3"/>
          <a:stretch>
            <a:fillRect/>
          </a:stretch>
        </p:blipFill>
        <p:spPr>
          <a:xfrm>
            <a:off x="0" y="6350000"/>
            <a:ext cx="16256000" cy="2794000"/>
          </a:xfrm>
          <a:prstGeom prst="rect">
            <a:avLst/>
          </a:prstGeom>
        </p:spPr>
      </p:pic>
      <p:sp>
        <p:nvSpPr>
          <p:cNvPr id="3" name="TextBox 2"/>
          <p:cNvSpPr txBox="1"/>
          <p:nvPr/>
        </p:nvSpPr>
        <p:spPr>
          <a:xfrm>
            <a:off x="1066800" y="812800"/>
            <a:ext cx="14147800" cy="749300"/>
          </a:xfrm>
          <a:prstGeom prst="rect">
            <a:avLst/>
          </a:prstGeom>
          <a:noFill/>
        </p:spPr>
        <p:txBody>
          <a:bodyPr wrap="square" lIns="0" rIns="0" tIns="0" bIns="0">
            <a:spAutoFit/>
          </a:bodyPr>
          <a:lstStyle/>
          <a:p>
            <a:pPr algn="l">
              <a:lnSpc>
                <a:spcPct val="75000"/>
              </a:lnSpc>
              <a:defRPr i="0" sz="5600" b="1">
                <a:solidFill>
                  <a:srgbClr val="FFFFFF"/>
                </a:solidFill>
                <a:latin typeface="Inter"/>
              </a:defRPr>
            </a:pPr>
            <a:r>
              <a:rPr i="0" sz="5600" b="1">
                <a:solidFill>
                  <a:srgbClr val="FFFFFF"/>
                </a:solidFill>
                <a:latin typeface="Inter"/>
              </a:rPr>
              <a:t>Best Practices: AI Model Protection</a:t>
            </a:r>
          </a:p>
        </p:txBody>
      </p:sp>
      <p:pic>
        <p:nvPicPr>
          <p:cNvPr id="4" name="Picture 3" descr="4b963699-7f21-4268-ae50-53b02e3d3383.png"/>
          <p:cNvPicPr>
            <a:picLocks noChangeAspect="1"/>
          </p:cNvPicPr>
          <p:nvPr/>
        </p:nvPicPr>
        <p:blipFill>
          <a:blip r:embed="rId4"/>
          <a:stretch>
            <a:fillRect/>
          </a:stretch>
        </p:blipFill>
        <p:spPr>
          <a:xfrm>
            <a:off x="1066800" y="1968500"/>
            <a:ext cx="406400" cy="406400"/>
          </a:xfrm>
          <a:prstGeom prst="rect">
            <a:avLst/>
          </a:prstGeom>
        </p:spPr>
      </p:pic>
      <p:sp>
        <p:nvSpPr>
          <p:cNvPr id="5" name="TextBox 4"/>
          <p:cNvSpPr txBox="1"/>
          <p:nvPr/>
        </p:nvSpPr>
        <p:spPr>
          <a:xfrm>
            <a:off x="1981200" y="1993900"/>
            <a:ext cx="3136900" cy="317500"/>
          </a:xfrm>
          <a:prstGeom prst="rect">
            <a:avLst/>
          </a:prstGeom>
          <a:noFill/>
        </p:spPr>
        <p:txBody>
          <a:bodyPr wrap="square" lIns="0" rIns="0" tIns="0" bIns="0">
            <a:spAutoFit/>
          </a:bodyPr>
          <a:lstStyle/>
          <a:p>
            <a:pPr algn="l">
              <a:defRPr i="0" sz="2000" b="1">
                <a:solidFill>
                  <a:srgbClr val="FFFFFF"/>
                </a:solidFill>
                <a:latin typeface="Inter"/>
              </a:defRPr>
            </a:pPr>
            <a:r>
              <a:rPr i="0" sz="2000" b="1">
                <a:solidFill>
                  <a:srgbClr val="FFFFFF"/>
                </a:solidFill>
                <a:latin typeface="Inter"/>
              </a:rPr>
              <a:t>Ongoing Assessment</a:t>
            </a:r>
          </a:p>
        </p:txBody>
      </p:sp>
      <p:sp>
        <p:nvSpPr>
          <p:cNvPr id="6" name="TextBox 5"/>
          <p:cNvSpPr txBox="1"/>
          <p:nvPr/>
        </p:nvSpPr>
        <p:spPr>
          <a:xfrm>
            <a:off x="1981200" y="2413000"/>
            <a:ext cx="3136900" cy="939800"/>
          </a:xfrm>
          <a:prstGeom prst="rect">
            <a:avLst/>
          </a:prstGeom>
          <a:noFill/>
        </p:spPr>
        <p:txBody>
          <a:bodyPr wrap="square" lIns="0" rIns="0" tIns="0" bIns="0">
            <a:spAutoFit/>
          </a:bodyPr>
          <a:lstStyle/>
          <a:p>
            <a:pPr algn="l">
              <a:lnSpc>
                <a:spcPct val="125000"/>
              </a:lnSpc>
              <a:defRPr i="0" sz="1600" b="0">
                <a:solidFill>
                  <a:srgbClr val="FFFFFF"/>
                </a:solidFill>
                <a:latin typeface="Inter"/>
              </a:defRPr>
            </a:pPr>
            <a:r>
              <a:rPr i="0" sz="1600" b="0">
                <a:solidFill>
                  <a:srgbClr val="FFFFFF"/>
                </a:solidFill>
                <a:latin typeface="Inter"/>
              </a:rPr>
              <a:t>Continuous vulnerability scans with 99% accuracy cut response times by 57%.</a:t>
            </a:r>
          </a:p>
        </p:txBody>
      </p:sp>
      <p:pic>
        <p:nvPicPr>
          <p:cNvPr id="7" name="Picture 6" descr="bdbbd155-6def-40fb-89ad-143818bbb03b.png"/>
          <p:cNvPicPr>
            <a:picLocks noChangeAspect="1"/>
          </p:cNvPicPr>
          <p:nvPr/>
        </p:nvPicPr>
        <p:blipFill>
          <a:blip r:embed="rId5"/>
          <a:stretch>
            <a:fillRect/>
          </a:stretch>
        </p:blipFill>
        <p:spPr>
          <a:xfrm>
            <a:off x="6108700" y="1968500"/>
            <a:ext cx="406400" cy="406400"/>
          </a:xfrm>
          <a:prstGeom prst="rect">
            <a:avLst/>
          </a:prstGeom>
        </p:spPr>
      </p:pic>
      <p:sp>
        <p:nvSpPr>
          <p:cNvPr id="8" name="TextBox 7"/>
          <p:cNvSpPr txBox="1"/>
          <p:nvPr/>
        </p:nvSpPr>
        <p:spPr>
          <a:xfrm>
            <a:off x="7023100" y="1993900"/>
            <a:ext cx="3136900" cy="317500"/>
          </a:xfrm>
          <a:prstGeom prst="rect">
            <a:avLst/>
          </a:prstGeom>
          <a:noFill/>
        </p:spPr>
        <p:txBody>
          <a:bodyPr wrap="square" lIns="0" rIns="0" tIns="0" bIns="0">
            <a:spAutoFit/>
          </a:bodyPr>
          <a:lstStyle/>
          <a:p>
            <a:pPr algn="l">
              <a:defRPr i="0" sz="2000" b="1">
                <a:solidFill>
                  <a:srgbClr val="FFFFFF"/>
                </a:solidFill>
                <a:latin typeface="Inter"/>
              </a:defRPr>
            </a:pPr>
            <a:r>
              <a:rPr i="0" sz="2000" b="1">
                <a:solidFill>
                  <a:srgbClr val="FFFFFF"/>
                </a:solidFill>
                <a:latin typeface="Inter"/>
              </a:rPr>
              <a:t>Role-Based Access</a:t>
            </a:r>
          </a:p>
        </p:txBody>
      </p:sp>
      <p:sp>
        <p:nvSpPr>
          <p:cNvPr id="9" name="TextBox 8"/>
          <p:cNvSpPr txBox="1"/>
          <p:nvPr/>
        </p:nvSpPr>
        <p:spPr>
          <a:xfrm>
            <a:off x="7023100" y="2413000"/>
            <a:ext cx="3136900" cy="635000"/>
          </a:xfrm>
          <a:prstGeom prst="rect">
            <a:avLst/>
          </a:prstGeom>
          <a:noFill/>
        </p:spPr>
        <p:txBody>
          <a:bodyPr wrap="square" lIns="0" rIns="0" tIns="0" bIns="0">
            <a:spAutoFit/>
          </a:bodyPr>
          <a:lstStyle/>
          <a:p>
            <a:pPr algn="l">
              <a:lnSpc>
                <a:spcPct val="125000"/>
              </a:lnSpc>
              <a:defRPr i="0" sz="1600" b="0">
                <a:solidFill>
                  <a:srgbClr val="FFFFFF"/>
                </a:solidFill>
                <a:latin typeface="Inter"/>
              </a:defRPr>
            </a:pPr>
            <a:r>
              <a:rPr i="0" sz="1600" b="0">
                <a:solidFill>
                  <a:srgbClr val="FFFFFF"/>
                </a:solidFill>
                <a:latin typeface="Inter"/>
              </a:rPr>
              <a:t>Strict user permissions and clear separation of duties minimize risk.</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4d3caaca-06ee-4290-b251-198ed045f2d7.png"/>
          <p:cNvPicPr>
            <a:picLocks noChangeAspect="1"/>
          </p:cNvPicPr>
          <p:nvPr/>
        </p:nvPicPr>
        <p:blipFill>
          <a:blip r:embed="rId3"/>
          <a:stretch>
            <a:fillRect/>
          </a:stretch>
        </p:blipFill>
        <p:spPr>
          <a:xfrm>
            <a:off x="0" y="0"/>
            <a:ext cx="16256000" cy="9144000"/>
          </a:xfrm>
          <a:prstGeom prst="rect">
            <a:avLst/>
          </a:prstGeom>
        </p:spPr>
      </p:pic>
      <p:sp>
        <p:nvSpPr>
          <p:cNvPr id="3" name="TextBox 2"/>
          <p:cNvSpPr txBox="1"/>
          <p:nvPr/>
        </p:nvSpPr>
        <p:spPr>
          <a:xfrm>
            <a:off x="1524000" y="1397000"/>
            <a:ext cx="13233400" cy="1625600"/>
          </a:xfrm>
          <a:prstGeom prst="rect">
            <a:avLst/>
          </a:prstGeom>
          <a:noFill/>
        </p:spPr>
        <p:txBody>
          <a:bodyPr wrap="square" lIns="0" rIns="0" tIns="0" bIns="0">
            <a:spAutoFit/>
          </a:bodyPr>
          <a:lstStyle/>
          <a:p>
            <a:pPr algn="ctr">
              <a:defRPr i="0" sz="5600" b="1">
                <a:solidFill>
                  <a:srgbClr val="FFFFFF"/>
                </a:solidFill>
                <a:latin typeface="Inter"/>
              </a:defRPr>
            </a:pPr>
            <a:r>
              <a:rPr i="0" sz="5600" b="1">
                <a:solidFill>
                  <a:srgbClr val="FFFFFF"/>
                </a:solidFill>
                <a:latin typeface="Inter"/>
              </a:rPr>
              <a:t>Key Business BenefitsSecurity and Compliance</a:t>
            </a:r>
          </a:p>
        </p:txBody>
      </p:sp>
      <p:sp>
        <p:nvSpPr>
          <p:cNvPr id="4" name="TextBox 3"/>
          <p:cNvSpPr txBox="1"/>
          <p:nvPr/>
        </p:nvSpPr>
        <p:spPr>
          <a:xfrm>
            <a:off x="2578100" y="3733800"/>
            <a:ext cx="1308100" cy="342900"/>
          </a:xfrm>
          <a:prstGeom prst="rect">
            <a:avLst/>
          </a:prstGeom>
          <a:noFill/>
        </p:spPr>
        <p:txBody>
          <a:bodyPr wrap="square" lIns="0" rIns="0" tIns="0" bIns="0">
            <a:spAutoFit/>
          </a:bodyPr>
          <a:lstStyle/>
          <a:p>
            <a:pPr algn="ctr">
              <a:defRPr i="0" sz="1800" b="0">
                <a:solidFill>
                  <a:srgbClr val="FFFFFF"/>
                </a:solidFill>
                <a:latin typeface="Inter"/>
              </a:defRPr>
            </a:pPr>
            <a:r>
              <a:rPr i="0" sz="1800" b="0">
                <a:solidFill>
                  <a:srgbClr val="FFFFFF"/>
                </a:solidFill>
                <a:latin typeface="Inter"/>
              </a:rPr>
              <a:t>Sec. Incidents</a:t>
            </a:r>
          </a:p>
        </p:txBody>
      </p:sp>
      <p:sp>
        <p:nvSpPr>
          <p:cNvPr id="5" name="TextBox 4"/>
          <p:cNvSpPr txBox="1"/>
          <p:nvPr/>
        </p:nvSpPr>
        <p:spPr>
          <a:xfrm>
            <a:off x="2159000" y="4178300"/>
            <a:ext cx="2146300" cy="1066800"/>
          </a:xfrm>
          <a:prstGeom prst="rect">
            <a:avLst/>
          </a:prstGeom>
          <a:noFill/>
        </p:spPr>
        <p:txBody>
          <a:bodyPr wrap="square" lIns="0" rIns="0" tIns="0" bIns="0">
            <a:spAutoFit/>
          </a:bodyPr>
          <a:lstStyle/>
          <a:p>
            <a:pPr algn="ctr">
              <a:defRPr i="0" sz="5600" b="1">
                <a:solidFill>
                  <a:srgbClr val="FFFFFF"/>
                </a:solidFill>
                <a:latin typeface="Inter"/>
              </a:defRPr>
            </a:pPr>
            <a:r>
              <a:rPr i="0" sz="5600" b="1">
                <a:solidFill>
                  <a:srgbClr val="FFFFFF"/>
                </a:solidFill>
                <a:latin typeface="Inter"/>
              </a:rPr>
              <a:t>▼63%</a:t>
            </a:r>
          </a:p>
        </p:txBody>
      </p:sp>
      <p:sp>
        <p:nvSpPr>
          <p:cNvPr id="6" name="Rounded Rectangle 5"/>
          <p:cNvSpPr/>
          <p:nvPr/>
        </p:nvSpPr>
        <p:spPr>
          <a:xfrm>
            <a:off x="927100" y="5549900"/>
            <a:ext cx="4572000" cy="1219200"/>
          </a:xfrm>
          <a:prstGeom prst="roundRect">
            <a:avLst>
              <a:gd name="adj" fmla="val 12500"/>
            </a:avLst>
          </a:prstGeom>
          <a:solidFill>
            <a:srgbClr val="2E66FF"/>
          </a:solidFill>
          <a:ln>
            <a:noFill/>
          </a:ln>
          <a:effectLst>
            <a:outerShdw blurRad="0" dir="0" dist="0" rotWithShape="0">
              <a:srgbClr val="ffffff">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7" name="TextBox 6"/>
          <p:cNvSpPr txBox="1"/>
          <p:nvPr/>
        </p:nvSpPr>
        <p:spPr>
          <a:xfrm>
            <a:off x="1333500" y="5880100"/>
            <a:ext cx="3784600" cy="558800"/>
          </a:xfrm>
          <a:prstGeom prst="rect">
            <a:avLst/>
          </a:prstGeom>
          <a:noFill/>
        </p:spPr>
        <p:txBody>
          <a:bodyPr wrap="square" lIns="0" rIns="0" tIns="0" bIns="0">
            <a:spAutoFit/>
          </a:bodyPr>
          <a:lstStyle/>
          <a:p>
            <a:pPr algn="ctr">
              <a:defRPr i="0" sz="1600" b="0">
                <a:solidFill>
                  <a:srgbClr val="FFFFFF"/>
                </a:solidFill>
                <a:latin typeface="Inter"/>
              </a:defRPr>
            </a:pPr>
            <a:r>
              <a:rPr i="0" sz="1600" b="0">
                <a:solidFill>
                  <a:srgbClr val="FFFFFF"/>
                </a:solidFill>
                <a:latin typeface="Inter"/>
              </a:rPr>
              <a:t>AI-driven methods cut security incidents by 63% (IDC, 2025).</a:t>
            </a:r>
          </a:p>
        </p:txBody>
      </p:sp>
      <p:sp>
        <p:nvSpPr>
          <p:cNvPr id="8" name="TextBox 7"/>
          <p:cNvSpPr txBox="1"/>
          <p:nvPr/>
        </p:nvSpPr>
        <p:spPr>
          <a:xfrm>
            <a:off x="7518400" y="3733800"/>
            <a:ext cx="1231900" cy="342900"/>
          </a:xfrm>
          <a:prstGeom prst="rect">
            <a:avLst/>
          </a:prstGeom>
          <a:noFill/>
        </p:spPr>
        <p:txBody>
          <a:bodyPr wrap="square" lIns="0" rIns="0" tIns="0" bIns="0">
            <a:spAutoFit/>
          </a:bodyPr>
          <a:lstStyle/>
          <a:p>
            <a:pPr algn="ctr">
              <a:defRPr i="0" sz="1800" b="0">
                <a:solidFill>
                  <a:srgbClr val="FFFFFF"/>
                </a:solidFill>
                <a:latin typeface="Inter"/>
              </a:defRPr>
            </a:pPr>
            <a:r>
              <a:rPr i="0" sz="1800" b="0">
                <a:solidFill>
                  <a:srgbClr val="FFFFFF"/>
                </a:solidFill>
                <a:latin typeface="Inter"/>
              </a:rPr>
              <a:t>Breach Costs</a:t>
            </a:r>
          </a:p>
        </p:txBody>
      </p:sp>
      <p:sp>
        <p:nvSpPr>
          <p:cNvPr id="9" name="TextBox 8"/>
          <p:cNvSpPr txBox="1"/>
          <p:nvPr/>
        </p:nvSpPr>
        <p:spPr>
          <a:xfrm>
            <a:off x="7061200" y="4178300"/>
            <a:ext cx="2146300" cy="1066800"/>
          </a:xfrm>
          <a:prstGeom prst="rect">
            <a:avLst/>
          </a:prstGeom>
          <a:noFill/>
        </p:spPr>
        <p:txBody>
          <a:bodyPr wrap="square" lIns="0" rIns="0" tIns="0" bIns="0">
            <a:spAutoFit/>
          </a:bodyPr>
          <a:lstStyle/>
          <a:p>
            <a:pPr algn="ctr">
              <a:defRPr i="0" sz="5600" b="1">
                <a:solidFill>
                  <a:srgbClr val="FFFFFF"/>
                </a:solidFill>
                <a:latin typeface="Inter"/>
              </a:defRPr>
            </a:pPr>
            <a:r>
              <a:rPr i="0" sz="5600" b="1">
                <a:solidFill>
                  <a:srgbClr val="FFFFFF"/>
                </a:solidFill>
                <a:latin typeface="Inter"/>
              </a:rPr>
              <a:t>▼42%</a:t>
            </a:r>
          </a:p>
        </p:txBody>
      </p:sp>
      <p:sp>
        <p:nvSpPr>
          <p:cNvPr id="10" name="Rounded Rectangle 9"/>
          <p:cNvSpPr/>
          <p:nvPr/>
        </p:nvSpPr>
        <p:spPr>
          <a:xfrm>
            <a:off x="5842000" y="5549900"/>
            <a:ext cx="4572000" cy="1219200"/>
          </a:xfrm>
          <a:prstGeom prst="roundRect">
            <a:avLst>
              <a:gd name="adj" fmla="val 12500"/>
            </a:avLst>
          </a:prstGeom>
          <a:solidFill>
            <a:srgbClr val="2E66FF"/>
          </a:solidFill>
          <a:ln>
            <a:noFill/>
          </a:ln>
          <a:effectLst>
            <a:outerShdw blurRad="0" dir="0" dist="0" rotWithShape="0">
              <a:srgbClr val="ffffff">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1" name="TextBox 10"/>
          <p:cNvSpPr txBox="1"/>
          <p:nvPr/>
        </p:nvSpPr>
        <p:spPr>
          <a:xfrm>
            <a:off x="6248400" y="5880100"/>
            <a:ext cx="3784600" cy="558800"/>
          </a:xfrm>
          <a:prstGeom prst="rect">
            <a:avLst/>
          </a:prstGeom>
          <a:noFill/>
        </p:spPr>
        <p:txBody>
          <a:bodyPr wrap="square" lIns="0" rIns="0" tIns="0" bIns="0">
            <a:spAutoFit/>
          </a:bodyPr>
          <a:lstStyle/>
          <a:p>
            <a:pPr algn="ctr">
              <a:defRPr i="0" sz="1600" b="0">
                <a:solidFill>
                  <a:srgbClr val="FFFFFF"/>
                </a:solidFill>
                <a:latin typeface="Inter"/>
              </a:defRPr>
            </a:pPr>
            <a:r>
              <a:rPr i="0" sz="1600" b="0">
                <a:solidFill>
                  <a:srgbClr val="FFFFFF"/>
                </a:solidFill>
                <a:latin typeface="Inter"/>
              </a:rPr>
              <a:t>Measures lead to 42% drop in average data breach costs.</a:t>
            </a:r>
          </a:p>
        </p:txBody>
      </p:sp>
      <p:sp>
        <p:nvSpPr>
          <p:cNvPr id="12" name="TextBox 11"/>
          <p:cNvSpPr txBox="1"/>
          <p:nvPr/>
        </p:nvSpPr>
        <p:spPr>
          <a:xfrm>
            <a:off x="12484100" y="3733800"/>
            <a:ext cx="1130300" cy="342900"/>
          </a:xfrm>
          <a:prstGeom prst="rect">
            <a:avLst/>
          </a:prstGeom>
          <a:noFill/>
        </p:spPr>
        <p:txBody>
          <a:bodyPr wrap="square" lIns="0" rIns="0" tIns="0" bIns="0">
            <a:spAutoFit/>
          </a:bodyPr>
          <a:lstStyle/>
          <a:p>
            <a:pPr algn="ctr">
              <a:defRPr i="0" sz="1800" b="0">
                <a:solidFill>
                  <a:srgbClr val="FFFFFF"/>
                </a:solidFill>
                <a:latin typeface="Inter"/>
              </a:defRPr>
            </a:pPr>
            <a:r>
              <a:rPr i="0" sz="1800" b="0">
                <a:solidFill>
                  <a:srgbClr val="FFFFFF"/>
                </a:solidFill>
                <a:latin typeface="Inter"/>
              </a:rPr>
              <a:t>Compliance</a:t>
            </a:r>
          </a:p>
        </p:txBody>
      </p:sp>
      <p:sp>
        <p:nvSpPr>
          <p:cNvPr id="13" name="TextBox 12"/>
          <p:cNvSpPr txBox="1"/>
          <p:nvPr/>
        </p:nvSpPr>
        <p:spPr>
          <a:xfrm>
            <a:off x="12420600" y="4178300"/>
            <a:ext cx="1244600" cy="1066800"/>
          </a:xfrm>
          <a:prstGeom prst="rect">
            <a:avLst/>
          </a:prstGeom>
          <a:noFill/>
        </p:spPr>
        <p:txBody>
          <a:bodyPr wrap="square" lIns="0" rIns="0" tIns="0" bIns="0">
            <a:spAutoFit/>
          </a:bodyPr>
          <a:lstStyle/>
          <a:p>
            <a:pPr algn="ctr">
              <a:defRPr i="0" sz="5600" b="1">
                <a:solidFill>
                  <a:srgbClr val="FFFFFF"/>
                </a:solidFill>
                <a:latin typeface="Inter"/>
              </a:defRPr>
            </a:pPr>
            <a:r>
              <a:rPr i="0" sz="5600" b="1">
                <a:solidFill>
                  <a:srgbClr val="FFFFFF"/>
                </a:solidFill>
                <a:latin typeface="Inter"/>
              </a:rPr>
              <a:t>Full</a:t>
            </a:r>
          </a:p>
        </p:txBody>
      </p:sp>
      <p:sp>
        <p:nvSpPr>
          <p:cNvPr id="14" name="Rounded Rectangle 13"/>
          <p:cNvSpPr/>
          <p:nvPr/>
        </p:nvSpPr>
        <p:spPr>
          <a:xfrm>
            <a:off x="10756900" y="5549900"/>
            <a:ext cx="4572000" cy="1219200"/>
          </a:xfrm>
          <a:prstGeom prst="roundRect">
            <a:avLst>
              <a:gd name="adj" fmla="val 12500"/>
            </a:avLst>
          </a:prstGeom>
          <a:solidFill>
            <a:srgbClr val="2E66FF"/>
          </a:solidFill>
          <a:ln>
            <a:noFill/>
          </a:ln>
          <a:effectLst>
            <a:outerShdw blurRad="0" dir="0" dist="0" rotWithShape="0">
              <a:srgbClr val="ffffff">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5" name="TextBox 14"/>
          <p:cNvSpPr txBox="1"/>
          <p:nvPr/>
        </p:nvSpPr>
        <p:spPr>
          <a:xfrm>
            <a:off x="11163300" y="5880100"/>
            <a:ext cx="3784600" cy="558800"/>
          </a:xfrm>
          <a:prstGeom prst="rect">
            <a:avLst/>
          </a:prstGeom>
          <a:noFill/>
        </p:spPr>
        <p:txBody>
          <a:bodyPr wrap="square" lIns="0" rIns="0" tIns="0" bIns="0">
            <a:spAutoFit/>
          </a:bodyPr>
          <a:lstStyle/>
          <a:p>
            <a:pPr algn="ctr">
              <a:defRPr i="0" sz="1600" b="0">
                <a:solidFill>
                  <a:srgbClr val="FFFFFF"/>
                </a:solidFill>
                <a:latin typeface="Inter"/>
              </a:defRPr>
            </a:pPr>
            <a:r>
              <a:rPr i="0" sz="1600" b="0">
                <a:solidFill>
                  <a:srgbClr val="FFFFFF"/>
                </a:solidFill>
                <a:latin typeface="Inter"/>
              </a:rPr>
              <a:t>Supports GDPR, HIPAA, and key AI regulations for business adherence.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11200" y="558800"/>
            <a:ext cx="14859000" cy="787400"/>
          </a:xfrm>
          <a:prstGeom prst="rect">
            <a:avLst/>
          </a:prstGeom>
          <a:noFill/>
        </p:spPr>
        <p:txBody>
          <a:bodyPr wrap="square" lIns="0" rIns="0" tIns="0" bIns="0">
            <a:spAutoFit/>
          </a:bodyPr>
          <a:lstStyle/>
          <a:p>
            <a:pPr algn="l">
              <a:defRPr i="0" sz="5600" b="1">
                <a:solidFill>
                  <a:srgbClr val="FFFFFF"/>
                </a:solidFill>
                <a:latin typeface="Inter"/>
              </a:defRPr>
            </a:pPr>
            <a:r>
              <a:rPr i="0" sz="5600" b="1">
                <a:solidFill>
                  <a:srgbClr val="FFFFFF"/>
                </a:solidFill>
                <a:latin typeface="Inter"/>
              </a:rPr>
              <a:t>Take Action to Secure Your AI</a:t>
            </a:r>
          </a:p>
        </p:txBody>
      </p:sp>
      <p:pic>
        <p:nvPicPr>
          <p:cNvPr id="3" name="Picture 2" descr="3b0fa083-ff57-4770-9773-535646ad1bf5.png"/>
          <p:cNvPicPr>
            <a:picLocks noChangeAspect="1"/>
          </p:cNvPicPr>
          <p:nvPr/>
        </p:nvPicPr>
        <p:blipFill>
          <a:blip r:embed="rId3"/>
          <a:stretch>
            <a:fillRect/>
          </a:stretch>
        </p:blipFill>
        <p:spPr>
          <a:xfrm>
            <a:off x="711200" y="1752600"/>
            <a:ext cx="5461000" cy="3810000"/>
          </a:xfrm>
          <a:prstGeom prst="rect">
            <a:avLst/>
          </a:prstGeom>
        </p:spPr>
      </p:pic>
      <p:sp>
        <p:nvSpPr>
          <p:cNvPr id="4" name="TextBox 3"/>
          <p:cNvSpPr txBox="1"/>
          <p:nvPr/>
        </p:nvSpPr>
        <p:spPr>
          <a:xfrm>
            <a:off x="7162800" y="1651000"/>
            <a:ext cx="8407400" cy="330200"/>
          </a:xfrm>
          <a:prstGeom prst="rect">
            <a:avLst/>
          </a:prstGeom>
          <a:noFill/>
        </p:spPr>
        <p:txBody>
          <a:bodyPr wrap="square" lIns="0" rIns="0" tIns="0" bIns="0">
            <a:spAutoFit/>
          </a:bodyPr>
          <a:lstStyle/>
          <a:p>
            <a:pPr algn="l">
              <a:defRPr i="0" sz="1600" b="0">
                <a:solidFill>
                  <a:srgbClr val="C9D3E7"/>
                </a:solidFill>
                <a:latin typeface="Inter"/>
              </a:defRPr>
            </a:pPr>
            <a:r>
              <a:rPr i="0" sz="1600" b="0">
                <a:solidFill>
                  <a:srgbClr val="C9D3E7"/>
                </a:solidFill>
                <a:latin typeface="Inter"/>
              </a:rPr>
              <a:t>Protect your AI assets and minimize risk with proactive steps and expert guidance.</a:t>
            </a:r>
          </a:p>
        </p:txBody>
      </p:sp>
      <p:sp>
        <p:nvSpPr>
          <p:cNvPr id="5" name="Rounded Rectangle 4"/>
          <p:cNvSpPr/>
          <p:nvPr/>
        </p:nvSpPr>
        <p:spPr>
          <a:xfrm>
            <a:off x="7162800" y="2260600"/>
            <a:ext cx="711200" cy="711200"/>
          </a:xfrm>
          <a:prstGeom prst="roundRect">
            <a:avLst>
              <a:gd name="adj" fmla="val 21428"/>
            </a:avLst>
          </a:prstGeom>
          <a:solidFill>
            <a:srgbClr val="2556F6"/>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 name="TextBox 5"/>
          <p:cNvSpPr txBox="1"/>
          <p:nvPr/>
        </p:nvSpPr>
        <p:spPr>
          <a:xfrm>
            <a:off x="8128000" y="2260600"/>
            <a:ext cx="7442200" cy="330200"/>
          </a:xfrm>
          <a:prstGeom prst="rect">
            <a:avLst/>
          </a:prstGeom>
          <a:noFill/>
        </p:spPr>
        <p:txBody>
          <a:bodyPr wrap="square" lIns="0" rIns="0" tIns="0" bIns="0">
            <a:spAutoFit/>
          </a:bodyPr>
          <a:lstStyle/>
          <a:p>
            <a:pPr algn="l">
              <a:defRPr i="0" sz="2000" b="1">
                <a:solidFill>
                  <a:srgbClr val="FFFFFF"/>
                </a:solidFill>
                <a:latin typeface="Inter"/>
              </a:defRPr>
            </a:pPr>
            <a:r>
              <a:rPr i="0" sz="2000" b="1">
                <a:solidFill>
                  <a:srgbClr val="FFFFFF"/>
                </a:solidFill>
                <a:latin typeface="Inter"/>
              </a:rPr>
              <a:t>Prioritize AI Protection</a:t>
            </a:r>
          </a:p>
        </p:txBody>
      </p:sp>
      <p:sp>
        <p:nvSpPr>
          <p:cNvPr id="7" name="Rounded Rectangle 6"/>
          <p:cNvSpPr/>
          <p:nvPr/>
        </p:nvSpPr>
        <p:spPr>
          <a:xfrm>
            <a:off x="8128000" y="2667000"/>
            <a:ext cx="508000" cy="38100"/>
          </a:xfrm>
          <a:prstGeom prst="roundRect">
            <a:avLst>
              <a:gd name="adj" fmla="val 666666"/>
            </a:avLst>
          </a:prstGeom>
          <a:solidFill>
            <a:srgbClr val="3B82F6"/>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8" name="TextBox 7"/>
          <p:cNvSpPr txBox="1"/>
          <p:nvPr/>
        </p:nvSpPr>
        <p:spPr>
          <a:xfrm>
            <a:off x="8128000" y="2806700"/>
            <a:ext cx="7137400" cy="609600"/>
          </a:xfrm>
          <a:prstGeom prst="rect">
            <a:avLst/>
          </a:prstGeom>
          <a:noFill/>
        </p:spPr>
        <p:txBody>
          <a:bodyPr wrap="square" lIns="0" rIns="0" tIns="0" bIns="0">
            <a:spAutoFit/>
          </a:bodyPr>
          <a:lstStyle/>
          <a:p>
            <a:pPr algn="l">
              <a:defRPr i="0" sz="1400" b="0">
                <a:solidFill>
                  <a:srgbClr val="C9D3E7"/>
                </a:solidFill>
                <a:latin typeface="Inter"/>
              </a:defRPr>
            </a:pPr>
            <a:r>
              <a:rPr i="0" sz="1400" b="0">
                <a:solidFill>
                  <a:srgbClr val="C9D3E7"/>
                </a:solidFill>
                <a:latin typeface="Inter"/>
              </a:rPr>
              <a:t>Safeguard AI models before incidents occur. Proactive security reduces risk and enhances resilience.</a:t>
            </a:r>
          </a:p>
        </p:txBody>
      </p:sp>
      <p:sp>
        <p:nvSpPr>
          <p:cNvPr id="9" name="Rounded Rectangle 8"/>
          <p:cNvSpPr/>
          <p:nvPr/>
        </p:nvSpPr>
        <p:spPr>
          <a:xfrm>
            <a:off x="7162800" y="3873500"/>
            <a:ext cx="711200" cy="711200"/>
          </a:xfrm>
          <a:prstGeom prst="roundRect">
            <a:avLst>
              <a:gd name="adj" fmla="val 21428"/>
            </a:avLst>
          </a:prstGeom>
          <a:solidFill>
            <a:srgbClr val="2556F6"/>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0" name="TextBox 9"/>
          <p:cNvSpPr txBox="1"/>
          <p:nvPr/>
        </p:nvSpPr>
        <p:spPr>
          <a:xfrm>
            <a:off x="8128000" y="3873500"/>
            <a:ext cx="7442200" cy="330200"/>
          </a:xfrm>
          <a:prstGeom prst="rect">
            <a:avLst/>
          </a:prstGeom>
          <a:noFill/>
        </p:spPr>
        <p:txBody>
          <a:bodyPr wrap="square" lIns="0" rIns="0" tIns="0" bIns="0">
            <a:spAutoFit/>
          </a:bodyPr>
          <a:lstStyle/>
          <a:p>
            <a:pPr algn="l">
              <a:defRPr i="0" sz="2000" b="1">
                <a:solidFill>
                  <a:srgbClr val="FFFFFF"/>
                </a:solidFill>
                <a:latin typeface="Inter"/>
              </a:defRPr>
            </a:pPr>
            <a:r>
              <a:rPr i="0" sz="2000" b="1">
                <a:solidFill>
                  <a:srgbClr val="FFFFFF"/>
                </a:solidFill>
                <a:latin typeface="Inter"/>
              </a:rPr>
              <a:t>Engage AI Experts</a:t>
            </a:r>
          </a:p>
        </p:txBody>
      </p:sp>
      <p:sp>
        <p:nvSpPr>
          <p:cNvPr id="11" name="Rounded Rectangle 10"/>
          <p:cNvSpPr/>
          <p:nvPr/>
        </p:nvSpPr>
        <p:spPr>
          <a:xfrm>
            <a:off x="8128000" y="4279900"/>
            <a:ext cx="508000" cy="38100"/>
          </a:xfrm>
          <a:prstGeom prst="roundRect">
            <a:avLst>
              <a:gd name="adj" fmla="val 666666"/>
            </a:avLst>
          </a:prstGeom>
          <a:solidFill>
            <a:srgbClr val="3B82F6"/>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2" name="TextBox 11"/>
          <p:cNvSpPr txBox="1"/>
          <p:nvPr/>
        </p:nvSpPr>
        <p:spPr>
          <a:xfrm>
            <a:off x="8128000" y="4419600"/>
            <a:ext cx="7137400" cy="304800"/>
          </a:xfrm>
          <a:prstGeom prst="rect">
            <a:avLst/>
          </a:prstGeom>
          <a:noFill/>
        </p:spPr>
        <p:txBody>
          <a:bodyPr wrap="square" lIns="0" rIns="0" tIns="0" bIns="0">
            <a:spAutoFit/>
          </a:bodyPr>
          <a:lstStyle/>
          <a:p>
            <a:pPr algn="l">
              <a:defRPr i="0" sz="1400" b="0">
                <a:solidFill>
                  <a:srgbClr val="C9D3E7"/>
                </a:solidFill>
                <a:latin typeface="Inter"/>
              </a:defRPr>
            </a:pPr>
            <a:r>
              <a:rPr i="0" sz="1400" b="0">
                <a:solidFill>
                  <a:srgbClr val="C9D3E7"/>
                </a:solidFill>
                <a:latin typeface="Inter"/>
              </a:rPr>
              <a:t>Book a risk assessment or request a solution demo for tailored recommendations.</a:t>
            </a:r>
          </a:p>
        </p:txBody>
      </p:sp>
      <p:sp>
        <p:nvSpPr>
          <p:cNvPr id="13" name="Rounded Rectangle 12"/>
          <p:cNvSpPr/>
          <p:nvPr/>
        </p:nvSpPr>
        <p:spPr>
          <a:xfrm>
            <a:off x="7162800" y="5181600"/>
            <a:ext cx="711200" cy="711200"/>
          </a:xfrm>
          <a:prstGeom prst="roundRect">
            <a:avLst>
              <a:gd name="adj" fmla="val 21428"/>
            </a:avLst>
          </a:prstGeom>
          <a:solidFill>
            <a:srgbClr val="2556F6"/>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4" name="TextBox 13"/>
          <p:cNvSpPr txBox="1"/>
          <p:nvPr/>
        </p:nvSpPr>
        <p:spPr>
          <a:xfrm>
            <a:off x="8128000" y="5181600"/>
            <a:ext cx="7442200" cy="330200"/>
          </a:xfrm>
          <a:prstGeom prst="rect">
            <a:avLst/>
          </a:prstGeom>
          <a:noFill/>
        </p:spPr>
        <p:txBody>
          <a:bodyPr wrap="square" lIns="0" rIns="0" tIns="0" bIns="0">
            <a:spAutoFit/>
          </a:bodyPr>
          <a:lstStyle/>
          <a:p>
            <a:pPr algn="l">
              <a:defRPr i="0" sz="2000" b="1">
                <a:solidFill>
                  <a:srgbClr val="FFFFFF"/>
                </a:solidFill>
                <a:latin typeface="Inter"/>
              </a:defRPr>
            </a:pPr>
            <a:r>
              <a:rPr i="0" sz="2000" b="1">
                <a:solidFill>
                  <a:srgbClr val="FFFFFF"/>
                </a:solidFill>
                <a:latin typeface="Inter"/>
              </a:rPr>
              <a:t>Next Steps</a:t>
            </a:r>
          </a:p>
        </p:txBody>
      </p:sp>
      <p:sp>
        <p:nvSpPr>
          <p:cNvPr id="15" name="Rounded Rectangle 14"/>
          <p:cNvSpPr/>
          <p:nvPr/>
        </p:nvSpPr>
        <p:spPr>
          <a:xfrm>
            <a:off x="8128000" y="5588000"/>
            <a:ext cx="508000" cy="38100"/>
          </a:xfrm>
          <a:prstGeom prst="roundRect">
            <a:avLst>
              <a:gd name="adj" fmla="val 666666"/>
            </a:avLst>
          </a:prstGeom>
          <a:solidFill>
            <a:srgbClr val="3B82F6"/>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6" name="TextBox 15"/>
          <p:cNvSpPr txBox="1"/>
          <p:nvPr/>
        </p:nvSpPr>
        <p:spPr>
          <a:xfrm>
            <a:off x="8128000" y="5727700"/>
            <a:ext cx="7137400" cy="304800"/>
          </a:xfrm>
          <a:prstGeom prst="rect">
            <a:avLst/>
          </a:prstGeom>
          <a:noFill/>
        </p:spPr>
        <p:txBody>
          <a:bodyPr wrap="square" lIns="0" rIns="0" tIns="0" bIns="0">
            <a:spAutoFit/>
          </a:bodyPr>
          <a:lstStyle/>
          <a:p>
            <a:pPr algn="l">
              <a:defRPr i="0" sz="1400" b="0">
                <a:solidFill>
                  <a:srgbClr val="C9D3E7"/>
                </a:solidFill>
                <a:latin typeface="Inter"/>
              </a:defRPr>
            </a:pPr>
            <a:r>
              <a:rPr i="0" sz="1400" b="0">
                <a:solidFill>
                  <a:srgbClr val="C9D3E7"/>
                </a:solidFill>
                <a:latin typeface="Inter"/>
              </a:rPr>
              <a:t>Assess AI assets, pilot deployment in critical workflows, and access demo resources.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12800" y="609600"/>
            <a:ext cx="14655800" cy="723900"/>
          </a:xfrm>
          <a:prstGeom prst="rect">
            <a:avLst/>
          </a:prstGeom>
          <a:noFill/>
        </p:spPr>
        <p:txBody>
          <a:bodyPr wrap="square" lIns="0" rIns="0" tIns="0" bIns="0">
            <a:spAutoFit/>
          </a:bodyPr>
          <a:lstStyle/>
          <a:p>
            <a:pPr algn="l">
              <a:lnSpc>
                <a:spcPct val="75000"/>
              </a:lnSpc>
              <a:defRPr i="0" sz="5400" b="1">
                <a:solidFill>
                  <a:srgbClr val="FFFFFF"/>
                </a:solidFill>
                <a:latin typeface="Inter"/>
              </a:defRPr>
            </a:pPr>
            <a:r>
              <a:rPr i="0" sz="5400" b="1">
                <a:solidFill>
                  <a:srgbClr val="FFFFFF"/>
                </a:solidFill>
                <a:latin typeface="Inter"/>
              </a:rPr>
              <a:t>Solution Demonstration Materials</a:t>
            </a:r>
          </a:p>
        </p:txBody>
      </p:sp>
      <p:pic>
        <p:nvPicPr>
          <p:cNvPr id="3" name="Picture 2" descr="7ca15b44-0a85-4242-a375-a3efaa3d9693.png"/>
          <p:cNvPicPr>
            <a:picLocks noChangeAspect="1"/>
          </p:cNvPicPr>
          <p:nvPr/>
        </p:nvPicPr>
        <p:blipFill>
          <a:blip r:embed="rId3"/>
          <a:stretch>
            <a:fillRect/>
          </a:stretch>
        </p:blipFill>
        <p:spPr>
          <a:xfrm>
            <a:off x="812800" y="1841500"/>
            <a:ext cx="711200" cy="711200"/>
          </a:xfrm>
          <a:prstGeom prst="rect">
            <a:avLst/>
          </a:prstGeom>
        </p:spPr>
      </p:pic>
      <p:sp>
        <p:nvSpPr>
          <p:cNvPr id="4" name="TextBox 3"/>
          <p:cNvSpPr txBox="1"/>
          <p:nvPr/>
        </p:nvSpPr>
        <p:spPr>
          <a:xfrm>
            <a:off x="1092200" y="2019300"/>
            <a:ext cx="165100" cy="342900"/>
          </a:xfrm>
          <a:prstGeom prst="rect">
            <a:avLst/>
          </a:prstGeom>
          <a:noFill/>
        </p:spPr>
        <p:txBody>
          <a:bodyPr wrap="none" lIns="0" rIns="0" tIns="0" bIns="0">
            <a:spAutoFit/>
          </a:bodyPr>
          <a:lstStyle/>
          <a:p>
            <a:pPr algn="l">
              <a:defRPr i="0" sz="2000" b="1">
                <a:solidFill>
                  <a:srgbClr val="09090B"/>
                </a:solidFill>
                <a:latin typeface="Inter"/>
              </a:defRPr>
            </a:pPr>
            <a:r>
              <a:rPr i="0" sz="2000" b="1">
                <a:solidFill>
                  <a:srgbClr val="09090B"/>
                </a:solidFill>
                <a:latin typeface="Inter"/>
              </a:rPr>
              <a:t>1</a:t>
            </a:r>
          </a:p>
        </p:txBody>
      </p:sp>
      <p:sp>
        <p:nvSpPr>
          <p:cNvPr id="5" name="TextBox 4"/>
          <p:cNvSpPr txBox="1"/>
          <p:nvPr/>
        </p:nvSpPr>
        <p:spPr>
          <a:xfrm>
            <a:off x="1778000" y="2044700"/>
            <a:ext cx="3708400" cy="292100"/>
          </a:xfrm>
          <a:prstGeom prst="rect">
            <a:avLst/>
          </a:prstGeom>
          <a:noFill/>
        </p:spPr>
        <p:txBody>
          <a:bodyPr wrap="none" lIns="0" rIns="0" tIns="0" bIns="0">
            <a:spAutoFit/>
          </a:bodyPr>
          <a:lstStyle/>
          <a:p>
            <a:pPr algn="l">
              <a:defRPr i="0" sz="1800" b="0">
                <a:solidFill>
                  <a:srgbClr val="E2E8F0"/>
                </a:solidFill>
                <a:latin typeface="Inter"/>
              </a:defRPr>
            </a:pPr>
            <a:r>
              <a:rPr i="0" sz="1800" b="0">
                <a:solidFill>
                  <a:srgbClr val="E2E8F0"/>
                </a:solidFill>
                <a:latin typeface="Inter"/>
              </a:rPr>
              <a:t>AI Vulnerability Detection Demo: Watch step-by-step prevention</a:t>
            </a:r>
          </a:p>
        </p:txBody>
      </p:sp>
      <p:sp>
        <p:nvSpPr>
          <p:cNvPr id="6" name="TextBox 5"/>
          <p:cNvSpPr txBox="1"/>
          <p:nvPr/>
        </p:nvSpPr>
        <p:spPr>
          <a:xfrm>
            <a:off x="7416800" y="2044700"/>
            <a:ext cx="127000" cy="304800"/>
          </a:xfrm>
          <a:prstGeom prst="rect">
            <a:avLst/>
          </a:prstGeom>
          <a:noFill/>
        </p:spPr>
        <p:txBody>
          <a:bodyPr wrap="square" lIns="0" rIns="0" tIns="0" bIns="0">
            <a:spAutoFit/>
          </a:bodyPr>
          <a:lstStyle/>
          <a:p>
            <a:pPr algn="l">
              <a:defRPr i="0" sz="1600" b="0">
                <a:solidFill>
                  <a:srgbClr val="CBD5E1"/>
                </a:solidFill>
                <a:latin typeface="Inter"/>
              </a:defRPr>
            </a:pPr>
            <a:r>
              <a:rPr i="0" sz="1600" b="0">
                <a:solidFill>
                  <a:srgbClr val="CBD5E1"/>
                </a:solidFill>
                <a:latin typeface="Inter"/>
              </a:rPr>
              <a:t>1</a:t>
            </a:r>
          </a:p>
        </p:txBody>
      </p:sp>
      <p:pic>
        <p:nvPicPr>
          <p:cNvPr id="7" name="Picture 6" descr="34dc8967-d7d2-4dfa-a1be-6bd0268847b6.png"/>
          <p:cNvPicPr>
            <a:picLocks noChangeAspect="1"/>
          </p:cNvPicPr>
          <p:nvPr/>
        </p:nvPicPr>
        <p:blipFill>
          <a:blip r:embed="rId4"/>
          <a:stretch>
            <a:fillRect/>
          </a:stretch>
        </p:blipFill>
        <p:spPr>
          <a:xfrm>
            <a:off x="812800" y="2959100"/>
            <a:ext cx="711200" cy="711200"/>
          </a:xfrm>
          <a:prstGeom prst="rect">
            <a:avLst/>
          </a:prstGeom>
        </p:spPr>
      </p:pic>
      <p:sp>
        <p:nvSpPr>
          <p:cNvPr id="8" name="TextBox 7"/>
          <p:cNvSpPr txBox="1"/>
          <p:nvPr/>
        </p:nvSpPr>
        <p:spPr>
          <a:xfrm>
            <a:off x="1092200" y="3136900"/>
            <a:ext cx="165100" cy="342900"/>
          </a:xfrm>
          <a:prstGeom prst="rect">
            <a:avLst/>
          </a:prstGeom>
          <a:noFill/>
        </p:spPr>
        <p:txBody>
          <a:bodyPr wrap="none" lIns="0" rIns="0" tIns="0" bIns="0">
            <a:spAutoFit/>
          </a:bodyPr>
          <a:lstStyle/>
          <a:p>
            <a:pPr algn="l">
              <a:defRPr i="0" sz="2000" b="1">
                <a:solidFill>
                  <a:srgbClr val="09090B"/>
                </a:solidFill>
                <a:latin typeface="Inter"/>
              </a:defRPr>
            </a:pPr>
            <a:r>
              <a:rPr i="0" sz="2000" b="1">
                <a:solidFill>
                  <a:srgbClr val="09090B"/>
                </a:solidFill>
                <a:latin typeface="Inter"/>
              </a:rPr>
              <a:t>2</a:t>
            </a:r>
          </a:p>
        </p:txBody>
      </p:sp>
      <p:sp>
        <p:nvSpPr>
          <p:cNvPr id="9" name="TextBox 8"/>
          <p:cNvSpPr txBox="1"/>
          <p:nvPr/>
        </p:nvSpPr>
        <p:spPr>
          <a:xfrm>
            <a:off x="1778000" y="3162300"/>
            <a:ext cx="3708400" cy="292100"/>
          </a:xfrm>
          <a:prstGeom prst="rect">
            <a:avLst/>
          </a:prstGeom>
          <a:noFill/>
        </p:spPr>
        <p:txBody>
          <a:bodyPr wrap="none" lIns="0" rIns="0" tIns="0" bIns="0">
            <a:spAutoFit/>
          </a:bodyPr>
          <a:lstStyle/>
          <a:p>
            <a:pPr algn="l">
              <a:defRPr i="0" sz="1800" b="0">
                <a:solidFill>
                  <a:srgbClr val="E2E8F0"/>
                </a:solidFill>
                <a:latin typeface="Inter"/>
              </a:defRPr>
            </a:pPr>
            <a:r>
              <a:rPr i="0" sz="1800" b="0">
                <a:solidFill>
                  <a:srgbClr val="E2E8F0"/>
                </a:solidFill>
                <a:latin typeface="Inter"/>
              </a:rPr>
              <a:t>AI Application Protection Demo: Explore real-time threat blocking</a:t>
            </a:r>
          </a:p>
        </p:txBody>
      </p:sp>
      <p:sp>
        <p:nvSpPr>
          <p:cNvPr id="10" name="TextBox 9"/>
          <p:cNvSpPr txBox="1"/>
          <p:nvPr/>
        </p:nvSpPr>
        <p:spPr>
          <a:xfrm>
            <a:off x="7416800" y="3162300"/>
            <a:ext cx="127000" cy="304800"/>
          </a:xfrm>
          <a:prstGeom prst="rect">
            <a:avLst/>
          </a:prstGeom>
          <a:noFill/>
        </p:spPr>
        <p:txBody>
          <a:bodyPr wrap="square" lIns="0" rIns="0" tIns="0" bIns="0">
            <a:spAutoFit/>
          </a:bodyPr>
          <a:lstStyle/>
          <a:p>
            <a:pPr algn="l">
              <a:defRPr i="0" sz="1600" b="0">
                <a:solidFill>
                  <a:srgbClr val="CBD5E1"/>
                </a:solidFill>
                <a:latin typeface="Inter"/>
              </a:defRPr>
            </a:pPr>
            <a:r>
              <a:rPr i="0" sz="1600" b="0">
                <a:solidFill>
                  <a:srgbClr val="CBD5E1"/>
                </a:solidFill>
                <a:latin typeface="Inter"/>
              </a:rPr>
              <a:t>2</a:t>
            </a:r>
          </a:p>
        </p:txBody>
      </p:sp>
      <p:pic>
        <p:nvPicPr>
          <p:cNvPr id="11" name="Picture 10" descr="6128c64d-8547-44b6-8173-9713006b062b.png"/>
          <p:cNvPicPr>
            <a:picLocks noChangeAspect="1"/>
          </p:cNvPicPr>
          <p:nvPr/>
        </p:nvPicPr>
        <p:blipFill>
          <a:blip r:embed="rId5"/>
          <a:stretch>
            <a:fillRect/>
          </a:stretch>
        </p:blipFill>
        <p:spPr>
          <a:xfrm>
            <a:off x="812800" y="4076700"/>
            <a:ext cx="711200" cy="711200"/>
          </a:xfrm>
          <a:prstGeom prst="rect">
            <a:avLst/>
          </a:prstGeom>
        </p:spPr>
      </p:pic>
      <p:sp>
        <p:nvSpPr>
          <p:cNvPr id="12" name="TextBox 11"/>
          <p:cNvSpPr txBox="1"/>
          <p:nvPr/>
        </p:nvSpPr>
        <p:spPr>
          <a:xfrm>
            <a:off x="1092200" y="4254500"/>
            <a:ext cx="165100" cy="342900"/>
          </a:xfrm>
          <a:prstGeom prst="rect">
            <a:avLst/>
          </a:prstGeom>
          <a:noFill/>
        </p:spPr>
        <p:txBody>
          <a:bodyPr wrap="none" lIns="0" rIns="0" tIns="0" bIns="0">
            <a:spAutoFit/>
          </a:bodyPr>
          <a:lstStyle/>
          <a:p>
            <a:pPr algn="l">
              <a:defRPr i="0" sz="2000" b="1">
                <a:solidFill>
                  <a:srgbClr val="09090B"/>
                </a:solidFill>
                <a:latin typeface="Inter"/>
              </a:defRPr>
            </a:pPr>
            <a:r>
              <a:rPr i="0" sz="2000" b="1">
                <a:solidFill>
                  <a:srgbClr val="09090B"/>
                </a:solidFill>
                <a:latin typeface="Inter"/>
              </a:rPr>
              <a:t>3</a:t>
            </a:r>
          </a:p>
        </p:txBody>
      </p:sp>
      <p:sp>
        <p:nvSpPr>
          <p:cNvPr id="13" name="TextBox 12"/>
          <p:cNvSpPr txBox="1"/>
          <p:nvPr/>
        </p:nvSpPr>
        <p:spPr>
          <a:xfrm>
            <a:off x="1778000" y="4279900"/>
            <a:ext cx="3708400" cy="292100"/>
          </a:xfrm>
          <a:prstGeom prst="rect">
            <a:avLst/>
          </a:prstGeom>
          <a:noFill/>
        </p:spPr>
        <p:txBody>
          <a:bodyPr wrap="none" lIns="0" rIns="0" tIns="0" bIns="0">
            <a:spAutoFit/>
          </a:bodyPr>
          <a:lstStyle/>
          <a:p>
            <a:pPr algn="l">
              <a:defRPr i="0" sz="1800" b="0">
                <a:solidFill>
                  <a:srgbClr val="E2E8F0"/>
                </a:solidFill>
                <a:latin typeface="Inter"/>
              </a:defRPr>
            </a:pPr>
            <a:r>
              <a:rPr i="0" sz="1800" b="0">
                <a:solidFill>
                  <a:srgbClr val="E2E8F0"/>
                </a:solidFill>
                <a:latin typeface="Inter"/>
              </a:rPr>
              <a:t>Asset Discovery &amp; Detection Demo: See automated scanning in action</a:t>
            </a:r>
          </a:p>
        </p:txBody>
      </p:sp>
      <p:sp>
        <p:nvSpPr>
          <p:cNvPr id="14" name="TextBox 13"/>
          <p:cNvSpPr txBox="1"/>
          <p:nvPr/>
        </p:nvSpPr>
        <p:spPr>
          <a:xfrm>
            <a:off x="7416800" y="4279900"/>
            <a:ext cx="127000" cy="304800"/>
          </a:xfrm>
          <a:prstGeom prst="rect">
            <a:avLst/>
          </a:prstGeom>
          <a:noFill/>
        </p:spPr>
        <p:txBody>
          <a:bodyPr wrap="square" lIns="0" rIns="0" tIns="0" bIns="0">
            <a:spAutoFit/>
          </a:bodyPr>
          <a:lstStyle/>
          <a:p>
            <a:pPr algn="l">
              <a:defRPr i="0" sz="1600" b="0">
                <a:solidFill>
                  <a:srgbClr val="CBD5E1"/>
                </a:solidFill>
                <a:latin typeface="Inter"/>
              </a:defRPr>
            </a:pPr>
            <a:r>
              <a:rPr i="0" sz="1600" b="0">
                <a:solidFill>
                  <a:srgbClr val="CBD5E1"/>
                </a:solidFill>
                <a:latin typeface="Inter"/>
              </a:rPr>
              <a:t>3</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2032000" y="2921000"/>
            <a:ext cx="12217400" cy="1066800"/>
          </a:xfrm>
          <a:prstGeom prst="rect">
            <a:avLst/>
          </a:prstGeom>
          <a:noFill/>
        </p:spPr>
        <p:txBody>
          <a:bodyPr wrap="square" lIns="0" rIns="0" tIns="0" bIns="0">
            <a:spAutoFit/>
          </a:bodyPr>
          <a:lstStyle/>
          <a:p>
            <a:pPr>
              <a:defRPr i="0" sz="7600" b="1">
                <a:solidFill>
                  <a:srgbClr val="FFFFFF"/>
                </a:solidFill>
                <a:latin typeface="Inter"/>
              </a:defRPr>
            </a:pPr>
            <a:r>
              <a:rPr i="0" sz="7600" b="1">
                <a:solidFill>
                  <a:srgbClr val="FFFFFF"/>
                </a:solidFill>
                <a:latin typeface="Inter"/>
              </a:rPr>
              <a:t>AI Model Protection 2026</a:t>
            </a:r>
          </a:p>
        </p:txBody>
      </p:sp>
      <p:sp>
        <p:nvSpPr>
          <p:cNvPr id="3" name="TextBox 2"/>
          <p:cNvSpPr txBox="1"/>
          <p:nvPr/>
        </p:nvSpPr>
        <p:spPr>
          <a:xfrm>
            <a:off x="2032000" y="6642100"/>
            <a:ext cx="12217400" cy="254000"/>
          </a:xfrm>
          <a:prstGeom prst="rect">
            <a:avLst/>
          </a:prstGeom>
          <a:noFill/>
        </p:spPr>
        <p:txBody>
          <a:bodyPr wrap="square" lIns="0" rIns="0" tIns="0" bIns="0">
            <a:spAutoFit/>
          </a:bodyPr>
          <a:lstStyle/>
          <a:p>
            <a:pPr>
              <a:lnSpc>
                <a:spcPct val="70000"/>
              </a:lnSpc>
              <a:defRPr i="0" sz="2000" b="1">
                <a:solidFill>
                  <a:srgbClr val="FFFFFF"/>
                </a:solidFill>
                <a:latin typeface="Inter"/>
              </a:defRPr>
            </a:pPr>
            <a:r>
              <a:rPr i="0" sz="2000" b="1">
                <a:solidFill>
                  <a:srgbClr val="FFFFFF"/>
                </a:solidFill>
                <a:latin typeface="Inter"/>
              </a:rPr>
              <a:t>Crucial Strategies &amp; Key Takeaways</a:t>
            </a:r>
          </a:p>
        </p:txBody>
      </p:sp>
      <p:sp>
        <p:nvSpPr>
          <p:cNvPr id="4" name="TextBox 3"/>
          <p:cNvSpPr txBox="1"/>
          <p:nvPr/>
        </p:nvSpPr>
        <p:spPr>
          <a:xfrm>
            <a:off x="2032000" y="7099300"/>
            <a:ext cx="12217400" cy="647700"/>
          </a:xfrm>
          <a:prstGeom prst="rect">
            <a:avLst/>
          </a:prstGeom>
          <a:noFill/>
        </p:spPr>
        <p:txBody>
          <a:bodyPr wrap="square" lIns="0" rIns="0" tIns="0" bIns="0">
            <a:spAutoFit/>
          </a:bodyPr>
          <a:lstStyle/>
          <a:p>
            <a:pPr>
              <a:defRPr i="0" sz="1600" b="0">
                <a:solidFill>
                  <a:srgbClr val="FFFFFF"/>
                </a:solidFill>
                <a:latin typeface="Inter"/>
              </a:defRPr>
            </a:pPr>
            <a:r>
              <a:rPr i="0" sz="1600" b="0">
                <a:solidFill>
                  <a:srgbClr val="FFFFFF"/>
                </a:solidFill>
                <a:latin typeface="Inter"/>
              </a:rPr>
              <a:t>Protecting AI models is critical for future-ready organizations. Emphasize advanced vulnerability detection, real-time asset monitoring, and robust application-layer defense to secure valuable AI investments and meet regulatory demands.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